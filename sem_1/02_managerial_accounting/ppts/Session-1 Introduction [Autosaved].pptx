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3.xml" ContentType="application/inkml+xml"/>
  <Override PartName="/ppt/ink/ink6.xml" ContentType="application/inkml+xml"/>
  <Override PartName="/ppt/ink/ink5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4.xml" ContentType="application/inkml+xml"/>
  <Override PartName="/ppt/ink/ink12.xml" ContentType="application/inkml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5" r:id="rId21"/>
    <p:sldId id="286" r:id="rId22"/>
    <p:sldId id="287" r:id="rId23"/>
    <p:sldId id="288" r:id="rId24"/>
    <p:sldId id="301" r:id="rId25"/>
    <p:sldId id="289" r:id="rId26"/>
    <p:sldId id="290" r:id="rId27"/>
    <p:sldId id="291" r:id="rId28"/>
    <p:sldId id="292" r:id="rId29"/>
    <p:sldId id="303" r:id="rId30"/>
    <p:sldId id="293" r:id="rId31"/>
    <p:sldId id="294" r:id="rId32"/>
    <p:sldId id="295" r:id="rId33"/>
    <p:sldId id="275" r:id="rId34"/>
    <p:sldId id="276" r:id="rId35"/>
    <p:sldId id="277" r:id="rId36"/>
    <p:sldId id="296" r:id="rId37"/>
    <p:sldId id="297" r:id="rId38"/>
    <p:sldId id="298" r:id="rId39"/>
    <p:sldId id="299" r:id="rId40"/>
    <p:sldId id="300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302" r:id="rId4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>
      <p:cViewPr varScale="1">
        <p:scale>
          <a:sx n="66" d="100"/>
          <a:sy n="66" d="100"/>
        </p:scale>
        <p:origin x="1304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D180FF-BC56-4F20-BB51-F36E4479DB07}" type="doc">
      <dgm:prSet loTypeId="urn:microsoft.com/office/officeart/2005/8/layout/cycle3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8132CB5-9A21-43BE-8E9F-F1632CCDD9E2}">
      <dgm:prSet phldrT="[Text]"/>
      <dgm:spPr/>
      <dgm:t>
        <a:bodyPr/>
        <a:lstStyle/>
        <a:p>
          <a:r>
            <a:rPr lang="en-IN" dirty="0"/>
            <a:t>Identify Transactions</a:t>
          </a:r>
        </a:p>
      </dgm:t>
    </dgm:pt>
    <dgm:pt modelId="{32EC3F04-ED31-4694-81F9-6DE9C156D32D}" type="parTrans" cxnId="{1388ED3F-15C3-49DF-A67E-C6B1A8686814}">
      <dgm:prSet/>
      <dgm:spPr/>
      <dgm:t>
        <a:bodyPr/>
        <a:lstStyle/>
        <a:p>
          <a:endParaRPr lang="en-IN"/>
        </a:p>
      </dgm:t>
    </dgm:pt>
    <dgm:pt modelId="{3A52ADBB-04E2-403B-9707-E7FFAA8332E5}" type="sibTrans" cxnId="{1388ED3F-15C3-49DF-A67E-C6B1A8686814}">
      <dgm:prSet/>
      <dgm:spPr/>
      <dgm:t>
        <a:bodyPr/>
        <a:lstStyle/>
        <a:p>
          <a:endParaRPr lang="en-IN"/>
        </a:p>
      </dgm:t>
    </dgm:pt>
    <dgm:pt modelId="{CF8F2C43-CDC3-4248-9529-61AB8B284870}">
      <dgm:prSet phldrT="[Text]"/>
      <dgm:spPr/>
      <dgm:t>
        <a:bodyPr/>
        <a:lstStyle/>
        <a:p>
          <a:r>
            <a:rPr lang="en-IN" dirty="0"/>
            <a:t>Record Journal Entries</a:t>
          </a:r>
        </a:p>
      </dgm:t>
    </dgm:pt>
    <dgm:pt modelId="{26CAEBC7-2AD0-4D5C-8F47-EB0ADE5AE63D}" type="parTrans" cxnId="{935DA88E-BD4E-4F52-9EFD-733092F73825}">
      <dgm:prSet/>
      <dgm:spPr/>
      <dgm:t>
        <a:bodyPr/>
        <a:lstStyle/>
        <a:p>
          <a:endParaRPr lang="en-IN"/>
        </a:p>
      </dgm:t>
    </dgm:pt>
    <dgm:pt modelId="{17906919-4559-40DD-81F3-9EF1294B70FD}" type="sibTrans" cxnId="{935DA88E-BD4E-4F52-9EFD-733092F73825}">
      <dgm:prSet/>
      <dgm:spPr/>
      <dgm:t>
        <a:bodyPr/>
        <a:lstStyle/>
        <a:p>
          <a:endParaRPr lang="en-IN"/>
        </a:p>
      </dgm:t>
    </dgm:pt>
    <dgm:pt modelId="{EB886D95-7F45-4FC1-B539-D620B06E51D8}">
      <dgm:prSet phldrT="[Text]"/>
      <dgm:spPr/>
      <dgm:t>
        <a:bodyPr/>
        <a:lstStyle/>
        <a:p>
          <a:r>
            <a:rPr lang="en-IN" dirty="0"/>
            <a:t>Ledger Posting of Entries</a:t>
          </a:r>
        </a:p>
      </dgm:t>
    </dgm:pt>
    <dgm:pt modelId="{A3B68FAB-62E0-4E44-B929-25C433BF575F}" type="parTrans" cxnId="{4CFF3B6A-2E4F-4949-97D9-432E263FC2E8}">
      <dgm:prSet/>
      <dgm:spPr/>
      <dgm:t>
        <a:bodyPr/>
        <a:lstStyle/>
        <a:p>
          <a:endParaRPr lang="en-IN"/>
        </a:p>
      </dgm:t>
    </dgm:pt>
    <dgm:pt modelId="{0109DBC0-0A63-48C4-AB7B-19AD7B051D5A}" type="sibTrans" cxnId="{4CFF3B6A-2E4F-4949-97D9-432E263FC2E8}">
      <dgm:prSet/>
      <dgm:spPr/>
      <dgm:t>
        <a:bodyPr/>
        <a:lstStyle/>
        <a:p>
          <a:endParaRPr lang="en-IN"/>
        </a:p>
      </dgm:t>
    </dgm:pt>
    <dgm:pt modelId="{6E9AAAA4-81D2-43C0-AA9B-F31B50E34875}">
      <dgm:prSet phldrT="[Text]"/>
      <dgm:spPr/>
      <dgm:t>
        <a:bodyPr/>
        <a:lstStyle/>
        <a:p>
          <a:r>
            <a:rPr lang="en-IN" dirty="0"/>
            <a:t>Unadjusted Trial Balance</a:t>
          </a:r>
        </a:p>
      </dgm:t>
    </dgm:pt>
    <dgm:pt modelId="{91A0323A-A560-490E-9A37-9EDFFB1B5808}" type="parTrans" cxnId="{7CD48849-FE97-4B1C-AB59-40FDF4F9385B}">
      <dgm:prSet/>
      <dgm:spPr/>
      <dgm:t>
        <a:bodyPr/>
        <a:lstStyle/>
        <a:p>
          <a:endParaRPr lang="en-IN"/>
        </a:p>
      </dgm:t>
    </dgm:pt>
    <dgm:pt modelId="{15DEA920-B604-4F2F-A6C7-4595CB8D3662}" type="sibTrans" cxnId="{7CD48849-FE97-4B1C-AB59-40FDF4F9385B}">
      <dgm:prSet/>
      <dgm:spPr/>
      <dgm:t>
        <a:bodyPr/>
        <a:lstStyle/>
        <a:p>
          <a:endParaRPr lang="en-IN"/>
        </a:p>
      </dgm:t>
    </dgm:pt>
    <dgm:pt modelId="{1FFF66FD-7552-4C13-A399-D7A33A9C760F}">
      <dgm:prSet phldrT="[Text]"/>
      <dgm:spPr/>
      <dgm:t>
        <a:bodyPr/>
        <a:lstStyle/>
        <a:p>
          <a:r>
            <a:rPr lang="en-IN" dirty="0"/>
            <a:t>Adjusted Trial Balance</a:t>
          </a:r>
        </a:p>
      </dgm:t>
    </dgm:pt>
    <dgm:pt modelId="{5CA4FC20-0D8B-47AA-9774-020B4F587333}" type="parTrans" cxnId="{5E58F27E-DF5E-411D-B229-4FF6851D3001}">
      <dgm:prSet/>
      <dgm:spPr/>
      <dgm:t>
        <a:bodyPr/>
        <a:lstStyle/>
        <a:p>
          <a:endParaRPr lang="en-IN"/>
        </a:p>
      </dgm:t>
    </dgm:pt>
    <dgm:pt modelId="{CEB611EA-793D-4148-941A-06A941FE216A}" type="sibTrans" cxnId="{5E58F27E-DF5E-411D-B229-4FF6851D3001}">
      <dgm:prSet/>
      <dgm:spPr/>
      <dgm:t>
        <a:bodyPr/>
        <a:lstStyle/>
        <a:p>
          <a:endParaRPr lang="en-IN"/>
        </a:p>
      </dgm:t>
    </dgm:pt>
    <dgm:pt modelId="{FEE3C9FD-3377-4586-A598-3B77C2FA8DE5}">
      <dgm:prSet phldrT="[Text]"/>
      <dgm:spPr/>
      <dgm:t>
        <a:bodyPr/>
        <a:lstStyle/>
        <a:p>
          <a:r>
            <a:rPr lang="en-IN" dirty="0"/>
            <a:t>Adjusted Entries</a:t>
          </a:r>
        </a:p>
      </dgm:t>
    </dgm:pt>
    <dgm:pt modelId="{AADE686C-AA34-420C-A046-E8058478439B}" type="parTrans" cxnId="{BB909A44-7D69-43E7-A5DB-0BEB1580E7D0}">
      <dgm:prSet/>
      <dgm:spPr/>
      <dgm:t>
        <a:bodyPr/>
        <a:lstStyle/>
        <a:p>
          <a:endParaRPr lang="en-IN"/>
        </a:p>
      </dgm:t>
    </dgm:pt>
    <dgm:pt modelId="{C822E442-66A9-462D-A969-6819F35941DD}" type="sibTrans" cxnId="{BB909A44-7D69-43E7-A5DB-0BEB1580E7D0}">
      <dgm:prSet/>
      <dgm:spPr/>
      <dgm:t>
        <a:bodyPr/>
        <a:lstStyle/>
        <a:p>
          <a:endParaRPr lang="en-IN"/>
        </a:p>
      </dgm:t>
    </dgm:pt>
    <dgm:pt modelId="{DE276531-5DDC-4F56-AF3C-3314936AA4F3}">
      <dgm:prSet phldrT="[Text]"/>
      <dgm:spPr/>
      <dgm:t>
        <a:bodyPr/>
        <a:lstStyle/>
        <a:p>
          <a:r>
            <a:rPr lang="en-IN" dirty="0"/>
            <a:t>Financial Statements</a:t>
          </a:r>
        </a:p>
      </dgm:t>
    </dgm:pt>
    <dgm:pt modelId="{287A05B9-3ED1-4EF2-A290-8958A6101637}" type="parTrans" cxnId="{C44B745D-95CE-4852-B45D-6A43D6B4EE02}">
      <dgm:prSet/>
      <dgm:spPr/>
      <dgm:t>
        <a:bodyPr/>
        <a:lstStyle/>
        <a:p>
          <a:endParaRPr lang="en-IN"/>
        </a:p>
      </dgm:t>
    </dgm:pt>
    <dgm:pt modelId="{AD3E5484-8325-4B29-B35A-E280E86EEB3D}" type="sibTrans" cxnId="{C44B745D-95CE-4852-B45D-6A43D6B4EE02}">
      <dgm:prSet/>
      <dgm:spPr/>
      <dgm:t>
        <a:bodyPr/>
        <a:lstStyle/>
        <a:p>
          <a:endParaRPr lang="en-IN"/>
        </a:p>
      </dgm:t>
    </dgm:pt>
    <dgm:pt modelId="{9A8DCADC-F454-4263-A6B5-30C45B0553E4}">
      <dgm:prSet phldrT="[Text]"/>
      <dgm:spPr/>
      <dgm:t>
        <a:bodyPr/>
        <a:lstStyle/>
        <a:p>
          <a:r>
            <a:rPr lang="en-IN" dirty="0"/>
            <a:t>Close Books of Account</a:t>
          </a:r>
        </a:p>
      </dgm:t>
    </dgm:pt>
    <dgm:pt modelId="{1E12CB64-7B45-4567-9C73-379FCE1C5E1C}" type="parTrans" cxnId="{172B32D1-1C3D-4F6E-B343-32DDF34DD676}">
      <dgm:prSet/>
      <dgm:spPr/>
      <dgm:t>
        <a:bodyPr/>
        <a:lstStyle/>
        <a:p>
          <a:endParaRPr lang="en-IN"/>
        </a:p>
      </dgm:t>
    </dgm:pt>
    <dgm:pt modelId="{95D151FE-A9D4-4ECA-B1A8-6A00AE6BC031}" type="sibTrans" cxnId="{172B32D1-1C3D-4F6E-B343-32DDF34DD676}">
      <dgm:prSet/>
      <dgm:spPr/>
      <dgm:t>
        <a:bodyPr/>
        <a:lstStyle/>
        <a:p>
          <a:endParaRPr lang="en-IN"/>
        </a:p>
      </dgm:t>
    </dgm:pt>
    <dgm:pt modelId="{DE3CD64C-892E-4EA4-AE24-57031B53AD5A}" type="pres">
      <dgm:prSet presAssocID="{3FD180FF-BC56-4F20-BB51-F36E4479DB07}" presName="Name0" presStyleCnt="0">
        <dgm:presLayoutVars>
          <dgm:dir/>
          <dgm:resizeHandles val="exact"/>
        </dgm:presLayoutVars>
      </dgm:prSet>
      <dgm:spPr/>
    </dgm:pt>
    <dgm:pt modelId="{13877D0C-DC71-4764-B8F4-829E08327D9F}" type="pres">
      <dgm:prSet presAssocID="{3FD180FF-BC56-4F20-BB51-F36E4479DB07}" presName="cycle" presStyleCnt="0"/>
      <dgm:spPr/>
    </dgm:pt>
    <dgm:pt modelId="{E979044F-84E9-4F84-9C49-542BF2791DF2}" type="pres">
      <dgm:prSet presAssocID="{A8132CB5-9A21-43BE-8E9F-F1632CCDD9E2}" presName="nodeFirstNode" presStyleLbl="node1" presStyleIdx="0" presStyleCnt="8">
        <dgm:presLayoutVars>
          <dgm:bulletEnabled val="1"/>
        </dgm:presLayoutVars>
      </dgm:prSet>
      <dgm:spPr/>
    </dgm:pt>
    <dgm:pt modelId="{F818A02C-78D2-46BF-A54E-CC698ABE1B35}" type="pres">
      <dgm:prSet presAssocID="{3A52ADBB-04E2-403B-9707-E7FFAA8332E5}" presName="sibTransFirstNode" presStyleLbl="bgShp" presStyleIdx="0" presStyleCnt="1"/>
      <dgm:spPr/>
    </dgm:pt>
    <dgm:pt modelId="{91B9035C-C3C2-4DBF-A5B6-A19DB15CDAD7}" type="pres">
      <dgm:prSet presAssocID="{CF8F2C43-CDC3-4248-9529-61AB8B284870}" presName="nodeFollowingNodes" presStyleLbl="node1" presStyleIdx="1" presStyleCnt="8">
        <dgm:presLayoutVars>
          <dgm:bulletEnabled val="1"/>
        </dgm:presLayoutVars>
      </dgm:prSet>
      <dgm:spPr/>
    </dgm:pt>
    <dgm:pt modelId="{CF078BCC-AEFB-456E-ADC3-C37DE35E6F77}" type="pres">
      <dgm:prSet presAssocID="{EB886D95-7F45-4FC1-B539-D620B06E51D8}" presName="nodeFollowingNodes" presStyleLbl="node1" presStyleIdx="2" presStyleCnt="8">
        <dgm:presLayoutVars>
          <dgm:bulletEnabled val="1"/>
        </dgm:presLayoutVars>
      </dgm:prSet>
      <dgm:spPr/>
    </dgm:pt>
    <dgm:pt modelId="{26262A84-23F3-4492-B47C-D78819178B1D}" type="pres">
      <dgm:prSet presAssocID="{6E9AAAA4-81D2-43C0-AA9B-F31B50E34875}" presName="nodeFollowingNodes" presStyleLbl="node1" presStyleIdx="3" presStyleCnt="8">
        <dgm:presLayoutVars>
          <dgm:bulletEnabled val="1"/>
        </dgm:presLayoutVars>
      </dgm:prSet>
      <dgm:spPr/>
    </dgm:pt>
    <dgm:pt modelId="{17DA0381-1F39-4859-A3A4-D0AB86FD7DF5}" type="pres">
      <dgm:prSet presAssocID="{FEE3C9FD-3377-4586-A598-3B77C2FA8DE5}" presName="nodeFollowingNodes" presStyleLbl="node1" presStyleIdx="4" presStyleCnt="8">
        <dgm:presLayoutVars>
          <dgm:bulletEnabled val="1"/>
        </dgm:presLayoutVars>
      </dgm:prSet>
      <dgm:spPr/>
    </dgm:pt>
    <dgm:pt modelId="{E2102B43-675B-4AE3-A383-9310AD6605B7}" type="pres">
      <dgm:prSet presAssocID="{1FFF66FD-7552-4C13-A399-D7A33A9C760F}" presName="nodeFollowingNodes" presStyleLbl="node1" presStyleIdx="5" presStyleCnt="8">
        <dgm:presLayoutVars>
          <dgm:bulletEnabled val="1"/>
        </dgm:presLayoutVars>
      </dgm:prSet>
      <dgm:spPr/>
    </dgm:pt>
    <dgm:pt modelId="{1D5DAA35-DBFD-40A3-9327-173BABBD698A}" type="pres">
      <dgm:prSet presAssocID="{DE276531-5DDC-4F56-AF3C-3314936AA4F3}" presName="nodeFollowingNodes" presStyleLbl="node1" presStyleIdx="6" presStyleCnt="8">
        <dgm:presLayoutVars>
          <dgm:bulletEnabled val="1"/>
        </dgm:presLayoutVars>
      </dgm:prSet>
      <dgm:spPr/>
    </dgm:pt>
    <dgm:pt modelId="{C76DEE13-8EE3-4905-BB68-B4377E010B13}" type="pres">
      <dgm:prSet presAssocID="{9A8DCADC-F454-4263-A6B5-30C45B0553E4}" presName="nodeFollowingNodes" presStyleLbl="node1" presStyleIdx="7" presStyleCnt="8">
        <dgm:presLayoutVars>
          <dgm:bulletEnabled val="1"/>
        </dgm:presLayoutVars>
      </dgm:prSet>
      <dgm:spPr/>
    </dgm:pt>
  </dgm:ptLst>
  <dgm:cxnLst>
    <dgm:cxn modelId="{5855D607-38C3-4F52-A210-5922371D21E0}" type="presOf" srcId="{A8132CB5-9A21-43BE-8E9F-F1632CCDD9E2}" destId="{E979044F-84E9-4F84-9C49-542BF2791DF2}" srcOrd="0" destOrd="0" presId="urn:microsoft.com/office/officeart/2005/8/layout/cycle3"/>
    <dgm:cxn modelId="{E02C461D-E780-4FBD-B211-0DDD63B6F3A1}" type="presOf" srcId="{3FD180FF-BC56-4F20-BB51-F36E4479DB07}" destId="{DE3CD64C-892E-4EA4-AE24-57031B53AD5A}" srcOrd="0" destOrd="0" presId="urn:microsoft.com/office/officeart/2005/8/layout/cycle3"/>
    <dgm:cxn modelId="{B986332A-F78F-45AD-9F18-560E5C461AD8}" type="presOf" srcId="{EB886D95-7F45-4FC1-B539-D620B06E51D8}" destId="{CF078BCC-AEFB-456E-ADC3-C37DE35E6F77}" srcOrd="0" destOrd="0" presId="urn:microsoft.com/office/officeart/2005/8/layout/cycle3"/>
    <dgm:cxn modelId="{9A5F3F2A-5714-4867-AD19-6D4A2563336A}" type="presOf" srcId="{FEE3C9FD-3377-4586-A598-3B77C2FA8DE5}" destId="{17DA0381-1F39-4859-A3A4-D0AB86FD7DF5}" srcOrd="0" destOrd="0" presId="urn:microsoft.com/office/officeart/2005/8/layout/cycle3"/>
    <dgm:cxn modelId="{1388ED3F-15C3-49DF-A67E-C6B1A8686814}" srcId="{3FD180FF-BC56-4F20-BB51-F36E4479DB07}" destId="{A8132CB5-9A21-43BE-8E9F-F1632CCDD9E2}" srcOrd="0" destOrd="0" parTransId="{32EC3F04-ED31-4694-81F9-6DE9C156D32D}" sibTransId="{3A52ADBB-04E2-403B-9707-E7FFAA8332E5}"/>
    <dgm:cxn modelId="{C44B745D-95CE-4852-B45D-6A43D6B4EE02}" srcId="{3FD180FF-BC56-4F20-BB51-F36E4479DB07}" destId="{DE276531-5DDC-4F56-AF3C-3314936AA4F3}" srcOrd="6" destOrd="0" parTransId="{287A05B9-3ED1-4EF2-A290-8958A6101637}" sibTransId="{AD3E5484-8325-4B29-B35A-E280E86EEB3D}"/>
    <dgm:cxn modelId="{2831CE5E-BC13-4458-B05E-A38DE6E1A584}" type="presOf" srcId="{1FFF66FD-7552-4C13-A399-D7A33A9C760F}" destId="{E2102B43-675B-4AE3-A383-9310AD6605B7}" srcOrd="0" destOrd="0" presId="urn:microsoft.com/office/officeart/2005/8/layout/cycle3"/>
    <dgm:cxn modelId="{3D611C5F-BBF6-4F80-AB0B-785216EE9678}" type="presOf" srcId="{3A52ADBB-04E2-403B-9707-E7FFAA8332E5}" destId="{F818A02C-78D2-46BF-A54E-CC698ABE1B35}" srcOrd="0" destOrd="0" presId="urn:microsoft.com/office/officeart/2005/8/layout/cycle3"/>
    <dgm:cxn modelId="{BA70EF41-ECEE-4149-B7AC-F11A86A68982}" type="presOf" srcId="{CF8F2C43-CDC3-4248-9529-61AB8B284870}" destId="{91B9035C-C3C2-4DBF-A5B6-A19DB15CDAD7}" srcOrd="0" destOrd="0" presId="urn:microsoft.com/office/officeart/2005/8/layout/cycle3"/>
    <dgm:cxn modelId="{BB909A44-7D69-43E7-A5DB-0BEB1580E7D0}" srcId="{3FD180FF-BC56-4F20-BB51-F36E4479DB07}" destId="{FEE3C9FD-3377-4586-A598-3B77C2FA8DE5}" srcOrd="4" destOrd="0" parTransId="{AADE686C-AA34-420C-A046-E8058478439B}" sibTransId="{C822E442-66A9-462D-A969-6819F35941DD}"/>
    <dgm:cxn modelId="{D73CA847-FA14-4715-B3C4-4398C0031F0C}" type="presOf" srcId="{6E9AAAA4-81D2-43C0-AA9B-F31B50E34875}" destId="{26262A84-23F3-4492-B47C-D78819178B1D}" srcOrd="0" destOrd="0" presId="urn:microsoft.com/office/officeart/2005/8/layout/cycle3"/>
    <dgm:cxn modelId="{7CD48849-FE97-4B1C-AB59-40FDF4F9385B}" srcId="{3FD180FF-BC56-4F20-BB51-F36E4479DB07}" destId="{6E9AAAA4-81D2-43C0-AA9B-F31B50E34875}" srcOrd="3" destOrd="0" parTransId="{91A0323A-A560-490E-9A37-9EDFFB1B5808}" sibTransId="{15DEA920-B604-4F2F-A6C7-4595CB8D3662}"/>
    <dgm:cxn modelId="{4CFF3B6A-2E4F-4949-97D9-432E263FC2E8}" srcId="{3FD180FF-BC56-4F20-BB51-F36E4479DB07}" destId="{EB886D95-7F45-4FC1-B539-D620B06E51D8}" srcOrd="2" destOrd="0" parTransId="{A3B68FAB-62E0-4E44-B929-25C433BF575F}" sibTransId="{0109DBC0-0A63-48C4-AB7B-19AD7B051D5A}"/>
    <dgm:cxn modelId="{5E58F27E-DF5E-411D-B229-4FF6851D3001}" srcId="{3FD180FF-BC56-4F20-BB51-F36E4479DB07}" destId="{1FFF66FD-7552-4C13-A399-D7A33A9C760F}" srcOrd="5" destOrd="0" parTransId="{5CA4FC20-0D8B-47AA-9774-020B4F587333}" sibTransId="{CEB611EA-793D-4148-941A-06A941FE216A}"/>
    <dgm:cxn modelId="{935DA88E-BD4E-4F52-9EFD-733092F73825}" srcId="{3FD180FF-BC56-4F20-BB51-F36E4479DB07}" destId="{CF8F2C43-CDC3-4248-9529-61AB8B284870}" srcOrd="1" destOrd="0" parTransId="{26CAEBC7-2AD0-4D5C-8F47-EB0ADE5AE63D}" sibTransId="{17906919-4559-40DD-81F3-9EF1294B70FD}"/>
    <dgm:cxn modelId="{D4413A95-779A-4324-99F2-2F90AD679FBE}" type="presOf" srcId="{DE276531-5DDC-4F56-AF3C-3314936AA4F3}" destId="{1D5DAA35-DBFD-40A3-9327-173BABBD698A}" srcOrd="0" destOrd="0" presId="urn:microsoft.com/office/officeart/2005/8/layout/cycle3"/>
    <dgm:cxn modelId="{10FE7EB9-9667-4628-8BB1-11461478C2C2}" type="presOf" srcId="{9A8DCADC-F454-4263-A6B5-30C45B0553E4}" destId="{C76DEE13-8EE3-4905-BB68-B4377E010B13}" srcOrd="0" destOrd="0" presId="urn:microsoft.com/office/officeart/2005/8/layout/cycle3"/>
    <dgm:cxn modelId="{172B32D1-1C3D-4F6E-B343-32DDF34DD676}" srcId="{3FD180FF-BC56-4F20-BB51-F36E4479DB07}" destId="{9A8DCADC-F454-4263-A6B5-30C45B0553E4}" srcOrd="7" destOrd="0" parTransId="{1E12CB64-7B45-4567-9C73-379FCE1C5E1C}" sibTransId="{95D151FE-A9D4-4ECA-B1A8-6A00AE6BC031}"/>
    <dgm:cxn modelId="{BF781396-8948-4D3B-803F-2F1B7F0CD292}" type="presParOf" srcId="{DE3CD64C-892E-4EA4-AE24-57031B53AD5A}" destId="{13877D0C-DC71-4764-B8F4-829E08327D9F}" srcOrd="0" destOrd="0" presId="urn:microsoft.com/office/officeart/2005/8/layout/cycle3"/>
    <dgm:cxn modelId="{E312BA40-4A76-47D7-BCFC-F2CB2EC1CFD4}" type="presParOf" srcId="{13877D0C-DC71-4764-B8F4-829E08327D9F}" destId="{E979044F-84E9-4F84-9C49-542BF2791DF2}" srcOrd="0" destOrd="0" presId="urn:microsoft.com/office/officeart/2005/8/layout/cycle3"/>
    <dgm:cxn modelId="{981FDD72-B5A7-4C8A-8C4C-9B373BE8889E}" type="presParOf" srcId="{13877D0C-DC71-4764-B8F4-829E08327D9F}" destId="{F818A02C-78D2-46BF-A54E-CC698ABE1B35}" srcOrd="1" destOrd="0" presId="urn:microsoft.com/office/officeart/2005/8/layout/cycle3"/>
    <dgm:cxn modelId="{2A009FE8-5A26-4736-B141-97516A9E1B9E}" type="presParOf" srcId="{13877D0C-DC71-4764-B8F4-829E08327D9F}" destId="{91B9035C-C3C2-4DBF-A5B6-A19DB15CDAD7}" srcOrd="2" destOrd="0" presId="urn:microsoft.com/office/officeart/2005/8/layout/cycle3"/>
    <dgm:cxn modelId="{78E22B1F-E9FE-4164-8D34-C06B2FE17C39}" type="presParOf" srcId="{13877D0C-DC71-4764-B8F4-829E08327D9F}" destId="{CF078BCC-AEFB-456E-ADC3-C37DE35E6F77}" srcOrd="3" destOrd="0" presId="urn:microsoft.com/office/officeart/2005/8/layout/cycle3"/>
    <dgm:cxn modelId="{B5BBE0F9-2542-4439-883C-427D5CECF0E0}" type="presParOf" srcId="{13877D0C-DC71-4764-B8F4-829E08327D9F}" destId="{26262A84-23F3-4492-B47C-D78819178B1D}" srcOrd="4" destOrd="0" presId="urn:microsoft.com/office/officeart/2005/8/layout/cycle3"/>
    <dgm:cxn modelId="{63C7649D-2080-479B-97B4-664FB65F5ECB}" type="presParOf" srcId="{13877D0C-DC71-4764-B8F4-829E08327D9F}" destId="{17DA0381-1F39-4859-A3A4-D0AB86FD7DF5}" srcOrd="5" destOrd="0" presId="urn:microsoft.com/office/officeart/2005/8/layout/cycle3"/>
    <dgm:cxn modelId="{410CB0AD-FFD4-421E-B1FF-F3940164287F}" type="presParOf" srcId="{13877D0C-DC71-4764-B8F4-829E08327D9F}" destId="{E2102B43-675B-4AE3-A383-9310AD6605B7}" srcOrd="6" destOrd="0" presId="urn:microsoft.com/office/officeart/2005/8/layout/cycle3"/>
    <dgm:cxn modelId="{C5B69126-0566-41AE-82FB-488850C9B012}" type="presParOf" srcId="{13877D0C-DC71-4764-B8F4-829E08327D9F}" destId="{1D5DAA35-DBFD-40A3-9327-173BABBD698A}" srcOrd="7" destOrd="0" presId="urn:microsoft.com/office/officeart/2005/8/layout/cycle3"/>
    <dgm:cxn modelId="{3AF25652-2BE0-464D-BD3E-BDC6DE3D8D41}" type="presParOf" srcId="{13877D0C-DC71-4764-B8F4-829E08327D9F}" destId="{C76DEE13-8EE3-4905-BB68-B4377E010B13}" srcOrd="8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8A02C-78D2-46BF-A54E-CC698ABE1B35}">
      <dsp:nvSpPr>
        <dsp:cNvPr id="0" name=""/>
        <dsp:cNvSpPr/>
      </dsp:nvSpPr>
      <dsp:spPr>
        <a:xfrm>
          <a:off x="1918468" y="-39704"/>
          <a:ext cx="4697463" cy="4697463"/>
        </a:xfrm>
        <a:prstGeom prst="circularArrow">
          <a:avLst>
            <a:gd name="adj1" fmla="val 5544"/>
            <a:gd name="adj2" fmla="val 330680"/>
            <a:gd name="adj3" fmla="val 14635390"/>
            <a:gd name="adj4" fmla="val 16882097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979044F-84E9-4F84-9C49-542BF2791DF2}">
      <dsp:nvSpPr>
        <dsp:cNvPr id="0" name=""/>
        <dsp:cNvSpPr/>
      </dsp:nvSpPr>
      <dsp:spPr>
        <a:xfrm>
          <a:off x="3598366" y="1581"/>
          <a:ext cx="1337667" cy="66883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Identify Transactions</a:t>
          </a:r>
        </a:p>
      </dsp:txBody>
      <dsp:txXfrm>
        <a:off x="3631016" y="34231"/>
        <a:ext cx="1272367" cy="603533"/>
      </dsp:txXfrm>
    </dsp:sp>
    <dsp:sp modelId="{91B9035C-C3C2-4DBF-A5B6-A19DB15CDAD7}">
      <dsp:nvSpPr>
        <dsp:cNvPr id="0" name=""/>
        <dsp:cNvSpPr/>
      </dsp:nvSpPr>
      <dsp:spPr>
        <a:xfrm>
          <a:off x="5014830" y="588300"/>
          <a:ext cx="1337667" cy="668833"/>
        </a:xfrm>
        <a:prstGeom prst="roundRect">
          <a:avLst/>
        </a:prstGeom>
        <a:gradFill rotWithShape="0">
          <a:gsLst>
            <a:gs pos="0">
              <a:schemeClr val="accent2">
                <a:hueOff val="668788"/>
                <a:satOff val="-834"/>
                <a:lumOff val="196"/>
                <a:alphaOff val="0"/>
                <a:shade val="51000"/>
                <a:satMod val="130000"/>
              </a:schemeClr>
            </a:gs>
            <a:gs pos="80000">
              <a:schemeClr val="accent2">
                <a:hueOff val="668788"/>
                <a:satOff val="-834"/>
                <a:lumOff val="196"/>
                <a:alphaOff val="0"/>
                <a:shade val="93000"/>
                <a:satMod val="130000"/>
              </a:schemeClr>
            </a:gs>
            <a:gs pos="100000">
              <a:schemeClr val="accent2">
                <a:hueOff val="668788"/>
                <a:satOff val="-834"/>
                <a:lumOff val="19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Record Journal Entries</a:t>
          </a:r>
        </a:p>
      </dsp:txBody>
      <dsp:txXfrm>
        <a:off x="5047480" y="620950"/>
        <a:ext cx="1272367" cy="603533"/>
      </dsp:txXfrm>
    </dsp:sp>
    <dsp:sp modelId="{CF078BCC-AEFB-456E-ADC3-C37DE35E6F77}">
      <dsp:nvSpPr>
        <dsp:cNvPr id="0" name=""/>
        <dsp:cNvSpPr/>
      </dsp:nvSpPr>
      <dsp:spPr>
        <a:xfrm>
          <a:off x="5601548" y="2004764"/>
          <a:ext cx="1337667" cy="668833"/>
        </a:xfrm>
        <a:prstGeom prst="roundRect">
          <a:avLst/>
        </a:prstGeom>
        <a:gradFill rotWithShape="0">
          <a:gsLst>
            <a:gs pos="0">
              <a:schemeClr val="accent2">
                <a:hueOff val="1337577"/>
                <a:satOff val="-1668"/>
                <a:lumOff val="392"/>
                <a:alphaOff val="0"/>
                <a:shade val="51000"/>
                <a:satMod val="130000"/>
              </a:schemeClr>
            </a:gs>
            <a:gs pos="80000">
              <a:schemeClr val="accent2">
                <a:hueOff val="1337577"/>
                <a:satOff val="-1668"/>
                <a:lumOff val="392"/>
                <a:alphaOff val="0"/>
                <a:shade val="93000"/>
                <a:satMod val="130000"/>
              </a:schemeClr>
            </a:gs>
            <a:gs pos="100000">
              <a:schemeClr val="accent2">
                <a:hueOff val="1337577"/>
                <a:satOff val="-1668"/>
                <a:lumOff val="39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Ledger Posting of Entries</a:t>
          </a:r>
        </a:p>
      </dsp:txBody>
      <dsp:txXfrm>
        <a:off x="5634198" y="2037414"/>
        <a:ext cx="1272367" cy="603533"/>
      </dsp:txXfrm>
    </dsp:sp>
    <dsp:sp modelId="{26262A84-23F3-4492-B47C-D78819178B1D}">
      <dsp:nvSpPr>
        <dsp:cNvPr id="0" name=""/>
        <dsp:cNvSpPr/>
      </dsp:nvSpPr>
      <dsp:spPr>
        <a:xfrm>
          <a:off x="5014830" y="3421228"/>
          <a:ext cx="1337667" cy="668833"/>
        </a:xfrm>
        <a:prstGeom prst="roundRect">
          <a:avLst/>
        </a:prstGeom>
        <a:gradFill rotWithShape="0">
          <a:gsLst>
            <a:gs pos="0">
              <a:schemeClr val="accent2">
                <a:hueOff val="2006365"/>
                <a:satOff val="-2502"/>
                <a:lumOff val="588"/>
                <a:alphaOff val="0"/>
                <a:shade val="51000"/>
                <a:satMod val="130000"/>
              </a:schemeClr>
            </a:gs>
            <a:gs pos="80000">
              <a:schemeClr val="accent2">
                <a:hueOff val="2006365"/>
                <a:satOff val="-2502"/>
                <a:lumOff val="588"/>
                <a:alphaOff val="0"/>
                <a:shade val="93000"/>
                <a:satMod val="130000"/>
              </a:schemeClr>
            </a:gs>
            <a:gs pos="100000">
              <a:schemeClr val="accent2">
                <a:hueOff val="2006365"/>
                <a:satOff val="-2502"/>
                <a:lumOff val="5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Unadjusted Trial Balance</a:t>
          </a:r>
        </a:p>
      </dsp:txBody>
      <dsp:txXfrm>
        <a:off x="5047480" y="3453878"/>
        <a:ext cx="1272367" cy="603533"/>
      </dsp:txXfrm>
    </dsp:sp>
    <dsp:sp modelId="{17DA0381-1F39-4859-A3A4-D0AB86FD7DF5}">
      <dsp:nvSpPr>
        <dsp:cNvPr id="0" name=""/>
        <dsp:cNvSpPr/>
      </dsp:nvSpPr>
      <dsp:spPr>
        <a:xfrm>
          <a:off x="3598366" y="4007946"/>
          <a:ext cx="1337667" cy="668833"/>
        </a:xfrm>
        <a:prstGeom prst="roundRect">
          <a:avLst/>
        </a:prstGeom>
        <a:gradFill rotWithShape="0">
          <a:gsLst>
            <a:gs pos="0">
              <a:schemeClr val="accent2">
                <a:hueOff val="2675154"/>
                <a:satOff val="-3337"/>
                <a:lumOff val="785"/>
                <a:alphaOff val="0"/>
                <a:shade val="51000"/>
                <a:satMod val="130000"/>
              </a:schemeClr>
            </a:gs>
            <a:gs pos="80000">
              <a:schemeClr val="accent2">
                <a:hueOff val="2675154"/>
                <a:satOff val="-3337"/>
                <a:lumOff val="785"/>
                <a:alphaOff val="0"/>
                <a:shade val="93000"/>
                <a:satMod val="130000"/>
              </a:schemeClr>
            </a:gs>
            <a:gs pos="100000">
              <a:schemeClr val="accent2">
                <a:hueOff val="2675154"/>
                <a:satOff val="-3337"/>
                <a:lumOff val="78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Adjusted Entries</a:t>
          </a:r>
        </a:p>
      </dsp:txBody>
      <dsp:txXfrm>
        <a:off x="3631016" y="4040596"/>
        <a:ext cx="1272367" cy="603533"/>
      </dsp:txXfrm>
    </dsp:sp>
    <dsp:sp modelId="{E2102B43-675B-4AE3-A383-9310AD6605B7}">
      <dsp:nvSpPr>
        <dsp:cNvPr id="0" name=""/>
        <dsp:cNvSpPr/>
      </dsp:nvSpPr>
      <dsp:spPr>
        <a:xfrm>
          <a:off x="2181902" y="3421228"/>
          <a:ext cx="1337667" cy="668833"/>
        </a:xfrm>
        <a:prstGeom prst="roundRect">
          <a:avLst/>
        </a:prstGeom>
        <a:gradFill rotWithShape="0">
          <a:gsLst>
            <a:gs pos="0">
              <a:schemeClr val="accent2">
                <a:hueOff val="3343942"/>
                <a:satOff val="-4171"/>
                <a:lumOff val="981"/>
                <a:alphaOff val="0"/>
                <a:shade val="51000"/>
                <a:satMod val="130000"/>
              </a:schemeClr>
            </a:gs>
            <a:gs pos="80000">
              <a:schemeClr val="accent2">
                <a:hueOff val="3343942"/>
                <a:satOff val="-4171"/>
                <a:lumOff val="981"/>
                <a:alphaOff val="0"/>
                <a:shade val="93000"/>
                <a:satMod val="130000"/>
              </a:schemeClr>
            </a:gs>
            <a:gs pos="100000">
              <a:schemeClr val="accent2">
                <a:hueOff val="3343942"/>
                <a:satOff val="-4171"/>
                <a:lumOff val="98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Adjusted Trial Balance</a:t>
          </a:r>
        </a:p>
      </dsp:txBody>
      <dsp:txXfrm>
        <a:off x="2214552" y="3453878"/>
        <a:ext cx="1272367" cy="603533"/>
      </dsp:txXfrm>
    </dsp:sp>
    <dsp:sp modelId="{1D5DAA35-DBFD-40A3-9327-173BABBD698A}">
      <dsp:nvSpPr>
        <dsp:cNvPr id="0" name=""/>
        <dsp:cNvSpPr/>
      </dsp:nvSpPr>
      <dsp:spPr>
        <a:xfrm>
          <a:off x="1595183" y="2004764"/>
          <a:ext cx="1337667" cy="668833"/>
        </a:xfrm>
        <a:prstGeom prst="roundRect">
          <a:avLst/>
        </a:prstGeom>
        <a:gradFill rotWithShape="0">
          <a:gsLst>
            <a:gs pos="0">
              <a:schemeClr val="accent2">
                <a:hueOff val="4012731"/>
                <a:satOff val="-5005"/>
                <a:lumOff val="1177"/>
                <a:alphaOff val="0"/>
                <a:shade val="51000"/>
                <a:satMod val="130000"/>
              </a:schemeClr>
            </a:gs>
            <a:gs pos="80000">
              <a:schemeClr val="accent2">
                <a:hueOff val="4012731"/>
                <a:satOff val="-5005"/>
                <a:lumOff val="1177"/>
                <a:alphaOff val="0"/>
                <a:shade val="93000"/>
                <a:satMod val="130000"/>
              </a:schemeClr>
            </a:gs>
            <a:gs pos="100000">
              <a:schemeClr val="accent2">
                <a:hueOff val="4012731"/>
                <a:satOff val="-5005"/>
                <a:lumOff val="11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Financial Statements</a:t>
          </a:r>
        </a:p>
      </dsp:txBody>
      <dsp:txXfrm>
        <a:off x="1627833" y="2037414"/>
        <a:ext cx="1272367" cy="603533"/>
      </dsp:txXfrm>
    </dsp:sp>
    <dsp:sp modelId="{C76DEE13-8EE3-4905-BB68-B4377E010B13}">
      <dsp:nvSpPr>
        <dsp:cNvPr id="0" name=""/>
        <dsp:cNvSpPr/>
      </dsp:nvSpPr>
      <dsp:spPr>
        <a:xfrm>
          <a:off x="2181902" y="588300"/>
          <a:ext cx="1337667" cy="668833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Close Books of Account</a:t>
          </a:r>
        </a:p>
      </dsp:txBody>
      <dsp:txXfrm>
        <a:off x="2214552" y="620950"/>
        <a:ext cx="1272367" cy="6035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05:46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3953 6318 0,'-238'0'31,"476"0"-15,-508 0-16,286 0 62,667 0-30,47 0-1,-317 0-16,380 0 17,-459-47-17,-112 47 1,-127 0-16,1 0 16,31 0-1,-80 0-15,64 0 16,-15 0-1,-49 0-15,1 0 16,15 0 0,64 0-1,-95 0 1,0 0 0,0 0-1,-32-32-15,0 0 63,-143 0-63</inkml:trace>
  <inkml:trace contextRef="#ctx0" brushRef="#br0" timeOffset="5816.16">12700 6556 0,'0'0'0,"0"-16"62,254 16-30,-159 0-17,144-47 1,110 47-1,159-48 1,349-63 0,-381 111-1,-79-48 1,-175 48 0,48-31-1,-143 31 1,-95-48-1,0 48 17,-64 0 30,-16 0-62</inkml:trace>
  <inkml:trace contextRef="#ctx0" brushRef="#br0" timeOffset="12067.54">8684 7588 0,'0'0'0,"0"-32"31,0 144 47,-16 157-46,16-62-1,0-160-15,0-205 46,0-128-31,0 143-15,0-47 0,0 126-1,0 1 1,63 31-1,17 0 1,-33 32-16,33 32 16,-48 31-1,-32 17 1,-64 47 0,-47 16-1,16-96 1,15-15-1,64-32 17,16-16 15,32 16-1,16 32-30,47 79 0,-31-48-1,15 17 1,16 15 0,-63-63-1,0 15 1,-32-15-1,31-32 1,1 0 31</inkml:trace>
  <inkml:trace contextRef="#ctx0" brushRef="#br0" timeOffset="13599.18">9668 7636 0,'79'0'110,"17"16"-95,-33-16-15,1 0 16,-17 0-16,80 31 15,16-31 1,-32 32 0,-63-32-1,-48 32 1,0 0 0,-16-1-16,-16 1 15,-31 16-15,-64 15 16,47-15-1,1-16-15,-159 95 32,159-96-17,47 17 1,0-16 0,127-64 30,-47-31-30</inkml:trace>
  <inkml:trace contextRef="#ctx0" brushRef="#br0" timeOffset="14615.56">11541 7445 0,'0'0'0,"0"-31"15,-16 31 16,16-32-15,-63 32-16,-64 0 31,16 63-15,0 48 0,31 80-1,49-32 1,-17 15-1,127-110 17,32-32-17,-63-32-15,16 0 16,221-48 0,-189 0-1,-33 17 1,-142 31 15</inkml:trace>
  <inkml:trace contextRef="#ctx0" brushRef="#br0" timeOffset="16598.36">12573 7604 0,'0'-32'15,"0"112"32,0 63-31,0-16 0,0-48-1,0-47-15,0-1 16</inkml:trace>
  <inkml:trace contextRef="#ctx0" brushRef="#br0" timeOffset="17015.37">12605 7541 0,'0'0'31,"-16"15"-15,-32-15 0,48 48-1,-79-48-15,47 79 16,-31 1 0,31-48-1,32-64 32,79-79-31,-15 79-1,-64 0 1,32 32-16,-1 0 31,81 80-15,-49-17-1,16 1 17,-15-33-17,-16 17-15</inkml:trace>
  <inkml:trace contextRef="#ctx0" brushRef="#br0" timeOffset="17999.16">7763 7779 0,'0'0'0,"0"95"63,0 48-48,48 0 1,-17-48 0,-31-47-1,32-17 1,-32-142 31</inkml:trace>
  <inkml:trace contextRef="#ctx0" brushRef="#br0" timeOffset="18448.25">7779 7890 0,'-32'-48'15,"0"16"17,1 32-1,-1 64-15,0 15-1,32-15 1,-47-32-16,47-1 31,0-189 32,31 15-48,1 32 1,16 79-1,31 48 17,-31 47-17,31 1 1,0 15 0,-47-79-16,32 32 15,-1-32 1</inkml:trace>
  <inkml:trace contextRef="#ctx0" brushRef="#br0" timeOffset="19333.06">9351 7525 0,'0'-32'203</inkml:trace>
  <inkml:trace contextRef="#ctx0" brushRef="#br0" timeOffset="19648.18">13192 7922 0,'-16'0'47,"-63"0"-31</inkml:trace>
  <inkml:trace contextRef="#ctx0" brushRef="#br0" timeOffset="20248.25">7747 8684 0,'0'31'16,"32"-31"187,16 0-187</inkml:trace>
  <inkml:trace contextRef="#ctx0" brushRef="#br0" timeOffset="21099.44">13319 8176 0,'-79'0'125,"-16"47"-109,63-47-16,32 32 15,-48-32 1,17 0-16,-1 0 31,48 0 0,127-16-15,15-47 15,17-1-15,-48 32 0,-159 32 30</inkml:trace>
  <inkml:trace contextRef="#ctx0" brushRef="#br0" timeOffset="21931.94">7906 8715 0,'111'0'62,"-32"0"-46,17-31-16,110-17 15,64-16 1,0 1 0,-16-16-1,-222 79 1,-96 0 15</inkml:trace>
  <inkml:trace contextRef="#ctx0" brushRef="#br0" timeOffset="22282.14">7541 8922 0,'32'0'31,"15"0"-15,33-16-16,15 16 16,381-191-1,-143 96 1,-31 32 0,47-64-1,-238 95 1,-79 32-1,-159 47 48</inkml:trace>
  <inkml:trace contextRef="#ctx0" brushRef="#br0" timeOffset="31830.85">3048 9588 0,'16'0'109,"127"0"-93,-32-15 0,48-17-1,-112 32-15,-15 0 16,32-32-1,-33 32 1,-46 0 47,-49 0-48,1 16 1,31 16-16</inkml:trace>
  <inkml:trace contextRef="#ctx0" brushRef="#br0" timeOffset="32160.23">3128 9747 0,'0'32'31,"31"-32"16,176-16-16,-96-16-15,-32 1-1,-15-17 1,-33 48-1,-31-32 1,32 48 47</inkml:trace>
  <inkml:trace contextRef="#ctx0" brushRef="#br0" timeOffset="33181.51">5001 9509 0,'-32'32'15,"0"-32"17,48 0 30,64 0-46,31-32-1,16 32 1,-32-32 0,32 1-1,-111 31 1</inkml:trace>
  <inkml:trace contextRef="#ctx0" brushRef="#br0" timeOffset="33414.46">5017 9684 0,'31'0'47,"81"0"-32,-65 0-15,1-32 16,111 0 0,-96 0-1,-15 32 1,-48-31 0</inkml:trace>
  <inkml:trace contextRef="#ctx0" brushRef="#br0" timeOffset="42498.4">10605 8953 0,'-32'80'31</inkml:trace>
  <inkml:trace contextRef="#ctx0" brushRef="#br0" timeOffset="45363.53">11240 9446 0,'-111'0'32,"-1"0"-17,81 0 1,174 0 31,365 0 0,111 0-16,-524 0-31,32 0 16,-95 0-1,-16 0 1,-64 0 15,-47 0-15</inkml:trace>
  <inkml:trace contextRef="#ctx0" brushRef="#br0" timeOffset="45714.52">11335 9557 0,'0'31'15,"302"-31"16,-175 0-15,142 48 0,-46-48-1,-49 0 1,-15 32 0,-127-32-1,-96 0 16</inkml:trace>
  <inkml:trace contextRef="#ctx0" brushRef="#br0" timeOffset="47187.46">11875 9604 0,'-48'0'813</inkml:trace>
  <inkml:trace contextRef="#ctx0" brushRef="#br0" timeOffset="48213.7">3143 10747 0,'0'0'31,"381"-127"-31,16 32 16,-301 63-1,-96 48 16</inkml:trace>
  <inkml:trace contextRef="#ctx0" brushRef="#br0" timeOffset="48398.23">2985 11017 0,'95'-32'31,"238"-95"-15,366-127 0,-350 175-1,-238 47-15</inkml:trace>
  <inkml:trace contextRef="#ctx0" brushRef="#br0" timeOffset="53951.93">3826 11287 0,'-16'32'4765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07:51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2254 5572 0,'-31'0'141,"-1"0"749</inkml:trace>
  <inkml:trace contextRef="#ctx0" brushRef="#br0" timeOffset="3806.39">2540 5683 0,'0'32'250,"0"0"-234,0-1-1,0 1 1,32-32 62,381-397-47,-286 223-15,127-33 0,-143 128-16,-16 47 15,-47 0 1,-64 32 109</inkml:trace>
  <inkml:trace contextRef="#ctx0" brushRef="#br0" timeOffset="4132.45">3588 5016 0,'0'32'78</inkml:trace>
  <inkml:trace contextRef="#ctx0" brushRef="#br0" timeOffset="8301.45">5826 7144 0,'0'31'16,"0"-62"-16,16 47 109,111-64-93,-47 0-16,15 48 15,222-111 1,-47 32 0,-79-1-1,-33-15 1,-126 95-1,-48 0 64</inkml:trace>
  <inkml:trace contextRef="#ctx0" brushRef="#br0" timeOffset="9641.53">3826 5588 0,'0'0'16,"-32"0"0,1 0 15,31 16 0,222-16 16,79-32-31,1-16-1,-64 1 1,-143-1 0,17 48-16,-81-32 15,1 32 16,-80 0 16</inkml:trace>
  <inkml:trace contextRef="#ctx0" brushRef="#br0" timeOffset="14506.66">7430 6286 0,'-32'0'32,"32"32"-1</inkml:trace>
  <inkml:trace contextRef="#ctx0" brushRef="#br0" timeOffset="16233.5">9557 5509 0,'0'0'0,"0"47"125,0-15-109,-16 31-1,159-174 32,-64 32-31,128-112 0,15 17-1,-95 79-15,0-1 16,-95 65-1,15-33 1</inkml:trace>
  <inkml:trace contextRef="#ctx0" brushRef="#br0" timeOffset="19565.79">4906 4381 0,'0'32'94,"-16"95"-79,-16 0 1,32-95 0,0 16-16,0-17 46,0-189 1,16 15-31,16 16 0,-1 95-1,-31-16-15,48 48 16,-16 0-1,31 0 1,-63 64 0,0-32-16,-32 47 15,-31 0 1,31-47 0,0-32 15,64 0 16,16 0-32,15 0 1,1 95 0,-32-31-1,-32-17 1,-64 1-1,1-16 1,31-32-16,16 0 16,-16 0-1,0 0 1,32-16 0,0-32-1</inkml:trace>
  <inkml:trace contextRef="#ctx0" brushRef="#br0" timeOffset="20332.47">5223 4540 0,'0'0'15,"0"95"48,0-31-48,0-1 1,32-31 0,15-32-16,1 0 15,0 0 16,-48-16-31,47-15 16,-15-128 0,-32 127-1,0 0 1,0 96 31,-16-1-32,16 1 1,16-32 0,16-32-16,15 0 15,-15 0 1,48-48 0,-49-63 15,65 0-16,-96 79 17,-16 32-1,-16 79-15,32-15-1,32-1 1,31 1-1,-15-32 1,-64-1 15,-48 17-15,1-48 0,31 0-1</inkml:trace>
  <inkml:trace contextRef="#ctx0" brushRef="#br0" timeOffset="21816.21">6064 4524 0,'0'0'0,"0"143"62,32-79-46,32-17 0,31-15-1,-47-32 1,-1-63 15,-47 31-31,48-111 16,-48 111-1,32-15 1,-1 110 46,1 32-46,-32-63 0,32-111 62,31-17-47,-31 65-15,0 62 31,0 17-32,-1 0 1,17-17-1,15 1 1,33-48 0,-65-47-1,17 31 1,-48-16 0,-16 17-1,-63 31 16,47 0-15,32 31 0,-32 17-1,64 47 1,32-31 0,-49-64-1,49 0-15,-32 0 16,79-64-1,-48-15 1,-31 0 0,0 47-1,-64 32 48,32 127-32,32-95-15,31 63-1,-31-63 1,-32-1 15,-32-31-15,-31 0-1,31 0 1,0 0 0,80-16 15,31-79-15,-47 63-1,0-15-15,63-96 31,-63 95-15,-32 17-16,-16 46 78,16 97-62,16-33-1,16-16 1,-32-15 0,-48-16-1,-63-32 1,16 0 0,47 0-1,-16-32-15</inkml:trace>
  <inkml:trace contextRef="#ctx0" brushRef="#br0" timeOffset="22039.57">6223 4016 0</inkml:trace>
  <inkml:trace contextRef="#ctx0" brushRef="#br0" timeOffset="23032.23">6842 4889 0,'-16'0'63,"-63"0"-48,47 0-15,1 32 16,-17 32-1,0-17 1,48 1 0,80-16-1,-1-1 1,-15-31 0,-33 0-1,-158 0 63,16 48-62,79-16 0,32 15-1,0 17 1,96 15-1,15-47 1,32-32 0,63-16-1</inkml:trace>
  <inkml:trace contextRef="#ctx0" brushRef="#br0" timeOffset="23533.03">7128 5128 0,'0'0'0,"0"47"62,0 1-46,0-16-16,0 31 31,0-95 63,48 1-78,-17-33-1,-31 32 1,16 32-16,16 0 31,0 0-15,15 48-16,-47 0 15,32-17 1,-32 17 0,0 15-1,0-47 1</inkml:trace>
  <inkml:trace contextRef="#ctx0" brushRef="#br0" timeOffset="23898.74">7493 5159 0,'0'32'47,"32"47"-32,16-47 1,-17 32 0,1-64-1,-32-48 32,0 16-31,32-15-1,-32-17 1,0 17-16</inkml:trace>
  <inkml:trace contextRef="#ctx0" brushRef="#br0" timeOffset="25365.81">7827 5096 0,'0'63'47,"0"48"-16,0-79-15,0 16 0,47-16-1,1-32 1,-1-16 0,17-48-1,-16 1-15,-48 15 16,31-79-1,-31 95 1,-16 32 0,-15 0-1,-1 32 1,32 16 0,0-1-16,16 1 15,47-48 1,-15 0 15,-16 0-15,-1-32-1,1 0 1,-32 48 46,-16 48-46,16-17 0,0-15-1,16 0 1,48-32 0,-17 0-1,1-16 16,-48-63-31,32 47 16,-32-47 0,-16 79 31,16 31-32,0 17 1,0 15-1,16-31 1,31-32 0,17 0-1,-32-32 1,-1-47 0,-31-32-1,-16 63 1,-63 48 15,47 0-15,-15 32-1,47 0 1,0 0 0,16-1-1,31-31 1,1-16-1,-1-63 1,1 47 0,-16-31-1,0 63 1,-1 47 15,-31 1-15,32-16 15,-32 47-15,0-111 46,32 1-46,-32-33-16,32 32 15,-32 1 1,31 31 15,1 31-15,16 17 0,-17 0-1,-31 15 1,0-47 15</inkml:trace>
  <inkml:trace contextRef="#ctx0" brushRef="#br0" timeOffset="26866.57">9017 4858 0,'0'0'0,"32"47"63,-32-15-48,32 95 1,-32-95 15,0 15-15,0-94 31,79-160-16,-79 176-16,0-1 1,32 80 31,-32-17-31,32 96-1,-32-95 16,0-80 16,31-63-31,17 64 0,0-17-1,-48 32 1,31 32-1,1 16 17,0 16-17,0 0 1,-1 0 0,1-32-1,16 0 16,-48-16-31,31-16 16,-31-63 0,0 47-1,-15 48 1,15-32 0,-64 48-1,64 32 1,0 15-1,0 1 1,16-17 0,63-47-1,-15 0 1,-64-15 0,63-17-16,-63 0 15,48-16-15,-16-79 31,-32 112-15,0 94 47,31-47-48,-31 15-15,32-47 31,0 0 1,0-79-17,-1-16 1,-31 63 0,48 80 46,-16-17-46,15-31-1,1 0 1,-16 0 0,0-31-1,-32-1-15,0-32 16,31-79-1,-31 112 1,-16 31 31,16 79-31,0 32-1,16-16 16,-16-63-31,32-32 16</inkml:trace>
  <inkml:trace contextRef="#ctx0" brushRef="#br0" timeOffset="27049.24">10192 4477 0,'0'0'0,"0"-32"62,143 32-46,-96 0 0,1-48-16</inkml:trace>
  <inkml:trace contextRef="#ctx0" brushRef="#br0" timeOffset="27233.79">10494 4366 0,'0'0'31</inkml:trace>
  <inkml:trace contextRef="#ctx0" brushRef="#br0" timeOffset="29065.49">2588 4366 0,'0'-32'31,"0"64"-31,-111-48 78,15 79-62,96-31-1,0 0 1,16-32 0,32 31-16,63-31 15,-95 0 1,-175 48 46,112-48-46,-17 32 0,32 0-1,1-32-15,31 31 16,15 17-1,81 0 1,-1-17 0,-47-31-16,15 0 15,64 0 1,-79-31 0</inkml:trace>
  <inkml:trace contextRef="#ctx0" brushRef="#br0" timeOffset="29299.34">2762 4572 0,'96'16'31,"-17"95"0,32-16 0,-79-95-15</inkml:trace>
  <inkml:trace contextRef="#ctx0" brushRef="#br0" timeOffset="29498.27">3032 4572 0,'0'0'16,"-31"32"31,-1 31-32,-16 1 1,16 15-1,1-47 1</inkml:trace>
  <inkml:trace contextRef="#ctx0" brushRef="#br0" timeOffset="29799.51">3239 4334 0,'0'0'15,"0"16"17,0 63-17,0-31-15,0-1 16,0 112-1,0-80 1,0-47 0,31 0-1,49-32 1,-80-16 0</inkml:trace>
  <inkml:trace contextRef="#ctx0" brushRef="#br0" timeOffset="29965.8">3191 4556 0,'16'0'47,"47"0"-31,-15 0-1</inkml:trace>
  <inkml:trace contextRef="#ctx0" brushRef="#br0" timeOffset="31048.35">3461 4762 0,'0'0'0,"32"0"16,-1-79 0,-31 16-1,0 31-15,0 0 32,-31 32-1,-17 64-16,48-17 1,0 17 0,16-48-1,16-16 1,47 0-16,-47 0 16,47 0-1,-15-64 1,-64 1 15,0 31-15,0-16-1,-16 16 1,-16 32 0,32 16-1,0 16 1,0 0-16,32 0 15,0-1 1,-1-31 15,-31 32-15,32 0 0,-32 0-1,0-1 1,0 1 15,32 0-15,0-32-1,31 0 1,-15-32 0,-17-31-1,-31-17 1,0 1-1,0 47 1,-15 32 15,15 16-15,0 32 0,0 15-1,0-15 1,0-17-1,0-46 48,0-65-47,15 17-1,17 31 1,0 32 15,-32 32-15,0 15-1,32 17 1,-32-32 0,31-32-16</inkml:trace>
  <inkml:trace contextRef="#ctx0" brushRef="#br0" timeOffset="31598.57">4302 4651 0,'0'0'0,"0"-47"15,-16 15 1,-15 32 0,-1 0-1,0 16 1,32 16-1,0-1 1,16 1 0,16-32-1,0 0 1,-1 0 0,1 0 46,-16 0-46,47 0-1,-15 0 1,0-32 0,15-95-1,-15-47 1,-48 15-1,-16 127 1,-16 0 0,-15 80-1,-17 31 1,64 64 0,48 0-1,-17-79 1,49 31-16,-17 0 15</inkml:trace>
  <inkml:trace contextRef="#ctx0" brushRef="#br0" timeOffset="55030.78">12160 6001 0,'-15'0'375,"-17"-16"-375</inkml:trace>
  <inkml:trace contextRef="#ctx0" brushRef="#br0" timeOffset="62438.96">11938 5604 0</inkml:trace>
  <inkml:trace contextRef="#ctx0" brushRef="#br0" timeOffset="67130.83">11970 5588 0,'0'16'47,"48"16"2578,-33-32-2625</inkml:trace>
  <inkml:trace contextRef="#ctx0" brushRef="#br0" timeOffset="80730.77">20923 5286 0,'0'0'0,"16"0"16,-16 32-1,16-32 1,-16 32-1</inkml:trace>
  <inkml:trace contextRef="#ctx0" brushRef="#br0" timeOffset="81554.64">20273 5842 0,'142'0'47,"97"0"-31,-49 0-1,-31 0-15,381-32 16,-144-31-1,-142 63 17,-206 0-32,-48-16 0,32 16 31,-80 0 94,1 0-125</inkml:trace>
  <inkml:trace contextRef="#ctx0" brushRef="#br0" timeOffset="82758.81">15923 6540 0,'0'0'0,"127"0"47,-64 32-31,64-32 0,64 0-1,63 0 1,238-32-1,-206 32 1,-128 0 15,-142 0-15,16 0 0,-32 16-1</inkml:trace>
  <inkml:trace contextRef="#ctx0" brushRef="#br0" timeOffset="84010.39">17987 7414 0,'0'-16'515</inkml:trace>
  <inkml:trace contextRef="#ctx0" brushRef="#br0" timeOffset="108591.04">12367 7445 0,'-48'32'0,"96"-64"0,-128 64 15,96-32 63</inkml:trace>
  <inkml:trace contextRef="#ctx0" brushRef="#br0" timeOffset="109145.49">12303 7509 0,'-16'0'31,"16"-16"16,16 64 78,16 79-94,-32-96-15,32-31-1,174-47 16,112-191-15,126-1 0,-47 65-1,-222 126-15,-112 48 16,-31-32 0,-64 64 62,0 0-78</inkml:trace>
  <inkml:trace contextRef="#ctx0" brushRef="#br0" timeOffset="110195.37">12383 8271 0,'16'79'93,"31"16"-61,-15-95-1,333-190 0,-222 95-31,254-159 31,-223 174 1,-158 80-17,-16 16-15</inkml:trace>
  <inkml:trace contextRef="#ctx0" brushRef="#br0" timeOffset="114943.5">9890 5969 0,'0'0'31,"32"0"204,-80 32-173</inkml:trace>
  <inkml:trace contextRef="#ctx0" brushRef="#br0" timeOffset="116997.33">6795 8366 0,'-32'32'47</inkml:trace>
  <inkml:trace contextRef="#ctx0" brushRef="#br0" timeOffset="117511.86">6763 8398 0,'16'32'203,"16"-1"-187,15-31 93,64-95-93,112-48-1,-49 32 1,-47 32 0,-79 47-16</inkml:trace>
  <inkml:trace contextRef="#ctx0" brushRef="#br0" timeOffset="122494.34">7890 10477 0</inkml:trace>
  <inkml:trace contextRef="#ctx0" brushRef="#br0" timeOffset="123327.93">19368 4254 0,'0'0'0,"0"-31"16,0-1-16,-48 32 16,16 0-1,-15 0-15,-33 0 16,-174 63 0,80 112-1,94-80-15</inkml:trace>
  <inkml:trace contextRef="#ctx0" brushRef="#br0" timeOffset="124660.82">19717 5397 0,'0'-31'62,"16"47"17,-16 15-64,32-31 1,-1 32-1,1-32 48,190-175-47,-47 64-16,0 16 15,348-254 1,-316 285-1,-112 1 1,-79 63 0,-16 63 15</inkml:trace>
  <inkml:trace contextRef="#ctx0" brushRef="#br0" timeOffset="126199.06">22479 5191 0,'32'0'31,"-32"-16"31,-16-31-30,-127-49-17,-95 17 1,32 31-1,95-15-15,-16 63 16,-175 0 0,48 0-1,-64 0 17,17 0-17,-128 79 1,159-31-1,-15-1 1,-49 17 0,64 15-1,159-47-15,-48 79 16,48 16 0,64 16-1,-1-64 1,48-31-16,0 16 15,0-1 1,127 16 0,111-15 15,-63-64-31,15 48 0,572-48 31,-174 0-15,15 0-1,-32-64 1,176-63 0,-382 0-1,-80 0 1,-158 48 0,-63 15-1,-32 64-15,-32-79 16,-64-16-1,-95-32 1,-158 15 0,158 65-1,-190 47-15,47 0 32,-174 143-17,-16 31 1,286-63-16</inkml:trace>
  <inkml:trace contextRef="#ctx0" brushRef="#br0" timeOffset="127872.32">18780 6842 0,'0'-32'32</inkml:trace>
  <inkml:trace contextRef="#ctx0" brushRef="#br0" timeOffset="129544.17">12176 9398 0,'32'0'62,"0"32"16,0 47-46,-1-47-1,112-127 0,-16-64-15,64-16-1,31 48 1,-47 48 0,-144 79-16,-31-32 15,32 32 1</inkml:trace>
  <inkml:trace contextRef="#ctx0" brushRef="#br0" timeOffset="130527.78">12700 9922 0,'0'-16'656</inkml:trace>
  <inkml:trace contextRef="#ctx0" brushRef="#br0" timeOffset="132845.1">12351 9763 0,'32'0'1312</inkml:trace>
  <inkml:trace contextRef="#ctx0" brushRef="#br0" timeOffset="136355.47">12605 9731 0,'0'-16'906,"-32"16"1266</inkml:trace>
  <inkml:trace contextRef="#ctx0" brushRef="#br0" timeOffset="140180.89">1699 12748 0,'0'31'46,"0"1"-30,0 0 0,32 15-1,-1-15 1,1-32 15,47-63-15,64-64-1,-32 16-15,128-159 16,62-48 0,-126 159-1,-143 128 1</inkml:trace>
  <inkml:trace contextRef="#ctx0" brushRef="#br0" timeOffset="141379.1">1683 14256 0,'63'0'47,"-15"0"-31,79-80 0,191-94-1,-80 78-15,222-173 16,48 15-1,-175 95 1,-285 159 0</inkml:trace>
  <inkml:trace contextRef="#ctx0" brushRef="#br0" timeOffset="147027.69">12827 10128 0,'0'32'78</inkml:trace>
  <inkml:trace contextRef="#ctx0" brushRef="#br0" timeOffset="148107.51">11875 8541 0,'47'0'16</inkml:trace>
  <inkml:trace contextRef="#ctx0" brushRef="#br0" timeOffset="170842.1">18860 9795 0,'16'0'32,"63"0"-17,32 0 1,48-16 0,79-32-1,191-31 1,-128 31-1,64 1 1,16-1 0,-47 0-1,-17 48 1,-222-31 15,-15 31 0,-48 0 63,-1 0-63</inkml:trace>
  <inkml:trace contextRef="#ctx0" brushRef="#br0" timeOffset="171896.44">20241 10747 0,'-32'0'62</inkml:trace>
  <inkml:trace contextRef="#ctx0" brushRef="#br0" timeOffset="175175.67">19923 8842 0,'0'-31'31,"0"94"32,0 32-48,16-63 1,-16 16 0,0-17-16,32-31 31</inkml:trace>
  <inkml:trace contextRef="#ctx0" brushRef="#br0" timeOffset="175508.94">19923 8699 0,'0'0'0,"-31"-47"16,31 15-16,31 0 15,33 1 1,-32 31-1,15 0 1,17 47 0,-33 48-1,-31-63 1,-31 16 0,-17-16-1,-15-1 16,31-31-15</inkml:trace>
  <inkml:trace contextRef="#ctx0" brushRef="#br0" timeOffset="176091.78">20701 8906 0,'-32'0'31,"-79"-16"0,32-16-15,31-15-16,-15-65 31,31 81-15,48 31 31,32 16-16,-48 79-15,0-48-1,0 49 1,0-49 0,0-15-1,174-95 48,-142 31-48,16-32 1,-17 64 0,-31-31-16,32-1 46</inkml:trace>
  <inkml:trace contextRef="#ctx0" brushRef="#br0" timeOffset="176441.15">20939 8588 0,'0'16'47,"0"79"-32,0-63 1,0 16-1,32-16-15,0-32 16,31 47 0,1-47-1,-1-16 1,-31 16-16,0-47 16,0 47-1</inkml:trace>
  <inkml:trace contextRef="#ctx0" brushRef="#br0" timeOffset="176825.03">21638 8826 0,'0'-15'31,"0"-65"-16,0-47 1,0 32 0,0 63-16,32-15 31,-1 78 16,1 1-32,-32 16 1,64 47 0,-33-63-16,-31-1 15,0 33 1,0-32 0,32-32-16</inkml:trace>
  <inkml:trace contextRef="#ctx0" brushRef="#br0" timeOffset="177041.2">21654 8715 0,'16'-31'15,"31"31"1,-15 0-16,31 0 16,33-32-1,47 0 1,-112 0-16</inkml:trace>
  <inkml:trace contextRef="#ctx0" brushRef="#br0" timeOffset="177291.53">22146 8414 0,'0'0'0,"0"16"63,0 63-48,0-16 1,0 17 0,0-48-16,0-1 15,0 1 1,79-32 0</inkml:trace>
  <inkml:trace contextRef="#ctx0" brushRef="#br0" timeOffset="177591.4">22527 8477 0,'-80'0'32,"1"95"14,79-63-30,64 16 0,47-1-1,-16-47 1,16 0 0,0-79-1,-111 31 1,-16 17-1</inkml:trace>
  <inkml:trace contextRef="#ctx0" brushRef="#br0" timeOffset="178474.91">19082 7858 0,'0'32'47,"0"174"-16,0-142-31,0 31 31,0-47-31,16-48 31</inkml:trace>
  <inkml:trace contextRef="#ctx0" brushRef="#br0" timeOffset="178958.26">19082 7922 0,'-48'-64'31,"96"128"-31,0-128 47,31 96-32,-79 63 1,-16-47 0,-63 15 15,-1-31-16,160-64 32,47 32-15,-96 0-17,-31 16-15,32-16 16,-32 111-1,-47-47 1,-17-33 0,16-31-16,1 0 15,15 0-15,0 0 16,-15 0 0</inkml:trace>
  <inkml:trace contextRef="#ctx0" brushRef="#br0" timeOffset="179658.02">19574 8096 0,'0'0'16,"-16"-32"-1,-31 32 1,-1 0 0,16 16-1,32 48 1,16 47 0,16-79-1,-32-1 1,32-31-1,-1 0 1,1 0-16,-32-15 16,32 15-1,-32-80-15,0 48 16,32 1 0,-32 47 30,31 31-30,1-47 0,79 48-1,-31-96 1,-49-15 0,1 31-16,-32-47 31,-16-128 0,-31 175-31,-17 1 31,32 31-15,1 79 0,31 0-1,0-31-15,0 0 16,79 110-1,-31-62 1,15-49 0,-31-47-16,31 0 15,144 0 1</inkml:trace>
  <inkml:trace contextRef="#ctx0" brushRef="#br0" timeOffset="180542.43">20431 8017 0,'0'0'15,"-31"-32"1,-1 32 15,0 32-15,32 15-1,-32 17 1,32-16 0,16-17-1,32-31 1,-1 0 0,-15-16-1,-32-15 16,0-1-15,0 0 0,0 96 31,32-17-32,0-15 1,-1-32-1,1 0-15,0 0 16,0-32 0,-32-15-1,31-17 1,-31 32-16,0 1 16,32-1-1,0 32 1,16 0 31,-17 63-32,1-15 1,-32 16 0,0-33-1,0-126 48,0 32-48,48 31-15,-32 0 16,15 0 0,1 32-1,-32 48 16,32-48-31,-32 48 16,0 31 0,32-31-1,-32-17 1,31-31-16</inkml:trace>
  <inkml:trace contextRef="#ctx0" brushRef="#br0" timeOffset="181007.82">21257 7937 0,'0'0'0,"0"-31"16,-16 31 0,-63 47 30,79 33-30,0-17 0,0-15-1,15-16 1,97-32 0,-17 0-1,0-32 1,-63-16-16,-32 16 15,32-31 1,-80 15 0,16 48-1,-15 0 1,47 16 0,0 16-1,0 31-15,63-31 31,16 16-15,-63-16 0,64-32-16,-49 0 0</inkml:trace>
  <inkml:trace contextRef="#ctx0" brushRef="#br0" timeOffset="181475.56">22082 7779 0,'0'0'15,"64"-111"1,-64 79 0,-48 32 30,16 0-30,32 16-16,-31 0 16,31 47-1,47 1 1,17-1 0,-32-63-16,-1 111 15,17-63 1,-48-16-1,-111-32 48,16 0-32,95 31 0</inkml:trace>
  <inkml:trace contextRef="#ctx0" brushRef="#br0" timeOffset="181991.18">22511 7683 0,'0'-31'32,"-16"94"15,32 128-16,-16-144-31,0 49 31,0-65-15,0-47 46,32-111-46,-1 96-1,1 31 1,0 0 0,0 0-1,-32 16-15,31 31 16,1 1 0,-32-1-1,32-15 16,16-32 1</inkml:trace>
  <inkml:trace contextRef="#ctx0" brushRef="#br0" timeOffset="182791.51">22940 7953 0,'0'0'31,"15"-31"-15,33-1-1,16 32 1,-33-32 0,-31 0-1,0 1 1,-16 31-1,-15 0 1,-17 0-16,16 15 31,32 33-15,0-16-16,0 31 16,16-31-1,64 16 1,-1-1-1,-47-47-15,31 0 16,1-16 0,15-79-1,-31 16 1,-48 47-16,-16-63 31,-48 95 0,33 0-15,-17 47 0,0-15-16,48 32 15,0-17 1,48 1 0,79 0-1,-79-48-15,-17 0 16,128 0-1,-95-80 1,-17-79 0,-47 17-1,0 15 1,-16 127 31,16 31-32,0 1-15,0 16 16,32 110 0,-32-94-1,32-32 1,-32 15-16</inkml:trace>
  <inkml:trace contextRef="#ctx0" brushRef="#br0" timeOffset="183008.17">23606 7747 0,'16'-32'31,"-32"64"-31,96-64 15,15 64 1,32-32 0,-48 0-16</inkml:trace>
  <inkml:trace contextRef="#ctx0" brushRef="#br0" timeOffset="184991.1">24146 7477 0,'0'-32'15,"16"1"17,16 31-17,47 0 1,-31 0-16,15 0 31,-31 15-15,16 49-1,-48-32-15,0-1 16,-112 81 0,-15-49-1,32 32 1,63-31-1,32 31 1,80-47 0,-1-48-1,16 31 1,-31-31 0,-32 0-1,-80 64 48,16 206-32,32-223-15,16 80-1,79 0 1,-63-47-16,0-1 15,-32-47 1,-48-32 15,-126 0-15,63-16 0,63 16-1,16 0 1,0-32 15</inkml:trace>
  <inkml:trace contextRef="#ctx0" brushRef="#br0" timeOffset="185207.58">24543 8747 0,'32'0'31,"-32"-16"0,-16 16-31</inkml:trace>
  <inkml:trace contextRef="#ctx0" brushRef="#br0" timeOffset="-27381.69">21511 14446 0,'0'111'47,"0"-79"-32,0-16 1,32 47 0,-1-63-1,49 0 1,15-31-16,191-128 15,63-47 1,48-1 0,-127 160-1,-239 15 1,-31 48 46,-15 47-46</inkml:trace>
  <inkml:trace contextRef="#ctx0" brushRef="#br0" timeOffset="-24145.89">22352 15748 0,'0'16'172,"32"16"-157,-32-1 16,0 1-31,0 0 16,32-32 15,15 0-15,144-80 0,110-78-1,192-144 1,-335 207-1,-126 95 1,0-32-16,-32 48 94,-95 16-79</inkml:trace>
  <inkml:trace contextRef="#ctx0" brushRef="#br0" timeOffset="-22347.24">22733 16177 0,'32'47'94,"-32"1"-47,0-16-32,32-32-15,-32 31 32,63-31 14,144-111-30,31-32 0,16-15-1,-96 94 1,-94 16 0,-64 17 15,-16 31 47</inkml:trace>
  <inkml:trace contextRef="#ctx0" brushRef="#br0" timeOffset="-20683.11">22908 14526 0,'0'-32'16,"143"0"31,79-16-32,-111 48-15,-47 0 16,31 80-1,-95 47 1,-159 79 15,32-79-31,32-16 16,0 32-16,-32 79 16,79-79-1,48-16 1,0-47-1,63-80-15,17 63 16,237-63 0,-126-47-1,-112 15 1,-95 32 15,-63 16-15,47 15-1,0 17 17,32-16-32,0 15 15,112 223 1,-17-143 0,-32-16-1,-63-31 1,0 15-1,-127-16 1,0-31 0,64-48-16,47 0 15,-32 32-15,17-32 32,62-48-17</inkml:trace>
  <inkml:trace contextRef="#ctx0" brushRef="#br0" timeOffset="-20516.29">24337 16304 0,'0'-80'31,"0"33"-31,63-17 15,-31-47-15</inkml:trace>
  <inkml:trace contextRef="#ctx0" brushRef="#br0" timeOffset="-20315.97">24781 15716 0,'0'0'0,"48"-79"16,142-64-1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30:45.9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16875 5842 0,'0'-32'0,"32"0"32,127 32-1,0 0-16,95 16 1,-48 32 0,-16-48-1,-47-16 1,16-16 0,-254 32 46,-32 16-62</inkml:trace>
  <inkml:trace contextRef="#ctx0" brushRef="#br0" timeOffset="340.36">16082 6286 0,'127'32'32,"-64"-32"-32,32 0 15,143 0 1,112 0-1,-144-32 1,-31 32 0,-96-31-1,-47 31 1</inkml:trace>
  <inkml:trace contextRef="#ctx0" brushRef="#br0" timeOffset="548.64">17336 6223 0</inkml:trace>
  <inkml:trace contextRef="#ctx0" brushRef="#br0" timeOffset="3580.33">16542 5890 0,'0'31'547</inkml:trace>
  <inkml:trace contextRef="#ctx0" brushRef="#br0" timeOffset="5132.63">16859 7398 0,'32'0'62,"222"0"-46,64 0 0,206 47-1,-143 1 16,0-48-15,-96 0 0,-110 0-1,-127 0-15,-17 0 16,-31-16 437,-16 16-437</inkml:trace>
  <inkml:trace contextRef="#ctx0" brushRef="#br0" timeOffset="7369.23">5017 9096 0,'0'0'0,"47"0"62,1 0-46,238 0 0,-1 0-1,33 0 1,-128 0 0,-94 64-16,-49-64 15,17 47 1,-32-31-1,-1-16 126</inkml:trace>
  <inkml:trace contextRef="#ctx0" brushRef="#br0" timeOffset="10765.89">11129 8128 0,'0'0'0,"31"32"63,1-32-48,32 31 16,110-142 1,-94 32-32,31 15 15,-16-31-15,127-64 16,-63 64 0,-80 63-1,-2444 32 1,4762 64 31</inkml:trace>
  <inkml:trace contextRef="#ctx0" brushRef="#br0" timeOffset="11185.85">11367 8207 0,'16'0'16,"63"0"-1,48-16 1,63-79 0,33-16-1,-1-16 16,48 16-15,-223 79 0,-15 32-1,-48 16 32</inkml:trace>
  <inkml:trace contextRef="#ctx0" brushRef="#br0" timeOffset="24965.63">8922 10589 0,'-16'-32'31,"-2349"32"63,4857 16-79,-2413-16-15,175 0 16,64 0 0,63 0-1,32 0 1,-239 0-1,-94 0 17,-49 0-17,-46 0 48,-17 0-63</inkml:trace>
  <inkml:trace contextRef="#ctx0" brushRef="#br0" timeOffset="25516.03">9255 10985 0,'16'0'47,"127"0"-31,0 0-1,206-31 1,-47 31 0,-48 0-1,-80-48 1,-47 48 15,-95 0-31,0 0 0,0 0 31,-1 0 79,-31 16-95</inkml:trace>
  <inkml:trace contextRef="#ctx0" brushRef="#br0" timeOffset="30131.9">11287 10684 0,'0'32'172,"16"-32"16,-16 31 140,0 1-47,0 0-265</inkml:trace>
  <inkml:trace contextRef="#ctx0" brushRef="#br0" timeOffset="31465.62">11208 10874 0,'0'32'969,"32"-32"-938</inkml:trace>
  <inkml:trace contextRef="#ctx0" brushRef="#br0" timeOffset="43247.91">2286 12494 0,'32'31'0,"-64"-62"0,0 31 15,-31-32 1,-1 0 0,17 32-1,15 0 1,0 0 0,159 0 62,651-111-47,-95-32 0,-572 95-15,-32 48-1</inkml:trace>
  <inkml:trace contextRef="#ctx0" brushRef="#br0" timeOffset="43531.54">2921 12589 0,'826'-64'46,"237"-94"-14,-856 110-17</inkml:trace>
  <inkml:trace contextRef="#ctx0" brushRef="#br0" timeOffset="45481.61">1699 11271 0,'0'0'0,"-16"32"32,-79 63-17,63-31-15,-32 47 16,-110 175 0,79-112-16,31-63 15,-15 16 1,47-79-1,32-64 32,0-127-31,48-31 0,-17 31-1,17 32 1,-16-32-1,-32 95-15,31-15 16,-31 31 0,32 0-1,0 32 17,0 64-17,-32 31 1,47 32-1,1-64 1,-16-15-16,-32-16 16,63 31-16,-15-31 31,-64-32 16,-16 0-32,-47-16-15,-64-32 16,16 17 0,79 31-16,1 0 15,-96-32 1,111 32 0,0 0-1,32 16 16,96-16 1,31-32-17,15-63 1,1 47-16,0 1 16,-32 15-16,-15-16 15,-96 16 1,-80 32-1,33 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35:30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10494 11779 0</inkml:trace>
  <inkml:trace contextRef="#ctx0" brushRef="#br0" timeOffset="11266.57">11541 9588 0,'0'0'16,"-127"-31"0,80 31-16,-49 0 15,17 0 1,47 0 0,-31 0-1,31 0-15,80 0 110,269 16-79,-126-16-31,63 0 15,603 0 1,-286-48 0,-31 0-1,-143 1 1,-222 47 0,-144 0-1</inkml:trace>
  <inkml:trace contextRef="#ctx0" brushRef="#br0" timeOffset="13083.47">16764 9239 0,'0'-32'16,"0"48"77,32 48-77,-32-17 0,32-15-1,31-32 48,461-301-32,32 94 0,-429 160-15,-111 47-1,-16 15 17</inkml:trace>
  <inkml:trace contextRef="#ctx0" brushRef="#br0" timeOffset="33798.53">16336 9192 0,'0'0'0,"-32"0"16,0-32-1,0-16 32,1 48-16</inkml:trace>
  <inkml:trace contextRef="#ctx0" brushRef="#br0" timeOffset="44215.65">14526 11239 0,'95'0'31,"-190"0"-31,539-31 31,-237 31-31,-1 0 16,810 0 0,-333 0-1,-128-48 1,-332-15-16,-65 63 16,80-32-1,-222 32 1,-16-32-1</inkml:trace>
  <inkml:trace contextRef="#ctx0" brushRef="#br0" timeOffset="60863.95">22511 12636 0,'0'0'16,"222"-31"31,620-128-16,-652 159-16,48-64 1,-206 64 0,-127 32 15,-1-32-31</inkml:trace>
  <inkml:trace contextRef="#ctx0" brushRef="#br0" timeOffset="61713.65">22225 13684 0,'0'0'0,"0"127"47,0-32-32,0 1 1,0-33 0,16-63 15,-16-47 0,0-128-15,0-174-1,0 222 1,-16 127 0,16 79 15,32 16-16,-32-63 1,63 16-16,-15-17 16,-16-31-1,0 0 1,63-95 0,-48-16-1,-47 63 1,32 17-1,-32-1 1,0 207 31,0-96-31,0-16-16,0 49 15,0-33 1,0 0-1,0-47 1,0 0-16,32-32 16</inkml:trace>
  <inkml:trace contextRef="#ctx0" brushRef="#br0" timeOffset="62151.17">23035 13478 0,'0'32'31,"-16"47"-31,16 16 16,-79 80-1,31-16 1,0-80-1,48-47 1,0-64 15,48-143-15,-48 48 0,48-174-16,-1 110 15,64 318 48,-47-16-48,15 0 1,-47-47 0,16-64-16,-48 48 15,31-17 1</inkml:trace>
  <inkml:trace contextRef="#ctx0" brushRef="#br0" timeOffset="62330.73">23035 13859 0,'111'-95'31,"-16"47"-15,-47 48-16,63-79 16</inkml:trace>
  <inkml:trace contextRef="#ctx0" brushRef="#br0" timeOffset="62547.27">23717 13557 0,'-15'0'31,"15"-32"16</inkml:trace>
  <inkml:trace contextRef="#ctx0" brushRef="#br0" timeOffset="67080.86">2334 13541 0,'111'-16'47</inkml:trace>
  <inkml:trace contextRef="#ctx0" brushRef="#br0" timeOffset="68201.41">2366 13684 0,'15'0'32</inkml:trace>
  <inkml:trace contextRef="#ctx0" brushRef="#br0" timeOffset="70263.16">2413 13573 0,'0'0'0,"254"0"32,-111-32-17,16 32-15,79-31 16,-48 31-1,-63-48 1,-47 48 0,-48 0-1,-64 0 32</inkml:trace>
  <inkml:trace contextRef="#ctx0" brushRef="#br0" timeOffset="71396.58">3270 14065 0,'0'80'79,"0"15"-64,0-63-15,0 31 16,0-31-1,0 0 1,32-318 47,16-63-32,-48 285-31,0 32 31,47 80 0,-15-16-15,0-1-16,16 33 16,-1-1-1,-15-15 1,-32-16-1,63-96 17,17-47-17,-1-63 1,-47 142 0,-32 191 46,0-112-46,0 17-16,-32 15 15,32 96 1,0-96 0,0-47-1,16-32-15</inkml:trace>
  <inkml:trace contextRef="#ctx0" brushRef="#br0" timeOffset="71729.94">4032 14240 0,'0'-80'47,"0"-142"-16,48 48-15,47 110-1,-63 32 1,0 80 15,31 127-15,-63-48-1,0-48 1,48-47 0,-48-1-1</inkml:trace>
  <inkml:trace contextRef="#ctx0" brushRef="#br0" timeOffset="71897.31">3969 14113 0,'0'0'0,"143"-95"47,222-17-16,-175 49-15</inkml:trace>
  <inkml:trace contextRef="#ctx0" brushRef="#br0" timeOffset="72063.61">4921 13811 0,'0'-16'16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39:41.8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7525 7477 0,'0'32'32,"32"95"-17,15-48 1,1 1-1,-16-65 1,-1 49 0,1-64-16,79 0 15,175-222 1,127-175 0,127 32-1,-271 222 1,65 32-16,-207 63 31,-80 16-31,-31 32 31,-79 0 47</inkml:trace>
  <inkml:trace contextRef="#ctx0" brushRef="#br0" timeOffset="11934.72">9668 9303 0,'0'31'32,"32"17"-17,0 16 1,-1-17 0,1-47-1,95 0 1,206-190-1,191-128 1,48-47 0,428-222-1,-571 412 1,-271 143 0,-174 64 46,-15 16-46,31-17-1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40:13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3651 7699 0,'-31'0'31,"31"-16"0,63 16-15,96 0-1,190 0 1,-174 0-16,-48 0 16,63 0-1,-253 0 63</inkml:trace>
  <inkml:trace contextRef="#ctx0" brushRef="#br0" timeOffset="132043.81">5922 6318 0,'111'0'31,"-16"0"-15,207-47 0,-17-1-1,-110 48 1,-143-32-1,-1 32 1,-158 48 0,16-1-16</inkml:trace>
  <inkml:trace contextRef="#ctx0" brushRef="#br0" timeOffset="132210.24">5826 6667 0,'0'0'0,"64"0"47,142 0-32,96-31 1,-96-17 0,-174 48-1</inkml:trace>
  <inkml:trace contextRef="#ctx0" brushRef="#br0" timeOffset="133643.65">7430 6382 0,'0'0'0,"63"0"47,1 47-32,-1 64 1,-31-15 0,-32-33-16,0-15 15,0-16 1,-16-32-1,16-48 17,0-79-17,16 32 1,47 63 0,-15 32-1,47 79 1,-15 1 15,-33-1-15,-47-47-1,0-16 1,0-112 31,32 33-32,-32 15-15,32-15 16,0 63 15,-1 32-15,17 15-16,-48-15 16,32-32-16,-1 63 15,1-15 1,-32 0 15,32-48-31</inkml:trace>
  <inkml:trace contextRef="#ctx0" brushRef="#br0" timeOffset="134843.6">8493 6445 0,'0'0'0,"0"95"62,0 32-46,32-63 0,32-32-1,-1-32 1,-15 0 15,-48-32-31,31-32 16,-31-47-1,-79-16 1,-48 32 0,111 95-1,-16 32 1,-15 63-1,47-31 1,47-33-16,-15 1 16,16-32-16,31 32 15,16-32 1,-63-16 0,16-63-1,-1 47 1,17 95 46,-32-31-46,-32 0-16,31 31 16,-31-31-1,32-32 1,0-32 15,0-79-15,-1 32-1,-31 47 1,48 80 15,-48 31-15,32-15-1,0-1 17,31-63-32,-15 32 15,79-32 1,-64-16 0,-31-48-1,-32 33-15,0-1 16,-16-47-1,-32 31 1,1 48 0,47 32-1,-32 95 1,48-64 0,63 1-1,-15-64 1,47 31-1,-63-31 1,15-63 0,1-64-1,-64-111 1,0 63 0,0 143-16,0 48 62,0 254-46,31-190-16,17 31 15,-16-48 1,-1-63 0</inkml:trace>
  <inkml:trace contextRef="#ctx0" brushRef="#br0" timeOffset="135043.63">9779 6413 0,'238'0'62,"-31"16"-46,-144-16 0</inkml:trace>
  <inkml:trace contextRef="#ctx0" brushRef="#br0" timeOffset="136192.49">10335 6413 0,'0'-15'0,"-32"15"31,-31 15 0,31 17-31,32 0 16,0 31-1,0-31 1,16 0 0,31-32-1,-15 0 1,-32-16-16,32-32 15,-32 17 17,0 47-1,32 31-15,15-15-1,17-32 1,-33 0-1,1 0 1,32-79 0,-33-48-1,-31 0 1,0 95 0,-47 79 15,47 17-16,32-1 1,31 1 0,-31-64-16,31 0 15,-47 0 1,-16-16 0,0 32 46,0 32-31,0-1-15,0-15-16,95-32 16,-47 0-1,16 0 1,-33-79-1,-31 47-15,0 0 16,0 0-16,0 48 47,0 64-16,32-49-15,63-31 15,-63 0-31,16-63 31,-1-64-15,-47 365 46,0-16-46,0-31 0,32-64-1,-32-96-15,-48 1 32,-31-32-17,47-32 1,1 1-16,31-1 15,0-95 17,111 48-17,95 15 1,-142 64-16</inkml:trace>
  <inkml:trace contextRef="#ctx0" brushRef="#br0" timeOffset="136364.07">12097 6763 0,'32'0'16,"95"-32"0,-48 0-1,-15 32-15,221-190 16</inkml:trace>
  <inkml:trace contextRef="#ctx0" brushRef="#br0" timeOffset="211722.94">10700 9890 0,'111'-79'47,"-63"79"-47,-17 0 0,65-32 32,-33 0-17</inkml:trace>
  <inkml:trace contextRef="#ctx0" brushRef="#br0" timeOffset="211908.8">10303 10462 0,'0'0'0,"254"-32"47,111-175-32,0 96 1,-269 48 0</inkml:trace>
  <inkml:trace contextRef="#ctx0" brushRef="#br0" timeOffset="-212173.9">9255 11065 0,'0'0'0,"0"-32"31,0 0-16,32 32 1,0 32 15,0 111-15,-32-80-16,47 17 16,-47-33-16,32 1 15,95-16 1,-64-32-16,17-48 15,142-111 1,-16 32-16,207-127 16,16 32-1,-80 95 1,-222 95 15,-127 48 47,-16-16-62,16 32 0</inkml:trace>
  <inkml:trace contextRef="#ctx0" brushRef="#br0" timeOffset="-211924.43">11525 10716 0,'-15'0'62,"15"-16"-46,-32 16-16</inkml:trace>
  <inkml:trace contextRef="#ctx0" brushRef="#br0" timeOffset="-210326.46">10573 12986 0,'0'-16'219,"16"16"453,-16 16-641</inkml:trace>
  <inkml:trace contextRef="#ctx0" brushRef="#br0" timeOffset="-204907.43">16082 4127 0,'31'0'62,"49"0"-46,15-47-16,175-1 16,-143 16-1,-270 32 32</inkml:trace>
  <inkml:trace contextRef="#ctx0" brushRef="#br0" timeOffset="-204608.31">16272 4096 0,'0'31'16,"0"49"-1,32 31 1,-32-16 15,0-15-31,0-33 16,0 33-1,0-33 1,-16-47 15,-63 0-15,15 0 0,1 0-1,47 0 1,47 0-1</inkml:trace>
  <inkml:trace contextRef="#ctx0" brushRef="#br0" timeOffset="-202491.85">16653 4381 0,'0'0'0,"0"-31"15,-16 31 1,-16 0 0,1 47 15,31 64-15,-2397-15-1,4810-17 1,-2334-79-1,-16 0 1,17-32 0,-48-31-1,-32 15 1,-32-79-16,-32 32 31,1 63-15,31 32-1,-31 16-15,63 48 16,0-1 0,47 16-1,33-15 1,-33-64-16,1 0 16,111-16-1,-128-63 1,1 15-1,-32-15 1,0 47 0,0 143 46,0-47-46,0-48-16,32 63 15,63-47 1,-47-32 0,-17 0-1,33-32-15,-64-159 32,0 160-17,0 142 48,48-16-48,31-47 1,16-48 15,-63-16-15,0-79-1,-32-1 1,-32-15 0,32 79-16,-16 32 15,0 127 48,207-47-32,-128-80 0,-63 32 32,-16 15-48,16 17 1,16-33 0,32-31-1,15 0 1,-31 0-16,0-31 16,31-65-1,-63-46 1,0 15-1,-16 95 1,16 143 47,16 159-32,16-223-16,0-47 32,-32-111-31,0 0 0,32 64-1,15 47 1,17 0-1,-33 15-15,17 33 16,0 16 0,-1-1-1,-15-31 17,0-32-32,15 0 15,1-16 1,-48-111-1,0 63 1,0 33 0,-63 31-1,-1 31 1,32 49 0,32 15-1,0-16 1,32-79-1,79 0 1,-79 0 0,-32-31-1,32-49 17,-32 49-32,0 94 62,79 1-46,-15-33-1,63-31 1,-80 0-16,17-16 16,-1-126-1,1-33 1,-64-16-1,-32 80 1,-16 80 0,17 46-1,31 112 1,0 16 15,31-16-15,-31-79-16,96 47 15,-65-79 1</inkml:trace>
  <inkml:trace contextRef="#ctx0" brushRef="#br0" timeOffset="-202281.9">19765 4397 0</inkml:trace>
  <inkml:trace contextRef="#ctx0" brushRef="#br0" timeOffset="-201758.2">19987 4096 0,'0'0'0,"95"31"47,0-31-16,16 0-31,64-31 31,-80 31-31,-47 0 16,0 0-16</inkml:trace>
  <inkml:trace contextRef="#ctx0" brushRef="#br0" timeOffset="-201521.7">21066 3969 0,'0'0'0,"0"95"63,0-32-48,48 144 1,-48-128 15,0-31-31</inkml:trace>
  <inkml:trace contextRef="#ctx0" brushRef="#br0" timeOffset="-201091.38">21225 3619 0,'0'0'0,"-79"-31"16,15 31-1,1 0 1,-1 95 0,1 48-1,63-64 1,-32 112-16,32 15 31,79-79-15,1-79-1,-1-17-15,64-31 16,0-15 0,16-97-1,15-142 1,-142 16 0,-175 32-1,-47 95 1,-1 111-1,64 16 1,79 31-16</inkml:trace>
  <inkml:trace contextRef="#ctx0" brushRef="#br0" timeOffset="-199058.61">16066 4413 0,'0'16'93,"0"32"-77,0 63 15,31-79-15,1 31 0,63-15-1,-47-48 1,47 0-1,-63 0 1,0-32 0,-32 0-1,-16 0-15</inkml:trace>
  <inkml:trace contextRef="#ctx0" brushRef="#br0" timeOffset="-195075.38">16732 5016 0,'0'0'15,"159"-47"1,-111 47-16,-16 0 16,-1 0-1</inkml:trace>
  <inkml:trace contextRef="#ctx0" brushRef="#br0" timeOffset="-164160.74">16399 4953 0,'0'0'0,"-48"190"47,48-142-32,-31 16-15,31-17 16,-64 1-16,-2365 15 15,4779-15 1,-2382-16 0,32-80 31,0-15-16,0 31-16,16 48 17,32 47-17,15-31 1,16 0 0,-63-32-16,16 0 15,63 0 1,-63-16-1,16-32 1,-17-15 0,-31-1-1,-15 64 1,-1 0 15,-32 16 0,48 63-15,0-31 0,0-16-1,16 0 17,16-48-17</inkml:trace>
  <inkml:trace contextRef="#ctx0" brushRef="#br0" timeOffset="-163759.9">16193 5413 0,'79'-31'32,"32"-1"-17,-31-16-15,-1 48 16,-47 0 0,-64 64-1,-127 31 1</inkml:trace>
  <inkml:trace contextRef="#ctx0" brushRef="#br0" timeOffset="-163626.64">16145 5604 0,'64'0'16,"110"-48"0,-110 48-1,221-95 1,-237 95-16</inkml:trace>
  <inkml:trace contextRef="#ctx0" brushRef="#br0" timeOffset="-162467.56">17574 5048 0,'0'0'0,"0"-32"31,-16 80 0,-48 79-15,17-48-16,47-15 15,-64 95 1,1-80-16,31 0 16,0-47-1,32-64 48,0-63-48,0 16 1,0 47 0,16 64 31,48 15-32,-17 1-15,-15-48 16,95 32-1,-63-32 1,-1 0 0,1-32-1,-33-47 1,-31-1 0,-16 33 15,-31 47-16,15-32 1,0 64 0,1 47-1,31-15 1,47-1 0,-15-63-16,31 64 15,128-64 1,-96 0-1,16-48 1,-79 16-16,0 0 16,-32-31-1,-16 31 1,-48 0 0,33 32 15,-17 32-16,16 16-15,32-1 16,0 17 0,16-32-1,48-32 1,31-16 0,-63-48-1,15-47 1,-47-48-1,0 48-15,0 48 16,-16 15 0,16 80 15,0 111-15,32 47-1,16-79 16,47-47-15,-47-64 0,15 0-16</inkml:trace>
  <inkml:trace contextRef="#ctx0" brushRef="#br0" timeOffset="-161276.95">18844 5382 0,'-16'-48'15,"32"96"-15,-96-144 16,33 96 0,-1 48-1,48-16-15,-32-32 16,32 95 0,16-63-1,32-32 16,15 0-15,-31-48 0,-32 16-1,0 48 32,-32 286 0,32 95-16,0-318-31,0-31 16,-79-48 15,-32-48 0,79-31-15,-15-17 0,78 17-1,65 16 1,205-64 0,-79-16-1,-95 32 1,-79 15-1,-16 49-15,-48 15 32,-32 32-17,1 0 1,-1 32 0,48-1-1,0 17 1,0 31-1,79-31 1,-15-16 0,-16-32-16,-1 0 15,96-32 1,-79-63 0,-1 0-1,-63 63-15,0 0 16,0 111 31,64 17-16,15-33 16,48-142-32,-95 31 1,47-63 0,-47 79-1,-32 1 1,-16 31 15,-16 95-15,64 16-1,63-16 1,-63-47-16,-32-16 16,32-1-1,-64 1 1,0-32-16,-79 0 16,16 32-1</inkml:trace>
  <inkml:trace contextRef="#ctx0" brushRef="#br0" timeOffset="-160626.78">17193 6223 0,'79'0'47,"32"0"-32,16 0-15,0-48 16,-16 48-16,-47 0 16,-32 0-1,-48 0 1,-32 0-16</inkml:trace>
  <inkml:trace contextRef="#ctx0" brushRef="#br0" timeOffset="-160393.64">17463 6239 0,'0'95'47,"16"32"-31,-16 0-1,0-48-15,0-31 16,0 16 0,63-33-1,16-31 1</inkml:trace>
  <inkml:trace contextRef="#ctx0" brushRef="#br0" timeOffset="-159126.84">17796 6794 0,'79'-111'31,"-47"-16"0,-32 32-15,0 63 0,-32 128 31,32-65-32,48 17 1,79-48-1,-48 0 1,-47 0 0,0 0-1,-48 0 32,-32 48-16,48-1-31,-31-15 16,31 16 0,16-17-1,79-31 1,-32 0 0,1-31-1,-32-1-15,31-63 16,-63-17-1,0 81 1,-16-17 0,-31 48-1,-17 64 1,64-1 0,0 1-1,0-17 16,79-47-15,-47 0 0,16 0-1,-16-16-15,-32-63 32,0 111 30,0 15-46,0 1-1,47-16 1,33-32 0,-17 0-1,-15-64 16,-17 1-15,-31 31 0,0 0-1,0 112 32,0-17-31,80-15-1,-17-17 1,33-31 0,-1-15-1,-63-49 1,-1 16-16,-31-63 16,0 32-1,-16 79 1,16-48-1,-31 48 1,-1 32 0,0 79-1,32-16 1,32-15 0,-32-48-16,79-32 15,48 31 1,-79-31-16</inkml:trace>
  <inkml:trace contextRef="#ctx0" brushRef="#br0" timeOffset="-158893.39">19780 6445 0,'0'0'0,"0"175"78,-31-48-62,31-95 0,0-1-1</inkml:trace>
  <inkml:trace contextRef="#ctx0" brushRef="#br0" timeOffset="-158443.78">19780 6445 0,'0'0'16,"0"-111"-16,32 79 16,32 64 30,-1 32-30,-31-1 0,-32-31-1,0 15-15,-64 1 16,17-48 0,94 0 30,1 0-30,16 0 0,15 95-1,-95 1 17,-63-65-17,15-31 1,32 0 15,1 0-31,31-16 31,31 16-15</inkml:trace>
  <inkml:trace contextRef="#ctx0" brushRef="#br0" timeOffset="-157860.7">20288 6620 0,'0'0'0,"64"-64"15,-96 64 48,-15 48-47,47-16-1,31-32 32,1 0-31,16 0-1,-17 0 17,1 31-1,32-31-16,-33 0-15,-15 0 16,127 0 0,-79-15-1,-33-49 1,-31 1 0,0-1-16,0-206 31,0 191-16,-31 79 1,-1 16 15,0 206-15,32-79 0,16-48-1,32-47-15,-17-48 16,81 47-1,-81-47 1</inkml:trace>
  <inkml:trace contextRef="#ctx0" brushRef="#br0" timeOffset="-157143.9">21177 6556 0,'0'-31'0,"0"62"16,0-94-16,0 15 15,-15 48 16,-17 0-31,-48 64 32,80-1-17,0-31 1,0 0 0,32-32-16,48 0 31,-80-16-16,47-48 1,-47 33 0,-2365 110 46,4841-47-31,-2444-32-31,0 0 16,31 0 0,-15-32-1,-16-32 1,-32 49-16,47-33 16,-47 16-1,16 32 16,-16 80-15,48-49-16,-48 1 16,0 16-1,32-48 1,-32 31 0,0-62-1,15-33 16,33 1-15,-32 63 0,16 0-1,15 16 1,-31 47 0,16-15-1</inkml:trace>
  <inkml:trace contextRef="#ctx0" brushRef="#br0" timeOffset="-156777.14">22146 6461 0,'0'0'0,"-16"0"31,-16 16 0,32 63-15,0-31 0,95-16-1,1-32 1,-17-16 0,-47-32-1,0 48-15,-32-32 16,-16 1-1,-32 31 1,16 16 0,32 31-16,0 17 15,0-1 1,96-15 0,-65-48-1</inkml:trace>
  <inkml:trace contextRef="#ctx0" brushRef="#br0" timeOffset="-153353.97">11383 11922 0</inkml:trace>
  <inkml:trace contextRef="#ctx0" brushRef="#br0" timeOffset="-151727.23">20971 11176 0,'0'32'31,"0"47"0,0-15-15,0-33-16,0 1 15,16-32 1,63 0 0,80-32-1,-16-15-15,0-1 16,190-142 0,-174 142-1,-96 16 16</inkml:trace>
  <inkml:trace contextRef="#ctx0" brushRef="#br0" timeOffset="-149811.64">13351 12986 0,'32'16'78,"95"15"-62,143-31 0,95-31-1,-175 31 1,-15-48-16,508 48 31,-239 0-15,-79 0-1,-174 0 1,-160 0 0,-94 0 46,-64-32-31,95 48-31,0-16 0</inkml:trace>
  <inkml:trace contextRef="#ctx0" brushRef="#br0" timeOffset="-149055.83">15018 13446 0,'16'-16'390,"-80"-16"-358</inkml:trace>
  <inkml:trace contextRef="#ctx0" brushRef="#br0" timeOffset="-148043.99">9081 13986 0,'63'16'62,"80"-16"-46,48 0 0,-64 0-1,-80 0-15,-15 0 16,0 0-1,-48 0 48</inkml:trace>
  <inkml:trace contextRef="#ctx0" brushRef="#br0" timeOffset="-147173.64">9700 14224 0</inkml:trace>
  <inkml:trace contextRef="#ctx0" brushRef="#br0" timeOffset="-145051.7">6160 15891 0,'63'0'78,"175"79"-46,112-47-1,126-32-15,-206 0-1,15 0 1,1 0 15,-32 0-15,-63 48-1,-144-48-15,33 31 16,-33-31 0,-15 0-1,0 0 1</inkml:trace>
  <inkml:trace contextRef="#ctx0" brushRef="#br0" timeOffset="-144802.08">9001 16002 0,'-16'0'16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48:02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18812 12732 0,'0'0'16,"64"31"31,142 17-32,238-48 1,64 0 0,-31 0-1,-65-48 1,-269 48-16,32-31 16,-127 31-1,-17 0 1,1 0 93</inkml:trace>
  <inkml:trace contextRef="#ctx0" brushRef="#br0" timeOffset="5478.25">16828 15351 0,'0'0'0,"301"-95"15,128 0 1,127-80 15,-271 80-15,-158 63-1,-95 32 1,-80 0-16</inkml:trace>
  <inkml:trace contextRef="#ctx0" brushRef="#br0" timeOffset="5828.26">17113 15510 0,'0'0'0,"48"0"16,0 0-16,31-16 15,477-111 16,-175 48-15,16 15 0,-159 16-1,-127 48 1,-127 0 78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48:27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13621 5953 0,'0'-16'16,"32"-16"0,-32 1-1,0-1 1,0 0-1,-16 32 1,-32 0-16,-31 64 16,-1 94-1,49-78 1,31-17 0,31-63-16,-31 32 15,143-32 1,-111-16-1,16-63 1,-48 47 0,0 0-1,0-31 1,0 126 31,0 1-32,31-17 1,33-15 0,15-32-1,-31-16-15</inkml:trace>
  <inkml:trace contextRef="#ctx0" brushRef="#br0" timeOffset="601.69">14002 5905 0,'0'-31'32,"-64"78"-1,17 33-15,15-17-16,32-15 15,0 79 1,64-95-1,15 15 1,32-47 0,32-127-1,-111 0 1,-32-63 0,0 15-1,0 127 1,-16 17-1,-32 189 17,48-15-1,32 32-15,16-96-1,31-47 1,-16-32-1,-15-32 1,-48 1-16,0-33 16,0 32-1,0 1 1,0 94 15,0 16-15,32-31-1,79-16 1,-32-32 0</inkml:trace>
  <inkml:trace contextRef="#ctx0" brushRef="#br0" timeOffset="782.77">14018 5874 0,'63'-32'47,"160"-32"-16</inkml:trace>
  <inkml:trace contextRef="#ctx0" brushRef="#br0" timeOffset="949.35">14415 5699 0,'-16'0'47,"16"16"-31,16 32-1</inkml:trace>
  <inkml:trace contextRef="#ctx0" brushRef="#br0" timeOffset="1282.49">14573 5953 0,'0'16'31,"32"63"1,0-15-17,0-1 1,31-31-16,-15-32 16,-1 32-1,-15-32 1,-32-48-1,32 1-15,-32-17 16,0 32-16,0 16 16,0-15-1</inkml:trace>
  <inkml:trace contextRef="#ctx0" brushRef="#br0" timeOffset="1498.79">15018 5969 0,'0'48'31,"-32"-1"-15,32-15-16,0 0 15,0 31 1,-2349-15 0,4778-48-1,-2382 0-15</inkml:trace>
  <inkml:trace contextRef="#ctx0" brushRef="#br0" timeOffset="1673.68">15066 5763 0,'0'0'0</inkml:trace>
  <inkml:trace contextRef="#ctx0" brushRef="#br0" timeOffset="1899.39">15335 5699 0,'0'16'15,"0"63"1,0-31-1,0 79-15,0 16 32,-15-16-17,15-64 1,0-15 0,15-48-16</inkml:trace>
  <inkml:trace contextRef="#ctx0" brushRef="#br0" timeOffset="2264.89">15240 6080 0,'0'0'16,"32"-32"15,31 32 0,-15 0-31,-16 0 0,63 0 32,-47 0-32,-1-31 15,-15 31 1,-64 79 31,32-16-32,0 1 1,0-48 0,0 16-1,16-32 1,48 0 0</inkml:trace>
  <inkml:trace contextRef="#ctx0" brushRef="#br0" timeOffset="2432.57">15701 5715 0,'0'0'0,"0"63"47,0-15-31,0 0-16</inkml:trace>
  <inkml:trace contextRef="#ctx0" brushRef="#br0" timeOffset="2949.4">15891 6159 0,'32'0'15,"0"-31"1,-32-1-1,31 0-15,-47 0 47,-79 32-31,63 32-16,32 79 31,0-95-15,64 32-1,15-48 1,-31 0-16,63 0 16,-47-80-1,-64 33-15,31-1 16,-31-47 0,0 79-1,-63 16 1,31 32-1,32 47 17,143 48-32,127-16 31,-238-47-15,-48-64-1,-48 32-15,1-32 16,-160 0-1,192 0 1</inkml:trace>
  <inkml:trace contextRef="#ctx0" brushRef="#br0" timeOffset="4115.46">14224 5445 0,'80'0'31,"94"0"-15,-47 0-1,-32 0-15,32 0 0,270 48 47,-349-48-16</inkml:trace>
  <inkml:trace contextRef="#ctx0" brushRef="#br0" timeOffset="4982.06">17669 5651 0,'16'0'16,"79"0"0,-31 0-16,63 0 15,0 0 1,16 0-1,-1 0 1,-78 0-16,15 0 16</inkml:trace>
  <inkml:trace contextRef="#ctx0" brushRef="#br0" timeOffset="5209.01">17701 5731 0,'0'32'62</inkml:trace>
  <inkml:trace contextRef="#ctx0" brushRef="#br0" timeOffset="5926.67">16669 6191 0</inkml:trace>
  <inkml:trace contextRef="#ctx0" brushRef="#br0" timeOffset="6998.81">14669 6461 0,'0'48'79,"-96"158"-48,17-31 0,-2318-144 0,4762-31-15</inkml:trace>
  <inkml:trace contextRef="#ctx0" brushRef="#br0" timeOffset="7414.83">14161 6842 0,'0'0'0,"0"32"78,16-32-63,15 32 1,17-1 0,31-31-1,32-16 1,-15-79 0,-49 63-1,-126 96 32,31-1-16,-47 80-15,63-63 0,-31-1-1,63-47-15</inkml:trace>
  <inkml:trace contextRef="#ctx0" brushRef="#br0" timeOffset="8165.36">14716 6509 0,'-31'31'47,"31"1"-32,-32 0-15,0 63 16,-16 0-1,-15 48 1,15-63 15,17-49-15,-1-31 15,0-15-31</inkml:trace>
  <inkml:trace contextRef="#ctx0" brushRef="#br0" timeOffset="8432.71">14256 6779 0,'0'0'0,"0"15"47,16 97-32,47-65 1,-63-15-16,96 63 31,-65-63-15,1-32 0,16 0-1,47-16 1,-63 16-16</inkml:trace>
  <inkml:trace contextRef="#ctx0" brushRef="#br0" timeOffset="8615.42">14827 6858 0,'0'-32'15,"0"64"-15,-95 31 63,-159 144-48,127-80 1,-47-16 15,126-111-31</inkml:trace>
  <inkml:trace contextRef="#ctx0" brushRef="#br0" timeOffset="10935.76">13954 7715 0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48:50.2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6604 7922 0,'-32'0'31,"112"0"63,237 0-79,-158 0-15,0 0 16,95 0-1,-207 0 1,-47-48 47,-79-16-48,-32 17 1,79 15-1,-15 32-15,47-32 16,-32 32 0,32 16 31,111 111-32,-63-63 1,-1-1-1,-47-15 1,0-1 15,-47-15-15,-17 0 0,32-32-1,1 0 1</inkml:trace>
  <inkml:trace contextRef="#ctx0" brushRef="#br0" timeOffset="1249.97">8223 7620 0,'32'0'47,"270"-48"-31,47 48 0,-111-31-1,-158 31 1,-128 0-1</inkml:trace>
  <inkml:trace contextRef="#ctx0" brushRef="#br0" timeOffset="1583.94">8827 7493 0,'0'0'0,"0"16"16,16 31-1,15 33 1,-31 15-1,32 32 1,-32-79 0,0-1-1,0 49 1,0-65 0,-16-31 15,-79 0-16,31-16 1,1-31 0,47 47-1</inkml:trace>
  <inkml:trace contextRef="#ctx0" brushRef="#br0" timeOffset="3249.49">9097 7874 0,'0'0'0,"0"-79"31,-16 79 0,-16 15-15,32 49-1,-32-1 1,32-31-16,0 0 16,0 0-1,95-32 1,-63 0-16,16 0 15,15-32 1,-15-47 0,-48-112 15,-79 96-15,15 63-1,16 32 1,17 16-1,-17 16-15,48-1 16,0 65 0,64-17-1,-1-31 1,32-48 0,-31 0-1,-17-48 1,-15-15-1,-32 15 1,0 16 0,0 127 46,0-15-46,48-33-1,-1-31 1,-15 32-16,63-48 31,-47 0-15,-48-48-16,48-15 16,-48-32-1,0 31 1,0 80 46,0 16-46,31 31 0,1 1-1,0-64-15,-32 31 0,48-31 16,-17 0-1,17 0 1,-16-95 0,-32-16-1,0 48 1,0 47 0,-16 16-1,-16 16 1,32 63-1,0-47 1,16 15 0,47-15 15,33-32-15,-65-16-1,-31 0 1,0-15-1,0 62 32,0 33-31,0-1 0,48-15-1,16-16 1,-1-32-1,-31 0 1,31-64 0,-63 17-1,0-65 1,0 97 0,0-49-1,0 112 16,0 31-15,0 0 0,32 1-1,-32-33 1,0-110 46,64-80-30,15 143-1,-47 32-15,-1-32-16,-31 47 15,32 49 1,0-65-1,0-31-15</inkml:trace>
  <inkml:trace contextRef="#ctx0" brushRef="#br0" timeOffset="3832.18">10906 7937 0,'0'0'0,"0"-63"15,0 31-15,-47 0 31,-17 32-15,32 48 15,-15 79-15,47-63 0,16-17-1,63-47 1,16 0-1,-47 0 1,0-143 0,-17 127-1,-31-15 1,0 62 15,0 33-15,48-16-1,47-17 1,-63-31 0,16 0-16,47-16 31,-48-126-15,-47-33-1,0-16 1,-63 64-1,63 96 1,-64 62 0,33 96-1,31 112 1,0-97 0,0-15-1</inkml:trace>
  <inkml:trace contextRef="#ctx0" brushRef="#br0" timeOffset="5066.72">8430 9192 0,'16'0'79,"95"0"-64,-16 0-15,64 31 16,31-31-1,-63 0 1,-95-16 0,-32-15-1,-48-17 1,-63 16 0,32-31-1,47 31 1,64 48 46,143 95-46,-80-47 0,-63 15-1,-32-31 1,-16-1-1,-64 1 1,17-32 0,15-16-1</inkml:trace>
  <inkml:trace contextRef="#ctx0" brushRef="#br0" timeOffset="6231.95">9890 8874 0,'32'-32'16,"-32"112"31,0-17-32,-79 223 1,-17-143-1,65-111 1,31-1 0,-32-31 15,0 0-15,32-31-16,0-1 15,0-63 1,16 63-1,16 32 17,79 127-17,-32-48 1,-15-47 0,-1 0-1,17-32 1,-49 0-16,33 0 15,-32-48 1,-1-63 0,-31 0 15,0 79-15,-63 32-1,31 0 1,32 48-1,-32-17-15,32 1 16,16 79 0,111-63-1,-31-16 1,-1-32 0,79 0-1,-78-48 1,-65-47-1,-31 47 1,0 16 15,-15-15-31,-49 47 16,16 0 0,1 47-1,15 49 1,32-33-1,16-31 1,32 0 0,15-32-1,-31 0-15,-32-48 16,95-142 0,-95-17-1,48 48 1,-48 128-1,-16 31 17,16 158-1,0-15-15,0-32-1,16-47-15,31-1 16,33-31-1</inkml:trace>
  <inkml:trace contextRef="#ctx0" brushRef="#br0" timeOffset="7399.53">11335 9350 0,'0'0'0,"16"-63"31,-16-1-15,0 17-16,-16 15 15,-32 32 1,1 0 0,15 16 15,32 31-31,0 1 16,0-16-1,32-32 1,15 0-1,-15 0-15,0-16 32,0 16-1,-32 16 0,0 79-15,47 32-1,-47 0 1,0-48 0,0-15-16,0 63 31,-16-127-15,-47 16-1,47-16-15,-63-16 16,15-111-1,32 32 1,32 31 0,16 1-1,16 63-15,16-32 16,110-16 0,-15 1-1,0-17 1,-64-47-1,-47 16 1,-32 47 0,-47 16 15,15 32-15,-48 64-1,80 31 1,0-15-1,32-17 1,63-31 0,1-32-1,-33-32 1,-31-31-16,0 15 16,-1-63-1,-31 47 1,0 48-16,-15-15 15,-1 31 1,-32 16 0,48 79 15,48-32-15,63 1-1,-79-1 1,-32-15-1,-16 0 1,-48-1 0,17 1-1,110-16 17,128-32-17,-17 0 1,-47-32-1,-95 32 1,-80-32 0</inkml:trace>
  <inkml:trace contextRef="#ctx0" brushRef="#br0" timeOffset="8482.65">3715 10811 0,'-32'16'32,"-63"47"-17,47-31-15,-15 0 16,-191 111 0,0 31-1,-32-47 1,-16 48-1,175-96 1,96-47 0,-1-32 15,32-16 16,0-16-32</inkml:trace>
  <inkml:trace contextRef="#ctx0" brushRef="#br0" timeOffset="8881.96">2127 11573 0,'-47'0'63,"15"47"-32,0-47-15,1 32-1,-33 32 1,32-33-1,32 1 1,143-32 0,-32 0-1,16 32 1,-47-32 0,15 32-1,-95-1 32</inkml:trace>
  <inkml:trace contextRef="#ctx0" brushRef="#br0" timeOffset="9266.92">984 12287 0,'0'0'0,"64"-16"47,79-47-31,-64 63-16,1-80 15,78 49 1,-253 62 31</inkml:trace>
  <inkml:trace contextRef="#ctx0" brushRef="#br0" timeOffset="9448.61">1223 12398 0,'0'80'31,"0"-49"-31,15 81 16,-15-49 15,0-31-31,32 15 16</inkml:trace>
  <inkml:trace contextRef="#ctx0" brushRef="#br0" timeOffset="10649.11">1461 12875 0,'0'0'0,"0"-48"16,31 16-16,1-63 16,-32-16-1,0-16 1,0 95-1,-16 32 1,-47 16 0,63 47 15,0 1-15,16-16-1,63-48 1,16-16-1,-63 16 1,-48 63 47,16 48-48,32-79 1,16 16-1,15-48-15,-15 31 16,15-62 0,1-49 15,-1 17-15,-63 15-16,0-31 15,0 15-15,0 33 16,-16-1-1,-15 48 17,-1 79-17,32-32 1,0-15 0,16-48 15,31-16-16,-15 16 1,-32-32 0,32 80 31,0-16-16,-1-32-16,1 0 1,47-16 0,-47-63-1,-32 15 1,0 32 0,32 48 46,79 48-31,64-160 1,-128 49-17,-15-48 1,16-96-1,-64 80 1,-32 79 0,32 32 15,16 143-15,0-48-1,32-31 1,0-64-1,-32 63-15,32-31 16</inkml:trace>
  <inkml:trace contextRef="#ctx0" brushRef="#br0" timeOffset="10864.64">2191 12001 0,'0'0'0,"-32"0"16,32 48 31,16 16-32,-16-17-15,0 33 16,-16-17-16</inkml:trace>
  <inkml:trace contextRef="#ctx0" brushRef="#br0" timeOffset="11698.73">1635 13716 0,'32'-16'31,"-16"16"-15,-16 16-16,48 47 31,-48-15-15,0-16 0,-32-64 30,32-63-30,0-48 0,-32 16-1,32 63-15,0 49 16,0-17 0,32 32-1,31 0 1,-31 0-16,-32 16 15,32 79 1,-48-79 0,-32 47 15,48-31-15,16-48 15,32 16-16,-1 0 1,1 0 0,0 32-16,-1 16 15,-47 15 1,0 16 0,-31-31-1,-33-16 1,1-32-1,15 0 1,16 0 31,48 0-31,48 0-1</inkml:trace>
  <inkml:trace contextRef="#ctx0" brushRef="#br0" timeOffset="12982.36">2159 13605 0,'0'0'0,"95"-95"16,-63 63-1,-95 32 17,-33 79-17,65 1 1,31-33-1,0-15 1,47-32 0,17 0 15,-17-48-15,1 17-1,-32 31 1,32 15 15,-33-15-15,33 48-1,0-64 1,-17-16 0,-31-47-1,48-32 1,-48-32-1,0 95-15,-16 17 32,-16 31-1,32 31-15,0 128-1,0-64 1,32-31-1,32-32 1,-1 15 0,-31-47-16,31-31 15,-31-49 1,16 17 0,-48-1-1,0 32 1,-16 32-1,-32 80 17,48-33-1,0-15-15,16-32 15,48-16-16,-33-15 1,-31 46 31,0 17-31,0 0-1,32-32 1,0 0-1,0 0 1,15 0 0,33-95-1,-17 79 17,-47-16-17,16 32 1,15 48-1,-47-17 1,0 49 0,0-48-1,32-112 48,0 1-32,-32 47-31,-2381 32 31,4778 48 1,-2350-1-32,1-15 31,-16-32-31</inkml:trace>
  <inkml:trace contextRef="#ctx0" brushRef="#br0" timeOffset="13382.35">3636 13367 0,'-16'0'31,"-16"0"-31,-32 95 16,64-16-1,0-15 1,48-17 0,16-47-1,63 0 17,-48-31-17,-47-33 1,-32 48-16,-32 16 31,0 0-15,0 32-1,32 16 1,0 15 0,16-31-1,32-32 1,15 0-1,-31-48 1</inkml:trace>
  <inkml:trace contextRef="#ctx0" brushRef="#br0" timeOffset="13549.21">4239 13573 0,'0'-32'63</inkml:trace>
  <inkml:trace contextRef="#ctx0" brushRef="#br0" timeOffset="21486.97">22717 11017 0,'0'0'31,"16"-32"16,413-15-32,-175 47 1,-16-48 0,-190 48-1,-17 0-15,1 0 32,-222 0 14</inkml:trace>
  <inkml:trace contextRef="#ctx0" brushRef="#br0" timeOffset="21748.61">22574 11287 0,'64'0'47,"460"-79"-16,-365 79-31,-1-48 16,144 48-1,-223-32-15,-47 32 16,-111 0 15</inkml:trace>
  <inkml:trace contextRef="#ctx0" brushRef="#br0" timeOffset="42680.48">14621 7048 0,'-32'112'31,"-15"46"-15,15-94 0,32-17-1,0-15 32,0-95-16,0-33-15,0 33-16,16-48 16,-16 16-16,63-32 15,1 95 1,-48 32 0,63 79-1,-79-15-15,64 15 16,-33 112-1,1-112 1,-32-47 0,32 31-1</inkml:trace>
  <inkml:trace contextRef="#ctx0" brushRef="#br0" timeOffset="42883.05">14446 7318 0,'0'-31'16,"32"31"0,0 0-16,63 0 15,48-48 1,-32 48-1,-47 0 1</inkml:trace>
  <inkml:trace contextRef="#ctx0" brushRef="#br0" timeOffset="43896.92">15399 7080 0,'0'0'0,"-32"0"16,-15 0 0,-17 0-1,1 32 1,31 95 0,32-48-1,0-47 1,47 16-1,65-48 1,-49 0 0,-15-32-1,-17-47 17,17-17-17,-32 33 1,16 63-1,-1 0 1,-110 32 62,16 126-47,47-62 1,111-49-17,175-47 1,-143-63 15,-48-33-15,-47 17-1,-2429 47 1,4778 32 0,-2413 16-1,1 48 1,31-17-16,0-15 16,0 0-16,47 0 15,17 15 1,15-15-1,16-32 1,-63-32 0,0 0-16,-32-63 15,-16 32 1,-63 15 0,15 16 15,32 32-31,-15 0 15,15 16 1,32 64 0,0-17-1,48-31 1,-1 0 0,1-32-1,-16-32 1,-32-32-1,0-15 1</inkml:trace>
  <inkml:trace contextRef="#ctx0" brushRef="#br0" timeOffset="44747.73">16637 7239 0,'0'0'0,"0"-16"16,0 64 30,0-17-30,32 17 0,16 31-1,-48-47 1,79-32-16,-16 0 31,-31 0-15,-32-63-1,32 31-15,-32 0 16,0-31 0,0 79 31,0 31-32,0-15 1,32 16-1,15-17 1,17-31 0,-17 0-1,-47-31-15,32-33 32,-32 32-17,0 1 1,0 78 15,0 17-15,0-33-1,0 17 1,0-16-16,0-96 62,32-15-46,0 79 0,15 0-1,1 0 1,15 32 15,-31 31-31,-32-31 16,32-16-1</inkml:trace>
  <inkml:trace contextRef="#ctx0" brushRef="#br0" timeOffset="44980.58">17542 7080 0,'0'0'0,"79"111"62,-47 96-46,0-112 15,-32-79-15</inkml:trace>
  <inkml:trace contextRef="#ctx0" brushRef="#br0" timeOffset="45864.36">17526 7334 0,'0'0'15,"16"0"16,63 0-15,-31 0 0,16 0-16,31-32 15,-63 32 1,-32 16 46,0 16-46,0 16 0,15-17-1,-15 1-15,32-32 16,0 0 0,31 0-1,-31-16 1,0-95-1,16 48 1,-1 79 31,-31 15-16,-16 17-31,32-16 16,0-32-1,-1 0 17,1-80-17,0 96 32,127 16-16,-112-32-15,80 0 0,-63-48-1,-33 1 1,-31-1-16,-15 16 31,-17 32-15,0 0-1,0 16-15,32 16 16,0 63 0,0-31-1,0-17 1,0-15 0,0 47-1,-47-79 1,-17 0-1</inkml:trace>
  <inkml:trace contextRef="#ctx0" brushRef="#br0" timeOffset="46746.92">19669 7096 0,'0'0'0,"-95"-32"16,16 32 0,47 0-1,32 16 1,0 16 15,48 16-15,-17 15-1,33-63 1,-191 32 15,63 0-15,33-1 0,31 1-1,0 16 1,127 15-1,15-63 1,-15 0 0,-63 0-1,-16 0-15,94-79 16,-142 31 15,0-15-15,-79 31-1,31 32 1,17 0-16,-17 48 16,48-1-1,0-15 1,16 0 0,47-32-1,-31 0 1,-32 111 46,32 32-30,-32-80-1,-16 1-16</inkml:trace>
  <inkml:trace contextRef="#ctx0" brushRef="#br0" timeOffset="47164.06">20368 6953 0,'0'80'32,"0"15"-17,0-63 1,0-1 0,32 1-16,31-32 31,-47-32-16,47-31 1,-31 31 0,0 32 31,0 0-32,-32 16-15,47-16 16,-15 63-1,-32-31 1</inkml:trace>
  <inkml:trace contextRef="#ctx0" brushRef="#br0" timeOffset="48080.14">14446 7683 0,'-31'0'62,"-128"48"-46,-111 31-1,-381 48 1,270-47 15,16-33-15,143-47-1,63 48 1,127-16 0,64-32 31</inkml:trace>
  <inkml:trace contextRef="#ctx0" brushRef="#br0" timeOffset="48414.49">12367 7890 0,'-48'16'62,"16"31"-46,-15-15-1,15 16 1,32 31 0,16-15-1,111 31 1,32-48-1,-1-15 1,-142-32 0,-16 32-1</inkml:trace>
  <inkml:trace contextRef="#ctx0" brushRef="#br0" timeOffset="49314.71">13129 9049 0,'-111'47'47,"-64"64"-32,32-15 1,-16-49 15,96 1-31,-2366-48 16,4826 32-1,-2397-1 32,48-46-15,-16-17-17,-1 0 1,-31 0-1,-16 48 48,-15 16-32,-1-32-15,64 32 31,-1-1-32,1 1 1,32-32-16</inkml:trace>
  <inkml:trace contextRef="#ctx0" brushRef="#br0" timeOffset="50029.69">13462 8620 0,'-32'16'47,"-47"79"-32,31-63-15,-79 47 16,0-15 0,16 15-1,16 1 1,63-49 0,1-31-1,-1 64 1,32-80 31,0-16-47</inkml:trace>
  <inkml:trace contextRef="#ctx0" brushRef="#br0" timeOffset="50280.56">12764 8953 0,'0'0'0,"0"-31"15,31 78 79,1 128-63,-48-96-15,16-15-1,-2381-32 1,4985-32 0,-2541-16-16</inkml:trace>
  <inkml:trace contextRef="#ctx0" brushRef="#br0" timeOffset="50447.69">13351 9271 0,'0'0'16,"-32"0"-1,32 16 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52:29.2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16939 10208 0,'0'0'0,"143"0"141,762-32-110,158 32 0,-761-64-15,-223 64 15,-95 0 141</inkml:trace>
  <inkml:trace contextRef="#ctx0" brushRef="#br0" timeOffset="1374.47">19511 10160 0,'31'0'62,"33"0"-46,-32 0-16,31 0 15,16-48 1,33-31 0,-17 0-1,-63 47 1,-32 0 0,79-31-1,-79-64 1,0 79-1,0 16-15,0 0 16,0 1-16,-16-1 16,-16-32-1,-95 17 1,-31-17 0,78 33-16,17 31 15,-223-96 1,32 96-1,-16-31 1,127-17-16,-16 48 16,-396-95-1,237 95 1,1-48 15,15 48-15,-79 0-1,111 16 1,32 32 0,64-1-1,-96 17 1,206-64-16,-95 95 16,1-16-1,-1 1 1,48-1-1,79-47-15,0 79 32,32-32-17,0 1 1,64 31 15,15-48-31,175 96 16,95-64-1,128-15 1,62-33 0,255 1-1,-381-48 1,-64 0 0,32 0-1,-174-48-15,-17 48 16,96-111-1,-254 111 1,-32-32 47,-16 32-17</inkml:trace>
  <inkml:trace contextRef="#ctx0" brushRef="#br0" timeOffset="1558.24">19542 10144 0,'-95'-32'31,"190"64"-31,-222-64 0,96 48 16</inkml:trace>
  <inkml:trace contextRef="#ctx0" brushRef="#br0" timeOffset="2391.61">18685 10541 0,'-48'48'484,"17"-48"-468</inkml:trace>
  <inkml:trace contextRef="#ctx0" brushRef="#br0" timeOffset="3413.47">18669 9557 0,'0'16'47,"0"95"-31,0-48-1,16-31 1,16-32-1,111-95 1,47-80 0,48-15-1,48-49 1,-64 81 15,-158 126-31,-32 32 16,-32 63 31,0-31-32</inkml:trace>
  <inkml:trace contextRef="#ctx0" brushRef="#br0" timeOffset="3924.57">19018 9652 0,'0'0'0,"0"63"31,0-47-15,48-16-16,63 0 15,127-111 1,48-79 15,0-33-15,-112 112-16,-15-16 15,143-127 1,-270 254 0,-128 143-1</inkml:trace>
  <inkml:trace contextRef="#ctx0" brushRef="#br0" timeOffset="5640.94">20034 9938 0,'-63'0'1391,"15"0"-1391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53:49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4271 11398 0,'222'0'15,"-95"0"1,0 0-16,317 0 16,160 0-1,62-47 1,-62 47 0,-382 0-16,-63 0 15,-64 0 1,-127 0 62</inkml:trace>
  <inkml:trace contextRef="#ctx0" brushRef="#br0" timeOffset="201.53">7525 11430 0,'0'0'0,"48"32"62,-17-32-62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09:53:56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1953 8842 0,'0'80'110,"47"15"-79,-47-63-16,80-32 1,47 0 0,63-96-1,191-173 1,-143 78-16,-31 32 16,-33 32-1,-15 32-15,-159 111 125,32-16-109</inkml:trace>
  <inkml:trace contextRef="#ctx0" brushRef="#br0" timeOffset="280">3778 8334 0,'0'-16'94</inkml:trace>
  <inkml:trace contextRef="#ctx0" brushRef="#br0" timeOffset="23403.74">1969 11589 0,'16'63'93,"47"64"-61,-31-79-17,95-48 17,47-48-17,319-206 1,-176 0-1,-95 143 1,-190 79 0</inkml:trace>
  <inkml:trace contextRef="#ctx0" brushRef="#br0" timeOffset="23681.53">3540 11271 0,'0'-16'94,"32"16"-94</inkml:trace>
  <inkml:trace contextRef="#ctx0" brushRef="#br0" timeOffset="31856.88">2477 13954 0,'47'0'78,"1"16"-62,-16 47-1,-1-31 1,-31-16 0,32-16-1,48 0 1,47-95-1,-16 0 1,127-112-16,48-31 31,-80 111-15,-174 95 0,15 32-16</inkml:trace>
  <inkml:trace contextRef="#ctx0" brushRef="#br0" timeOffset="33580.62">12843 14367 0,'0'63'78,"32"-15"-46,190-112-1,-47-47-15,110-111-1,1 0 1,-111 190-1,-48-16 1,-95 48 0,-17 0-1,-30 80 1,-17-80-16</inkml:trace>
  <inkml:trace contextRef="#ctx0" brushRef="#br0" timeOffset="34947.76">13796 14240 0,'0'-16'1078,"0"-16"-1078</inkml:trace>
  <inkml:trace contextRef="#ctx0" brushRef="#br0" timeOffset="37701.36">13097 12097 0</inkml:trace>
  <inkml:trace contextRef="#ctx0" brushRef="#br0" timeOffset="42497.65">12859 12525 0,'95'-31'31,"-190"62"-31,238-94 16</inkml:trace>
  <inkml:trace contextRef="#ctx0" brushRef="#br0" timeOffset="44996.9">6922 11652 0,'0'0'16,"47"0"93,17-32-93,-17 32-16,80-47 15,-79 47 17,16 0-17,-33 0 1</inkml:trace>
  <inkml:trace contextRef="#ctx0" brushRef="#br0" timeOffset="45197.79">7080 11763 0,'175'0'32,"143"-31"-1,-128 31-31</inkml:trace>
  <inkml:trace contextRef="#ctx0" brushRef="#br0" timeOffset="58732.57">13907 13541 0,'16'0'390,"15"0"-374</inkml:trace>
  <inkml:trace contextRef="#ctx0" brushRef="#br0" timeOffset="59390.68">14129 13811 0,'32'0'203</inkml:trace>
  <inkml:trace contextRef="#ctx0" brushRef="#br0" timeOffset="65704.62">5191 15684 0,'0'0'0,"32"0"62</inkml:trace>
  <inkml:trace contextRef="#ctx0" brushRef="#br0" timeOffset="-163877.04">22463 5747 0,'0'0'0,"96"-16"62,300 16-46,-142-64-1,413 17 1,-413 47 0,-190 0-1,-175 0 17,-80 0-1,48 31-31</inkml:trace>
  <inkml:trace contextRef="#ctx0" brushRef="#br0" timeOffset="-158377.53">17447 1270 0,'0'0'0,"0"-32"16,0 0-1,0 1 17,-16 31-1,-32-32-16,17 32-15,-33 0 16,-31 0 0,47 0-16,-15 0 15,47 0 1,-79 16-16,-1 16 16,-15 31 15,64-31-31,-17-32 15,1 111 1,15-79-16,-16-1 16,-31 81-1,63-49 1,-31 16 0,-48 80-1,63-48 1,16 16-1,-15-31 1,47-49-16,-32 17 16,32-17-16,0 1 15,-32 111 1,32-80 0,0 16 15,0-31-31,0 31 15,16 16 1,16-16 0,31 32-1,33-31 1,-33-33 0,-31-31-16,79 47 15,0-15 1,-47-1-1,94-15 1,-62 15 0,31-31-1,0 0 1,0 0 0,-64-32-1,17 0 1,158 47-1,0 1 1,-111-48 0,63 0-1,-94-32 1,-1 0 0,-16 1-1,32-1 1,0-79-1,-79 79-15,32-47 16,-1 15 0,17 1-1,15-48 1,-16 15 0,-15-15 15,-33 0-16,-31 16 1,48 47-16,-48-31 16,0-159-1,-32 95 1,1 0 0,31 64-16,-48-33 15,16-15 1,-15-15-1,-1 30 1,0 17 0,1 16-1,-17 47-15,1-31 16,-1 15 15,1-16-15,-64-15-1,63 47 1,-47 1 0,48 31-16,-17 0 15,-47 0 1,32 0-16,-16-48 16,-159 48-1,95-48 1,32 48-1,64 0-15,-64 0 16,16 32 0,95 0-1,-15-32 1,-1 32 15,-47 15-15</inkml:trace>
  <inkml:trace contextRef="#ctx0" brushRef="#br0" timeOffset="-152444.52">15145 2778 0,'111'-16'109,"413"-111"-62,127-63-16,-492 190-31,237-111 16,-221 63 0,-64 16-1,-63 32 1,-48-32 46,-48 1-30,16 31-17,-15 0 1,15-32 0,48 32 109,32 0-125,110 0 31,-78 32-16,-33-16 1,-47 47 0,48-31-1,-48 31 1,-48-15-16,17-16 16,-65 31-1,65-15 1,-1-16-1,0-1 17</inkml:trace>
  <inkml:trace contextRef="#ctx0" brushRef="#br0" timeOffset="-152255.78">17733 2651 0,'-16'0'15,"-32"0"48</inkml:trace>
  <inkml:trace contextRef="#ctx0" brushRef="#br0" timeOffset="-147269.58">16764 3746 0,'0'0'0</inkml:trace>
  <inkml:trace contextRef="#ctx0" brushRef="#br0" timeOffset="-139245.4">15081 1841 0,'0'-47'32,"0"253"46,-31 64-63,31-143-15,-48 48 16,16-80 0,1-63-1,31-48 48,0-64-32,0 49 0,15 31 0,17 0-15,95 16 0,-32 31-1,-31 17 1,-32-33 0,15-31-1,-15 0-15,32-95 31,-64-16-15,0-16-16,0 0 16,-112-190-1,33 126 1,16 96 0,63 63-1,-80 32-15,48-48 31,-31 48-15,31 0 0,0 32-1,32 32 1,0 79 0,0-48-1,16 16 1,80-32-1,-33-15 1,-31-64-16,0 47 16,63-47-1,0-63 1,-16-1 0,-31-78-1,-16 46 16,-32 17-15,0 15 0,-32 64-16,-31 0 15,31 0 1,0 48 0,32 31-1,0 1 1,16-17-1,79-31 1,-31 0 0,-33 15-1,1-15 1,-32 0-16,0 63 31,0-63 0,0 0-15,32-32 15,31 0-15,49-96 0,78-78-1,-142 126 1,-17 16-16</inkml:trace>
  <inkml:trace contextRef="#ctx0" brushRef="#br0" timeOffset="-139107.71">16336 1778 0,'-16'-32'16,"-48"80"15</inkml:trace>
  <inkml:trace contextRef="#ctx0" brushRef="#br0" timeOffset="-134945.42">18669 2794 0,'-32'0'31,"112"32"47,301-32-62,-175 0 0,80 0-1,-80 47 1,1-47 0,-49 0-1,65 0 16,-192 0-31,17-16 32,-48-15-17,0-1 1,0 0 0,-16 0-1,-63 1 1,47-17-1,-31 16 1,31 32 0,0 0 15,80 16 0,79 48 0,-48 15-15,-31-15 0,-17-33-16,-31 1 15,0 16 1,0-1 0,-79 17-1,16-17 1,-1 49-1,16-96 1,-15 31 0,47 1-1</inkml:trace>
  <inkml:trace contextRef="#ctx0" brushRef="#br0" timeOffset="-134761.71">20447 3254 0,'-63'0'32,"31"0"-17,32-31 1</inkml:trace>
  <inkml:trace contextRef="#ctx0" brushRef="#br0" timeOffset="-133661.95">19828 2175 0,'0'-32'32,"0"0"-32,-16 32 15,16-31 1,-32 31 0,1 0-1,-1 15 1,-16 17-1,-15 32 1,63-33-16,-32 49 16,32-33-16,0 33 15,0 63 1,16-48 0,32-63 15,15 15-16,32-47 1,-31-16 0,-1-47-1,1-1 1,-64 1 0,0 15-16,0-15 15,0 31 1,-16 32-1,-48 0 17,64 16-17,0 16 1,0-1 0,16-31-1,48 32 16,-48 0-15,15-32 0,-31 32-1,0-1 1,0 1 0,0 0-1,0 16-15,80-48 47,-17-16-31,96-111-1,-64 31 1,-63 96 0,-32-47-16</inkml:trace>
  <inkml:trace contextRef="#ctx0" brushRef="#br0" timeOffset="-127229.2">15415 1302 0,'47'31'63,"-31"-31"-32,16 0-15,32-47-16,142-191 15,-16 15 1,-63-31-1,-79 143-15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4-25T10:00:01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13907 4762 0,'0'0'16,"127"0"62,-32-15-62,80 15-16,-17-48 15,398 0 1,-239 1-1,-78-1 1,-160 48-16,-47-32 16,-96 1 31,-31-1-32,63 32-15,0 0 16,1-32-1,-1 32 1,80 0 62,47 16-62,0 16-1,-63-1 1,-32 96 0,-48-63-1,-15-32 1,-1 31 0,17-31-16,31-32 15,-16 0 1</inkml:trace>
  <inkml:trace contextRef="#ctx0" brushRef="#br0" timeOffset="1067">16113 4239 0,'0'0'0,"0"31"78,16 112-47,16-63 1,0-80-17</inkml:trace>
  <inkml:trace contextRef="#ctx0" brushRef="#br0" timeOffset="1534.28">16018 4048 0,'0'-48'32,"0"96"-32,79-80 47,17 143-32,-96-47-15,47-64 16,-15 32-1,32-112 48,-33 1-47,1 15-16,-32 49 15,32-17 1,0 127 62,-1 80-47,-31-144-31,32 65 31,-32-65-15</inkml:trace>
  <inkml:trace contextRef="#ctx0" brushRef="#br0" timeOffset="2784.03">16764 4127 0,'0'0'31,"-16"0"-31,-15 96 47,46-1-31,33-63-1,0 15 1,15-47-1,-15-31 1,-48-1 0,0-79-1,0 0 1,-16 63 0,-32 16-1,1 32-15,-64 111 31,111-47-15,0-17 0,95-15-1,-32-32 1,1-32 0,-1-31-1,1 31 1,-64-15-1,47 47-15,-15 0 16,16 0 15,-1 79 1,-47 32-17,0-32 1,0-47-1,0 0-15,32-64 47,-32-63-31,48 16 0,-48 47-1,32 0-15,-1 32 31,-31 111 1,32-47-1,0 15-15,47-47-1,-15-32 1,-1-16-1,-63-16-15,64-63 16,-64 16 0,0 31-1,-48 48 1,32 0 0,-16 16-1,32 63 1,0 1-1,0-49-15,0 17 16,32-48 0,32 63-16,-1-63 31,32 0-15,1-47-1,-65-1-15,1-126 16,16-1-1,-48 96 1,-16 47 0,-16 95 15,32 64-15,32 16-1,31 0 1,-31-95-16,32-1 15</inkml:trace>
  <inkml:trace contextRef="#ctx0" brushRef="#br0" timeOffset="2999.99">18018 4270 0,'0'0'0,"48"0"31,79 0-15,32 0 0,15 0-1,-126 0-15,-16-31 16</inkml:trace>
  <inkml:trace contextRef="#ctx0" brushRef="#br0" timeOffset="4016.57">18606 4239 0,'0'-32'0,"-16"32"32,-64 0-1,49 16-15,31 111-1,0-64 1,16-15-1,47-48 1,-15 0 0,-17-16-1,1-48 1,-32 33-16,0-1 16,0 48 46,0 16-46,80-1 15,-17-31-15,-31-31-1,0-65 1,-32 65-1,0-1 1,-16 32 0,16 47 15,0 1-15,31 16-1,1-33 1,-32 1-1,0 0-15,16-32 16,16 32 0,31-32 15,-31 0-31,-16 0 16,47-64-1,-31 32 1,-32-31-1,-16 63 17,-31 32-17,47 15 1,47 1 0,-15-48-16,0 32 15,63-32 1,-47-16-1,-48-64 1,31 17 0,-78 110 46,47 33-46,0 15-16,0 0 15,32 207 1,-32-270 0,0-1-1,-32-31-15,0 0 16,-127-79 0,64 31-1,95 17 1,0-17-1</inkml:trace>
  <inkml:trace contextRef="#ctx0" brushRef="#br0" timeOffset="4299.47">19987 4048 0,'0'0'32,"0"48"-17,0 31 1,0 32-16,0 159 16,0-79-1,-16-64 1,-16-64-1,32-31 1,16-32 0</inkml:trace>
  <inkml:trace contextRef="#ctx0" brushRef="#br0" timeOffset="4516.95">20590 4239 0,'0'0'0,"0"79"31,0 32-15,0 0 0,-16-16-1,16-63-15,0 16 16</inkml:trace>
  <inkml:trace contextRef="#ctx0" brushRef="#br0" timeOffset="4732.74">20622 4334 0,'0'0'15,"32"0"1,95 95 15,-64-31-15,1-1-1,-33-31 1,33-32-16</inkml:trace>
  <inkml:trace contextRef="#ctx0" brushRef="#br0" timeOffset="4934.03">20908 4080 0,'0'0'31,"0"47"0,0 144-15,0-48-1,15-64 1,-15-47 0,32 0-1</inkml:trace>
  <inkml:trace contextRef="#ctx0" brushRef="#br0" timeOffset="5582.86">21130 4445 0,'0'-48'31,"-16"128"16,16-49-31,0 17-1,32 0 1,15-48-1,1 0 1,-48-64 0,0 1-1,-16 31 1,-16-16 0,32 17-16,111 31 78,-15 63-47,-65 1-15,-31-1-1,0-31 1,0 15-1,-47-15-15,79-95 63,126-128-32,-94 191 0,-64 111 1,0 0-1,16-111-31</inkml:trace>
  <inkml:trace contextRef="#ctx0" brushRef="#br0" timeOffset="6250.45">22082 4302 0,'32'0'32,"-64"0"-32,64 191 46,-32-33-30,0-142 15,0 16-15,0-64 15,0-95-15,32-16-1,0 80 1,-32 31-16,47 96 47,-15-1-31,-32-31-16,48 0 15,-17-1 1,17-31 15,15-79 0,-15 31-31,47-174 32,-95 317 30,0 1-46,0-1-1,0 16 1,0-79-16,0-1 16,0 1-1</inkml:trace>
  <inkml:trace contextRef="#ctx0" brushRef="#br0" timeOffset="7201.54">22765 4397 0,'0'0'16,"-16"64"46,16 15-46,0-15 0,16-17-1,79-47 1,-31 0 0,-17-63-1,-47-48 1,0 79-1,0 16-15,-63-47 16,15 63 0,1 0 15,47 15-15,0 17-1,31 0 1,33-32-1,-1 0 1,-15 0 0,15 0-1,-31 0 1,-16 0 0,-16 32-1,0-1-15,0 1 16,0 16-1,0-1 1,0-94 47,64-33-32,-17 33-16,-15 15-15,-32 127 63,32 1-47,31-49-1,17-47 1,-49 0-1,17-63 1,-16 15 0,-32-79-16,0 95 31,0-15-15,-32 63 15,32 111-16,0-32 1,16-32 0,31-63-16,-15 32 15,63-32 1</inkml:trace>
  <inkml:trace contextRef="#ctx0" brushRef="#br0" timeOffset="7416.03">23940 4254 0,'0'0'31,"-16"48"1,-32 127-17,48-32 1,0-64-1,16-47 1</inkml:trace>
  <inkml:trace contextRef="#ctx0" brushRef="#br0" timeOffset="8372.49">23781 4461 0,'0'0'0,"63"0"62,64 32-46,-15-1 0,-81-31-1,1 0 1,-32-16-1,-48 16-15,-15-31 16,31 31 0,0 0-1,32 31 1,0 17-16,0 0 16,0-17-1,16-31 1,48 0-1,-17 0 1,-15-63 0,0 63 15,0 32 16,95 31-16,-96-63-15,33 0-1,15-32 1,-47 1 0,-32-1-1,0 64 32,-2365-1-16,4762 1-15,-2365-32-16,47 0 31,-31-16 0,-48 32 48,15-16-48,17 0 0,0 32 0,-32 16-31,-16 15 16,-16-15 0,16 15-1,16-15 1,-31-48-16</inkml:trace>
  <inkml:trace contextRef="#ctx0" brushRef="#br0" timeOffset="8550.2">24829 5032 0,'-16'0'31,"-64"32"-15,49-32 0</inkml:trace>
  <inkml:trace contextRef="#ctx0" brushRef="#br0" timeOffset="10411.61">17844 7096 0,'0'48'78,"16"47"-46,15-95-17,33 32 1,174-128-1,48-46 1,31-33 0,-158 127 15,-143 17-15</inkml:trace>
  <inkml:trace contextRef="#ctx0" brushRef="#br0" timeOffset="12090.82">18383 7985 0,'-63'0'31,"79"0"1094,-32 0-984</inkml:trace>
  <inkml:trace contextRef="#ctx0" brushRef="#br0" timeOffset="14172.89">19653 11001 0,'0'16'109,"0"48"-93,0 79 0,0-64-1,0-47 1,48-32 0,174-48-1,1-95 1,31 16-1,-16 48 1,-207 31 0,1 48 15,-48 0 16,-15 32-16,-1-32-15,-16 32-16</inkml:trace>
  <inkml:trace contextRef="#ctx0" brushRef="#br0" timeOffset="15603.12">18002 14716 0,'48'0'78,"-16"32"-46,-32 31-1,47-63 16,49-95-32,94-80 1,96-15 0,-32 95-1,-111 63 1,-80 0 15,-94 32 94</inkml:trace>
  <inkml:trace contextRef="#ctx0" brushRef="#br0" timeOffset="16366.13">14208 14795 0,'0'0'0,"-31"0"16,-1 0 15</inkml:trace>
  <inkml:trace contextRef="#ctx0" brushRef="#br0" timeOffset="16782.58">11462 15049 0,'0'0'0,"-48"16"15</inkml:trace>
  <inkml:trace contextRef="#ctx0" brushRef="#br0" timeOffset="25350.87">4715 10843 0,'16'15'78,"32"65"-62,-48-33-16,47-15 15,-15 32 1,0-33-1,79-31 1,127-95 0,127-79-1,-159 78-15,175-189 16,-63 142 0,-223 111-1</inkml:trace>
  <inkml:trace contextRef="#ctx0" brushRef="#br0" timeOffset="26932.76">5572 11287 0,'0'-16'31,"-79"16"-15,0 16-16,-160 48 15,-62 31 1,-64 0 0,47 0-1,-15 16 1,238-63-1,63-48 1,-16 32 0,48 0 109</inkml:trace>
  <inkml:trace contextRef="#ctx0" brushRef="#br0" timeOffset="27936.83">1921 12208 0,'0'0'0,"-32"0"31,32 95 32,16 254-32,16-269-15,-64-207 62,-79-318-63,111 175 32,48 207-16,-17 63-31,33 16 16,-1 79 0,-63-16-1,0-15 17,0-1-17,-15 1 1,-17-64-16,0 47 15,32-15 1,-32 0 0,32 16-1,16-48-15</inkml:trace>
  <inkml:trace contextRef="#ctx0" brushRef="#br0" timeOffset="28432.44">2588 12541 0,'-16'0'16,"-127"-63"15,80-17-15,-17 1-1,33-80 1,47 96-16,0 15 16,0-15-1,47 94 17,-15 65-17,-32-49-15,0 96 16,0 0-1,-16-32 1,16-79 0,0 0 15,16-32-15,63-112-1,17 33 1,-49 31-1,-47 17 1,0-17 0</inkml:trace>
  <inkml:trace contextRef="#ctx0" brushRef="#br0" timeOffset="28701.38">2651 11970 0,'0'16'47,"32"190"-15,-32-174-32,32 31 31,47-63-16,-15 0 1,-17-32 0,1 1-1,-16 31 1</inkml:trace>
  <inkml:trace contextRef="#ctx0" brushRef="#br0" timeOffset="29048.82">3270 12192 0,'0'-79'32,"-15"-17"-17,15-15 1,-32-63-1,32 78 1,0 65 0,47 62 15,1 49-15,-16 31-1,63-16 1,-95-31-1,32-33 1</inkml:trace>
  <inkml:trace contextRef="#ctx0" brushRef="#br0" timeOffset="29415.17">3334 12017 0,'16'-63'47,"16"31"-32,63-47 1,-16 15 0,-47 32-16,0-31 15,-32 31 1,-16 0-1,-16 32 17,32 48-1,0 63-15,32 16-1,-32-63-15,0 15 16,32 48-1,-32-95 1</inkml:trace>
  <inkml:trace contextRef="#ctx0" brushRef="#br0" timeOffset="29665.89">3905 11859 0,'-47'0'31,"15"79"-15,32-16-1,16-31 17,111 0-17,-16-48 1,-32-47-1</inkml:trace>
  <inkml:trace contextRef="#ctx0" brushRef="#br0" timeOffset="30582.1">1492 13938 0,'0'0'0,"0"32"32,0 31-1,16 1-31,-16-16 16,0 47-1,0-63 1,0-1-16,0-47 31,0-111-15,0 32-16,0 0 15,0-32-15,0-79 16,32 126 0,0 48-1,0 32 16,-1 96-15,-31-17 0,0-47-1,0 31 17,0-47-17,64-16 1,-1 0-1,1 48 1,-1-1 0,1 1-1,-64-16 1,0 0 0,-16-32-1,16 31 1,-111-31-16,47 32 15,33 0 1,15 0 0</inkml:trace>
  <inkml:trace contextRef="#ctx0" brushRef="#br0" timeOffset="31216.44">2191 13811 0,'0'0'0,"0"-32"31,-16 32-15,-16 0-16,-47 16 31,79 64-15,-32-33-1,32-15 1,16-32 0,63-16 15,-47-31-15,32-1-1,-33 48 32,1 16-31,16-16-1,-1 0 1,1 0 0,0-48-1,15-15 1,-63-33-1,0 17-15,-32-64 16,-31 64 0,-1 15-1,33 64 17,31 16-17,0 64 1,63 47-1,32 47 1,-63-126-16,32-1 16,31 1-1,0-48 1,-47 0-16</inkml:trace>
  <inkml:trace contextRef="#ctx0" brushRef="#br0" timeOffset="31948.03">3001 13446 0,'0'0'0,"-16"-32"16,-16 32-1,0 48 17,32 15-17,0 17 1,48-33-1,-16-47 1,15-15 0,-15-49-1,-32 1 1,0 31-16,0 0 16,32 80 46,15-1-46,80 1-1,-79-48 17,0-48-17,-48-47 1,31 63-16,-31-31 15,0 31 1,32 96 31,16-17-31,-17-47-1,1 48 1,0-48-1,-32-48 1,0-31 0,0-16-1,0 63 17,32 0-17,47 48 1,-15 47-1,-1-15 1,-15-16 0,-1-32-1,17-16-15</inkml:trace>
  <inkml:trace contextRef="#ctx0" brushRef="#br0" timeOffset="32331.35">4112 13113 0,'-32'0'0,"32"-32"16,-79 32 0,79 32-1,0 79 17,0-64-17,31-47 1,128-15-1,-48-49 1,-63 1 0,-16-1-1,-32 32 1,-16 32-16,-79 32 31,95-16-15,0 47-1,79-31 1,-16 0 0,-31-32 15,0 32-31</inkml:trace>
  <inkml:trace contextRef="#ctx0" brushRef="#br0" timeOffset="32821.11">3921 14145 0,'0'0'15,"32"-239"1,-32 208 0,-16 31-1,-63 31 17,47-31-17,32 80 1,16-17-1,63 17 1,64-49 0,-79 17-16,-33-16 15,1-32 1,-64 0 15,-63 47-15,32-47-1,31 0 17,32-15-1</inkml:trace>
  <inkml:trace contextRef="#ctx0" brushRef="#br0" timeOffset="33798.16">4144 13779 0,'0'-31'15,"31"47"17,17 142-17,0-47 1,-1-31-1,1-48 1,-32-1 0,-16-47 31,47-79-32,-47 63-15,0 1 31,80 31 16,15 0-31,-32-32 0,1-16-1,-64 17 1,0 15-1,-32-48 1,-31 64 0,15 0-1,0 80 17,48-17-17,64-31 1,-1 0-1,-15-32 1,0-16-16,-1-32 16,96-95-1,-95 48 1,-48-16 0,0 79-1,-80 0 1,49 32-1,31 16 1,0 79 0,16-63 15,15 32-31,33-64 16,31 0-1,16-80 1,-79 17-1,16-96 1,-48 64 0,-32 63-1,0 111 32,64-15-31,-32-1-1,0-31 1</inkml:trace>
  <inkml:trace contextRef="#ctx0" brushRef="#br0" timeOffset="33982.19">5144 13351 0,'0'0'0,"0"-32"15,47-16 17,176-79-17,-128 48 1,32-96 0,-48 33-16</inkml:trace>
  <inkml:trace contextRef="#ctx0" brushRef="#br0" timeOffset="37081.81">6842 7207 0,'-16'-16'31,"-63"-15"0,47 31-31,1-16 32,31 47 30,31 49-46,17-48-1,15 31 1,33-95 0,142-126-1,48-49 1,-48-31-1,-207 238 1,-46 32 31</inkml:trace>
  <inkml:trace contextRef="#ctx0" brushRef="#br0" timeOffset="37265.86">7747 6953 0,'0'0'16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0240" y="819658"/>
            <a:ext cx="433832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First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Frist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7162800" y="6596390"/>
            <a:ext cx="198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WILPD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6596390"/>
            <a:ext cx="21336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4/30/2018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7400" y="6596390"/>
            <a:ext cx="464820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6933" y="6596390"/>
            <a:ext cx="1015467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3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" y="1376172"/>
            <a:ext cx="4655820" cy="109855"/>
          </a:xfrm>
          <a:custGeom>
            <a:avLst/>
            <a:gdLst/>
            <a:ahLst/>
            <a:cxnLst/>
            <a:rect l="l" t="t" r="r" b="b"/>
            <a:pathLst>
              <a:path w="4655820" h="109855">
                <a:moveTo>
                  <a:pt x="4655566" y="0"/>
                </a:moveTo>
                <a:lnTo>
                  <a:pt x="0" y="0"/>
                </a:lnTo>
                <a:lnTo>
                  <a:pt x="0" y="109727"/>
                </a:lnTo>
                <a:lnTo>
                  <a:pt x="4655566" y="109727"/>
                </a:lnTo>
                <a:lnTo>
                  <a:pt x="4655566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600" y="1376172"/>
            <a:ext cx="7958455" cy="0"/>
          </a:xfrm>
          <a:custGeom>
            <a:avLst/>
            <a:gdLst/>
            <a:ahLst/>
            <a:cxnLst/>
            <a:rect l="l" t="t" r="r" b="b"/>
            <a:pathLst>
              <a:path w="7958455">
                <a:moveTo>
                  <a:pt x="0" y="0"/>
                </a:moveTo>
                <a:lnTo>
                  <a:pt x="7958328" y="0"/>
                </a:lnTo>
              </a:path>
            </a:pathLst>
          </a:custGeom>
          <a:ln w="914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9600" y="6172200"/>
            <a:ext cx="7924800" cy="0"/>
          </a:xfrm>
          <a:custGeom>
            <a:avLst/>
            <a:gdLst/>
            <a:ahLst/>
            <a:cxnLst/>
            <a:rect l="l" t="t" r="r" b="b"/>
            <a:pathLst>
              <a:path w="7924800">
                <a:moveTo>
                  <a:pt x="0" y="0"/>
                </a:moveTo>
                <a:lnTo>
                  <a:pt x="7924800" y="0"/>
                </a:lnTo>
              </a:path>
            </a:pathLst>
          </a:custGeom>
          <a:ln w="317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77683" y="155447"/>
            <a:ext cx="1190244" cy="11902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039" y="369519"/>
            <a:ext cx="7356475" cy="966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240" y="1569268"/>
            <a:ext cx="8189595" cy="2770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49157" y="6284263"/>
            <a:ext cx="244855" cy="205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diagramLayout" Target="../diagrams/layout1.xml"/><Relationship Id="rId7" Type="http://schemas.openxmlformats.org/officeDocument/2006/relationships/customXml" Target="../ink/ink13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5800" y="114300"/>
            <a:ext cx="7772400" cy="3429000"/>
            <a:chOff x="685800" y="114300"/>
            <a:chExt cx="7772400" cy="3429000"/>
          </a:xfrm>
        </p:grpSpPr>
        <p:sp>
          <p:nvSpPr>
            <p:cNvPr id="3" name="object 3"/>
            <p:cNvSpPr/>
            <p:nvPr/>
          </p:nvSpPr>
          <p:spPr>
            <a:xfrm>
              <a:off x="685800" y="3433571"/>
              <a:ext cx="4803775" cy="109855"/>
            </a:xfrm>
            <a:custGeom>
              <a:avLst/>
              <a:gdLst/>
              <a:ahLst/>
              <a:cxnLst/>
              <a:rect l="l" t="t" r="r" b="b"/>
              <a:pathLst>
                <a:path w="4803775" h="109854">
                  <a:moveTo>
                    <a:pt x="4803394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803394" y="109727"/>
                  </a:lnTo>
                  <a:lnTo>
                    <a:pt x="4803394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5800" y="3433571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7772400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ln w="914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8732" y="114300"/>
              <a:ext cx="3526536" cy="331927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90269" y="3682365"/>
            <a:ext cx="6591934" cy="1336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3070" marR="5080" indent="-16910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Financial</a:t>
            </a:r>
            <a:r>
              <a:rPr sz="2400" b="1" spc="-4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and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Management</a:t>
            </a:r>
            <a:r>
              <a:rPr sz="2400" b="1" spc="-17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Accounting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(FMA) </a:t>
            </a:r>
            <a:r>
              <a:rPr sz="2400" b="1" spc="-50" dirty="0">
                <a:latin typeface="Trebuchet MS"/>
                <a:cs typeface="Trebuchet MS"/>
              </a:rPr>
              <a:t>/ </a:t>
            </a:r>
            <a:r>
              <a:rPr sz="2400" b="1" spc="-10" dirty="0">
                <a:latin typeface="Trebuchet MS"/>
                <a:cs typeface="Trebuchet MS"/>
              </a:rPr>
              <a:t>Managerial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Accounting</a:t>
            </a:r>
            <a:endParaRPr sz="2400" dirty="0">
              <a:latin typeface="Trebuchet MS"/>
              <a:cs typeface="Trebuchet MS"/>
            </a:endParaRPr>
          </a:p>
          <a:p>
            <a:pPr marL="2130425" marR="570230">
              <a:lnSpc>
                <a:spcPct val="100000"/>
              </a:lnSpc>
              <a:spcBef>
                <a:spcPts val="2365"/>
              </a:spcBef>
            </a:pPr>
            <a:r>
              <a:rPr sz="1800" dirty="0">
                <a:latin typeface="Trebuchet MS"/>
                <a:cs typeface="Trebuchet MS"/>
              </a:rPr>
              <a:t>Prof.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lang="en-US" sz="1800" dirty="0">
                <a:latin typeface="Trebuchet MS"/>
                <a:cs typeface="Trebuchet MS"/>
              </a:rPr>
              <a:t>Ankita Nagpal </a:t>
            </a:r>
            <a:r>
              <a:rPr sz="1800" dirty="0">
                <a:latin typeface="Trebuchet MS"/>
                <a:cs typeface="Trebuchet MS"/>
              </a:rPr>
              <a:t>Mob: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lang="en-US" spc="-10" dirty="0">
                <a:latin typeface="Trebuchet MS"/>
                <a:cs typeface="Trebuchet MS"/>
              </a:rPr>
              <a:t>8800464400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779" y="2177779"/>
            <a:ext cx="6299476" cy="23005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977" y="2102059"/>
            <a:ext cx="6405686" cy="29698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049" y="1644650"/>
            <a:ext cx="6641847" cy="42608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1828800"/>
            <a:ext cx="7389996" cy="24886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102" y="2244851"/>
            <a:ext cx="6647446" cy="23682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559" y="2080697"/>
            <a:ext cx="6583243" cy="34439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4001" y="2124132"/>
            <a:ext cx="6494394" cy="28063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4588" y="1704479"/>
            <a:ext cx="7355205" cy="4055745"/>
            <a:chOff x="894588" y="1704479"/>
            <a:chExt cx="7355205" cy="4055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0624" y="1704479"/>
              <a:ext cx="6700692" cy="40553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588" y="1790699"/>
              <a:ext cx="7354823" cy="3276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481329"/>
            <a:ext cx="46355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Organization’s</a:t>
            </a:r>
            <a:r>
              <a:rPr sz="2400" spc="-65" dirty="0"/>
              <a:t> </a:t>
            </a:r>
            <a:r>
              <a:rPr sz="2400" dirty="0"/>
              <a:t>Objective</a:t>
            </a:r>
            <a:r>
              <a:rPr sz="2400" spc="-40" dirty="0"/>
              <a:t> </a:t>
            </a:r>
            <a:r>
              <a:rPr sz="2400" dirty="0"/>
              <a:t>:</a:t>
            </a:r>
            <a:r>
              <a:rPr sz="2400" spc="-45" dirty="0"/>
              <a:t> </a:t>
            </a:r>
            <a:r>
              <a:rPr sz="2400" spc="-10" dirty="0"/>
              <a:t>Profit</a:t>
            </a:r>
            <a:endParaRPr sz="2400"/>
          </a:p>
          <a:p>
            <a:pPr marL="12700">
              <a:lnSpc>
                <a:spcPct val="100000"/>
              </a:lnSpc>
              <a:tabLst>
                <a:tab pos="2288540" algn="l"/>
              </a:tabLst>
            </a:pPr>
            <a:r>
              <a:rPr sz="2400" dirty="0"/>
              <a:t>Maximization</a:t>
            </a:r>
            <a:r>
              <a:rPr sz="2400" spc="-65" dirty="0"/>
              <a:t> </a:t>
            </a:r>
            <a:r>
              <a:rPr sz="2400" spc="-50" dirty="0"/>
              <a:t>-</a:t>
            </a:r>
            <a:r>
              <a:rPr sz="2400" dirty="0"/>
              <a:t>	</a:t>
            </a:r>
            <a:r>
              <a:rPr sz="2400" spc="-10" dirty="0"/>
              <a:t>Propositions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462405"/>
            <a:ext cx="5614670" cy="126111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Trebuchet MS"/>
                <a:cs typeface="Trebuchet MS"/>
              </a:rPr>
              <a:t>Operating</a:t>
            </a:r>
            <a:r>
              <a:rPr sz="1800" b="1" spc="-9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Profit</a:t>
            </a:r>
            <a:r>
              <a:rPr sz="1800" b="1" spc="-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Maximization</a:t>
            </a:r>
            <a:r>
              <a:rPr sz="1800" b="1" spc="-8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=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  <a:tabLst>
                <a:tab pos="1369060" algn="l"/>
                <a:tab pos="3039745" algn="l"/>
                <a:tab pos="3519804" algn="l"/>
                <a:tab pos="4230370" algn="l"/>
              </a:tabLst>
            </a:pPr>
            <a:r>
              <a:rPr sz="1800" b="1" i="1" spc="-10" dirty="0">
                <a:solidFill>
                  <a:srgbClr val="0000CC"/>
                </a:solidFill>
                <a:latin typeface="Trebuchet MS"/>
                <a:cs typeface="Trebuchet MS"/>
              </a:rPr>
              <a:t>f</a:t>
            </a:r>
            <a:r>
              <a:rPr sz="1800" b="1" spc="-10" dirty="0">
                <a:latin typeface="Trebuchet MS"/>
                <a:cs typeface="Trebuchet MS"/>
              </a:rPr>
              <a:t>(Revenue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Maximization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5" dirty="0">
                <a:latin typeface="Trebuchet MS"/>
                <a:cs typeface="Trebuchet MS"/>
              </a:rPr>
              <a:t>or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0" dirty="0">
                <a:latin typeface="Trebuchet MS"/>
                <a:cs typeface="Trebuchet MS"/>
              </a:rPr>
              <a:t>Cost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Minimization </a:t>
            </a:r>
            <a:r>
              <a:rPr sz="1800" b="1" dirty="0">
                <a:latin typeface="Trebuchet MS"/>
                <a:cs typeface="Trebuchet MS"/>
              </a:rPr>
              <a:t>Maximization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is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greater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than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cost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maximization.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7302" y="2011807"/>
            <a:ext cx="142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0855" algn="l"/>
              </a:tabLst>
            </a:pPr>
            <a:r>
              <a:rPr sz="1800" b="1" spc="-25" dirty="0">
                <a:latin typeface="Trebuchet MS"/>
                <a:cs typeface="Trebuchet MS"/>
              </a:rPr>
              <a:t>or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Revenue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948386"/>
            <a:ext cx="7386955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b="1" dirty="0">
                <a:latin typeface="Trebuchet MS"/>
                <a:cs typeface="Trebuchet MS"/>
              </a:rPr>
              <a:t>If</a:t>
            </a:r>
            <a:r>
              <a:rPr sz="1800" b="1" spc="4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VC</a:t>
            </a:r>
            <a:r>
              <a:rPr sz="1800" b="1" spc="409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&gt;</a:t>
            </a:r>
            <a:r>
              <a:rPr sz="1800" b="1" spc="4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60%</a:t>
            </a:r>
            <a:r>
              <a:rPr sz="1800" b="1" spc="38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of</a:t>
            </a:r>
            <a:r>
              <a:rPr sz="1800" b="1" spc="40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Revenue,</a:t>
            </a:r>
            <a:r>
              <a:rPr sz="1800" b="1" spc="39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cost</a:t>
            </a:r>
            <a:r>
              <a:rPr sz="1800" b="1" spc="4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minimization</a:t>
            </a:r>
            <a:r>
              <a:rPr sz="1800" b="1" spc="4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may</a:t>
            </a:r>
            <a:r>
              <a:rPr sz="1800" b="1" spc="40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result</a:t>
            </a:r>
            <a:r>
              <a:rPr sz="1800" b="1" spc="40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</a:t>
            </a:r>
            <a:r>
              <a:rPr sz="1800" b="1" spc="40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higher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rebuchet MS"/>
                <a:cs typeface="Trebuchet MS"/>
              </a:rPr>
              <a:t>profit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than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revenue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maximization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vice-</a:t>
            </a:r>
            <a:r>
              <a:rPr sz="1800" b="1" spc="-20" dirty="0">
                <a:latin typeface="Trebuchet MS"/>
                <a:cs typeface="Trebuchet MS"/>
              </a:rPr>
              <a:t>a-</a:t>
            </a:r>
            <a:r>
              <a:rPr sz="1800" b="1" spc="-10" dirty="0">
                <a:latin typeface="Trebuchet MS"/>
                <a:cs typeface="Trebuchet MS"/>
              </a:rPr>
              <a:t>versa.</a:t>
            </a:r>
            <a:endParaRPr sz="180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E86D1C3-6D95-ADEA-C687-5EF76AC9F902}"/>
                  </a:ext>
                </a:extLst>
              </p14:cNvPr>
              <p14:cNvContentPartPr/>
              <p14:nvPr/>
            </p14:nvContentPartPr>
            <p14:xfrm>
              <a:off x="1074600" y="2223000"/>
              <a:ext cx="4886640" cy="1852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E86D1C3-6D95-ADEA-C687-5EF76AC9F9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5240" y="2213640"/>
                <a:ext cx="4905360" cy="187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45" y="6635597"/>
            <a:ext cx="8197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7/24/2025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40802" y="6607861"/>
            <a:ext cx="197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latin typeface="Arial MT"/>
                <a:cs typeface="Arial MT"/>
              </a:rPr>
              <a:t>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6477" y="1823466"/>
            <a:ext cx="2133600" cy="635635"/>
          </a:xfrm>
          <a:custGeom>
            <a:avLst/>
            <a:gdLst/>
            <a:ahLst/>
            <a:cxnLst/>
            <a:rect l="l" t="t" r="r" b="b"/>
            <a:pathLst>
              <a:path w="2133600" h="635635">
                <a:moveTo>
                  <a:pt x="0" y="635508"/>
                </a:moveTo>
                <a:lnTo>
                  <a:pt x="2133600" y="635508"/>
                </a:lnTo>
                <a:lnTo>
                  <a:pt x="2133600" y="0"/>
                </a:lnTo>
                <a:lnTo>
                  <a:pt x="0" y="0"/>
                </a:lnTo>
                <a:lnTo>
                  <a:pt x="0" y="635508"/>
                </a:lnTo>
                <a:close/>
              </a:path>
            </a:pathLst>
          </a:custGeom>
          <a:ln w="25908">
            <a:solidFill>
              <a:srgbClr val="778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1239" y="1802130"/>
            <a:ext cx="162306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rebuchet MS"/>
                <a:cs typeface="Trebuchet MS"/>
              </a:rPr>
              <a:t>Market</a:t>
            </a:r>
            <a:r>
              <a:rPr sz="1400" b="1" spc="-5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(industry/ </a:t>
            </a:r>
            <a:r>
              <a:rPr sz="1400" b="1" dirty="0">
                <a:latin typeface="Trebuchet MS"/>
                <a:cs typeface="Trebuchet MS"/>
              </a:rPr>
              <a:t>sector)</a:t>
            </a:r>
            <a:r>
              <a:rPr sz="1400" b="1" spc="-5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Structure</a:t>
            </a:r>
            <a:r>
              <a:rPr sz="1400" b="1" spc="-65" dirty="0">
                <a:latin typeface="Trebuchet MS"/>
                <a:cs typeface="Trebuchet MS"/>
              </a:rPr>
              <a:t> </a:t>
            </a:r>
            <a:r>
              <a:rPr sz="1400" b="1" spc="-50" dirty="0">
                <a:latin typeface="Trebuchet MS"/>
                <a:cs typeface="Trebuchet MS"/>
              </a:rPr>
              <a:t>&amp; </a:t>
            </a:r>
            <a:r>
              <a:rPr sz="1400" b="1" dirty="0">
                <a:solidFill>
                  <a:srgbClr val="B80000"/>
                </a:solidFill>
                <a:latin typeface="Trebuchet MS"/>
                <a:cs typeface="Trebuchet MS"/>
              </a:rPr>
              <a:t>Govt</a:t>
            </a:r>
            <a:r>
              <a:rPr sz="1400" b="1" spc="-40" dirty="0">
                <a:solidFill>
                  <a:srgbClr val="B80000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B80000"/>
                </a:solidFill>
                <a:latin typeface="Trebuchet MS"/>
                <a:cs typeface="Trebuchet MS"/>
              </a:rPr>
              <a:t>Policies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1718" y="2728722"/>
            <a:ext cx="1943100" cy="477520"/>
          </a:xfrm>
          <a:prstGeom prst="rect">
            <a:avLst/>
          </a:prstGeom>
          <a:ln w="25908">
            <a:solidFill>
              <a:srgbClr val="77828D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1400" b="1" spc="-10" dirty="0">
                <a:latin typeface="Trebuchet MS"/>
                <a:cs typeface="Trebuchet MS"/>
              </a:rPr>
              <a:t>Organization’s</a:t>
            </a:r>
            <a:r>
              <a:rPr sz="1400" b="1" spc="-6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Vision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rebuchet MS"/>
                <a:cs typeface="Trebuchet MS"/>
              </a:rPr>
              <a:t>&amp; </a:t>
            </a:r>
            <a:r>
              <a:rPr sz="1400" b="1" spc="-10" dirty="0">
                <a:latin typeface="Trebuchet MS"/>
                <a:cs typeface="Trebuchet MS"/>
              </a:rPr>
              <a:t>Mission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01746" y="1783842"/>
            <a:ext cx="1318260" cy="497205"/>
          </a:xfrm>
          <a:custGeom>
            <a:avLst/>
            <a:gdLst/>
            <a:ahLst/>
            <a:cxnLst/>
            <a:rect l="l" t="t" r="r" b="b"/>
            <a:pathLst>
              <a:path w="1318260" h="497205">
                <a:moveTo>
                  <a:pt x="0" y="496824"/>
                </a:moveTo>
                <a:lnTo>
                  <a:pt x="1318260" y="496824"/>
                </a:lnTo>
                <a:lnTo>
                  <a:pt x="1318260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25908">
            <a:solidFill>
              <a:srgbClr val="778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56761" y="1799970"/>
            <a:ext cx="80835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064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rebuchet MS"/>
                <a:cs typeface="Trebuchet MS"/>
              </a:rPr>
              <a:t>Business Activities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22626" y="2056409"/>
            <a:ext cx="637540" cy="715645"/>
          </a:xfrm>
          <a:custGeom>
            <a:avLst/>
            <a:gdLst/>
            <a:ahLst/>
            <a:cxnLst/>
            <a:rect l="l" t="t" r="r" b="b"/>
            <a:pathLst>
              <a:path w="637539" h="715644">
                <a:moveTo>
                  <a:pt x="579374" y="85572"/>
                </a:moveTo>
                <a:lnTo>
                  <a:pt x="546735" y="66522"/>
                </a:lnTo>
                <a:lnTo>
                  <a:pt x="436880" y="2387"/>
                </a:lnTo>
                <a:lnTo>
                  <a:pt x="429679" y="0"/>
                </a:lnTo>
                <a:lnTo>
                  <a:pt x="422376" y="495"/>
                </a:lnTo>
                <a:lnTo>
                  <a:pt x="415823" y="3644"/>
                </a:lnTo>
                <a:lnTo>
                  <a:pt x="410845" y="9245"/>
                </a:lnTo>
                <a:lnTo>
                  <a:pt x="408368" y="16446"/>
                </a:lnTo>
                <a:lnTo>
                  <a:pt x="408838" y="23761"/>
                </a:lnTo>
                <a:lnTo>
                  <a:pt x="412013" y="30365"/>
                </a:lnTo>
                <a:lnTo>
                  <a:pt x="417703" y="35407"/>
                </a:lnTo>
                <a:lnTo>
                  <a:pt x="471030" y="66522"/>
                </a:lnTo>
                <a:lnTo>
                  <a:pt x="187452" y="66522"/>
                </a:lnTo>
                <a:lnTo>
                  <a:pt x="187452" y="104622"/>
                </a:lnTo>
                <a:lnTo>
                  <a:pt x="471030" y="104622"/>
                </a:lnTo>
                <a:lnTo>
                  <a:pt x="417703" y="135737"/>
                </a:lnTo>
                <a:lnTo>
                  <a:pt x="412013" y="140792"/>
                </a:lnTo>
                <a:lnTo>
                  <a:pt x="408838" y="147396"/>
                </a:lnTo>
                <a:lnTo>
                  <a:pt x="408368" y="154711"/>
                </a:lnTo>
                <a:lnTo>
                  <a:pt x="410845" y="161899"/>
                </a:lnTo>
                <a:lnTo>
                  <a:pt x="415823" y="167513"/>
                </a:lnTo>
                <a:lnTo>
                  <a:pt x="422376" y="170662"/>
                </a:lnTo>
                <a:lnTo>
                  <a:pt x="429679" y="171157"/>
                </a:lnTo>
                <a:lnTo>
                  <a:pt x="436880" y="168757"/>
                </a:lnTo>
                <a:lnTo>
                  <a:pt x="546735" y="104622"/>
                </a:lnTo>
                <a:lnTo>
                  <a:pt x="579374" y="85572"/>
                </a:lnTo>
                <a:close/>
              </a:path>
              <a:path w="637539" h="715644">
                <a:moveTo>
                  <a:pt x="637032" y="177012"/>
                </a:moveTo>
                <a:lnTo>
                  <a:pt x="474472" y="204825"/>
                </a:lnTo>
                <a:lnTo>
                  <a:pt x="458851" y="226796"/>
                </a:lnTo>
                <a:lnTo>
                  <a:pt x="461581" y="233883"/>
                </a:lnTo>
                <a:lnTo>
                  <a:pt x="466636" y="239179"/>
                </a:lnTo>
                <a:lnTo>
                  <a:pt x="473290" y="242201"/>
                </a:lnTo>
                <a:lnTo>
                  <a:pt x="480822" y="242417"/>
                </a:lnTo>
                <a:lnTo>
                  <a:pt x="541858" y="231965"/>
                </a:lnTo>
                <a:lnTo>
                  <a:pt x="0" y="686282"/>
                </a:lnTo>
                <a:lnTo>
                  <a:pt x="24384" y="715492"/>
                </a:lnTo>
                <a:lnTo>
                  <a:pt x="566343" y="261188"/>
                </a:lnTo>
                <a:lnTo>
                  <a:pt x="545452" y="319379"/>
                </a:lnTo>
                <a:lnTo>
                  <a:pt x="564375" y="344855"/>
                </a:lnTo>
                <a:lnTo>
                  <a:pt x="571461" y="343039"/>
                </a:lnTo>
                <a:lnTo>
                  <a:pt x="577354" y="338696"/>
                </a:lnTo>
                <a:lnTo>
                  <a:pt x="581266" y="332206"/>
                </a:lnTo>
                <a:lnTo>
                  <a:pt x="633552" y="186664"/>
                </a:lnTo>
                <a:lnTo>
                  <a:pt x="637032" y="177012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58661" y="3088385"/>
            <a:ext cx="2628900" cy="1021080"/>
          </a:xfrm>
          <a:custGeom>
            <a:avLst/>
            <a:gdLst/>
            <a:ahLst/>
            <a:cxnLst/>
            <a:rect l="l" t="t" r="r" b="b"/>
            <a:pathLst>
              <a:path w="2628900" h="1021079">
                <a:moveTo>
                  <a:pt x="0" y="1021080"/>
                </a:moveTo>
                <a:lnTo>
                  <a:pt x="2628899" y="1021080"/>
                </a:lnTo>
                <a:lnTo>
                  <a:pt x="2628899" y="0"/>
                </a:lnTo>
                <a:lnTo>
                  <a:pt x="0" y="0"/>
                </a:lnTo>
                <a:lnTo>
                  <a:pt x="0" y="1021080"/>
                </a:lnTo>
                <a:close/>
              </a:path>
            </a:pathLst>
          </a:custGeom>
          <a:ln w="25908">
            <a:solidFill>
              <a:srgbClr val="7782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37528" y="3260851"/>
            <a:ext cx="247205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024890" algn="l"/>
                <a:tab pos="1062990" algn="l"/>
                <a:tab pos="1756410" algn="l"/>
                <a:tab pos="2216150" algn="l"/>
              </a:tabLst>
            </a:pPr>
            <a:r>
              <a:rPr sz="1400" b="1" spc="-10" dirty="0">
                <a:latin typeface="Trebuchet MS"/>
                <a:cs typeface="Trebuchet MS"/>
              </a:rPr>
              <a:t>Financial</a:t>
            </a:r>
            <a:r>
              <a:rPr sz="1400" b="1" dirty="0">
                <a:latin typeface="Trebuchet MS"/>
                <a:cs typeface="Trebuchet MS"/>
              </a:rPr>
              <a:t>	</a:t>
            </a:r>
            <a:r>
              <a:rPr sz="1400" b="1" spc="-10" dirty="0">
                <a:latin typeface="Trebuchet MS"/>
                <a:cs typeface="Trebuchet MS"/>
              </a:rPr>
              <a:t>Statements</a:t>
            </a:r>
            <a:r>
              <a:rPr sz="1400" b="1" dirty="0">
                <a:latin typeface="Trebuchet MS"/>
                <a:cs typeface="Trebuchet MS"/>
              </a:rPr>
              <a:t>	</a:t>
            </a:r>
            <a:r>
              <a:rPr sz="1400" b="1" spc="-25" dirty="0">
                <a:latin typeface="Trebuchet MS"/>
                <a:cs typeface="Trebuchet MS"/>
              </a:rPr>
              <a:t>for </a:t>
            </a:r>
            <a:r>
              <a:rPr sz="1400" b="1" spc="-10" dirty="0">
                <a:latin typeface="Trebuchet MS"/>
                <a:cs typeface="Trebuchet MS"/>
              </a:rPr>
              <a:t>internal</a:t>
            </a:r>
            <a:r>
              <a:rPr sz="1400" b="1" dirty="0">
                <a:latin typeface="Trebuchet MS"/>
                <a:cs typeface="Trebuchet MS"/>
              </a:rPr>
              <a:t>		</a:t>
            </a:r>
            <a:r>
              <a:rPr sz="1400" b="1" spc="-25" dirty="0">
                <a:latin typeface="Trebuchet MS"/>
                <a:cs typeface="Trebuchet MS"/>
              </a:rPr>
              <a:t>and</a:t>
            </a:r>
            <a:r>
              <a:rPr sz="1400" b="1" dirty="0">
                <a:latin typeface="Trebuchet MS"/>
                <a:cs typeface="Trebuchet MS"/>
              </a:rPr>
              <a:t>	</a:t>
            </a:r>
            <a:r>
              <a:rPr sz="1400" b="1" spc="-10" dirty="0">
                <a:latin typeface="Trebuchet MS"/>
                <a:cs typeface="Trebuchet MS"/>
              </a:rPr>
              <a:t>external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7528" y="3687571"/>
            <a:ext cx="10845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rebuchet MS"/>
                <a:cs typeface="Trebuchet MS"/>
              </a:rPr>
              <a:t>stakeholders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962" y="4455414"/>
            <a:ext cx="2171700" cy="771525"/>
          </a:xfrm>
          <a:prstGeom prst="rect">
            <a:avLst/>
          </a:prstGeom>
          <a:ln w="25908">
            <a:solidFill>
              <a:srgbClr val="77828D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01600" marR="97155" indent="190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rebuchet MS"/>
                <a:cs typeface="Trebuchet MS"/>
              </a:rPr>
              <a:t>GAAP</a:t>
            </a:r>
            <a:r>
              <a:rPr sz="1400" b="1" spc="-3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(generally </a:t>
            </a:r>
            <a:r>
              <a:rPr sz="1600" b="1" dirty="0">
                <a:latin typeface="Trebuchet MS"/>
                <a:cs typeface="Trebuchet MS"/>
              </a:rPr>
              <a:t>accepted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accounting principles)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66798" y="3888485"/>
            <a:ext cx="754380" cy="551815"/>
          </a:xfrm>
          <a:custGeom>
            <a:avLst/>
            <a:gdLst/>
            <a:ahLst/>
            <a:cxnLst/>
            <a:rect l="l" t="t" r="r" b="b"/>
            <a:pathLst>
              <a:path w="754380" h="551814">
                <a:moveTo>
                  <a:pt x="692639" y="44189"/>
                </a:moveTo>
                <a:lnTo>
                  <a:pt x="654926" y="47862"/>
                </a:lnTo>
                <a:lnTo>
                  <a:pt x="0" y="520572"/>
                </a:lnTo>
                <a:lnTo>
                  <a:pt x="22351" y="551561"/>
                </a:lnTo>
                <a:lnTo>
                  <a:pt x="677349" y="78682"/>
                </a:lnTo>
                <a:lnTo>
                  <a:pt x="692639" y="44189"/>
                </a:lnTo>
                <a:close/>
              </a:path>
              <a:path w="754380" h="551814">
                <a:moveTo>
                  <a:pt x="751066" y="6603"/>
                </a:moveTo>
                <a:lnTo>
                  <a:pt x="712088" y="6603"/>
                </a:lnTo>
                <a:lnTo>
                  <a:pt x="734440" y="37464"/>
                </a:lnTo>
                <a:lnTo>
                  <a:pt x="677349" y="78682"/>
                </a:lnTo>
                <a:lnTo>
                  <a:pt x="652271" y="135255"/>
                </a:lnTo>
                <a:lnTo>
                  <a:pt x="650601" y="142666"/>
                </a:lnTo>
                <a:lnTo>
                  <a:pt x="651859" y="149875"/>
                </a:lnTo>
                <a:lnTo>
                  <a:pt x="655736" y="156061"/>
                </a:lnTo>
                <a:lnTo>
                  <a:pt x="661924" y="160400"/>
                </a:lnTo>
                <a:lnTo>
                  <a:pt x="669317" y="162071"/>
                </a:lnTo>
                <a:lnTo>
                  <a:pt x="676497" y="160813"/>
                </a:lnTo>
                <a:lnTo>
                  <a:pt x="682676" y="156936"/>
                </a:lnTo>
                <a:lnTo>
                  <a:pt x="687069" y="150749"/>
                </a:lnTo>
                <a:lnTo>
                  <a:pt x="751066" y="6603"/>
                </a:lnTo>
                <a:close/>
              </a:path>
              <a:path w="754380" h="551814">
                <a:moveTo>
                  <a:pt x="717699" y="14350"/>
                </a:moveTo>
                <a:lnTo>
                  <a:pt x="705865" y="14350"/>
                </a:lnTo>
                <a:lnTo>
                  <a:pt x="725169" y="41020"/>
                </a:lnTo>
                <a:lnTo>
                  <a:pt x="692639" y="44189"/>
                </a:lnTo>
                <a:lnTo>
                  <a:pt x="677349" y="78682"/>
                </a:lnTo>
                <a:lnTo>
                  <a:pt x="734440" y="37464"/>
                </a:lnTo>
                <a:lnTo>
                  <a:pt x="717699" y="14350"/>
                </a:lnTo>
                <a:close/>
              </a:path>
              <a:path w="754380" h="551814">
                <a:moveTo>
                  <a:pt x="753999" y="0"/>
                </a:moveTo>
                <a:lnTo>
                  <a:pt x="589788" y="16001"/>
                </a:lnTo>
                <a:lnTo>
                  <a:pt x="572643" y="36702"/>
                </a:lnTo>
                <a:lnTo>
                  <a:pt x="574843" y="43971"/>
                </a:lnTo>
                <a:lnTo>
                  <a:pt x="579485" y="49609"/>
                </a:lnTo>
                <a:lnTo>
                  <a:pt x="585912" y="53080"/>
                </a:lnTo>
                <a:lnTo>
                  <a:pt x="593470" y="53847"/>
                </a:lnTo>
                <a:lnTo>
                  <a:pt x="654926" y="47862"/>
                </a:lnTo>
                <a:lnTo>
                  <a:pt x="712088" y="6603"/>
                </a:lnTo>
                <a:lnTo>
                  <a:pt x="751066" y="6603"/>
                </a:lnTo>
                <a:lnTo>
                  <a:pt x="753999" y="0"/>
                </a:lnTo>
                <a:close/>
              </a:path>
              <a:path w="754380" h="551814">
                <a:moveTo>
                  <a:pt x="712088" y="6603"/>
                </a:moveTo>
                <a:lnTo>
                  <a:pt x="654926" y="47862"/>
                </a:lnTo>
                <a:lnTo>
                  <a:pt x="692639" y="44189"/>
                </a:lnTo>
                <a:lnTo>
                  <a:pt x="705865" y="14350"/>
                </a:lnTo>
                <a:lnTo>
                  <a:pt x="717699" y="14350"/>
                </a:lnTo>
                <a:lnTo>
                  <a:pt x="712088" y="6603"/>
                </a:lnTo>
                <a:close/>
              </a:path>
              <a:path w="754380" h="551814">
                <a:moveTo>
                  <a:pt x="705865" y="14350"/>
                </a:moveTo>
                <a:lnTo>
                  <a:pt x="692735" y="43971"/>
                </a:lnTo>
                <a:lnTo>
                  <a:pt x="692639" y="44189"/>
                </a:lnTo>
                <a:lnTo>
                  <a:pt x="725169" y="41020"/>
                </a:lnTo>
                <a:lnTo>
                  <a:pt x="705865" y="14350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14824" y="2380487"/>
            <a:ext cx="3410585" cy="1964055"/>
          </a:xfrm>
          <a:custGeom>
            <a:avLst/>
            <a:gdLst/>
            <a:ahLst/>
            <a:cxnLst/>
            <a:rect l="l" t="t" r="r" b="b"/>
            <a:pathLst>
              <a:path w="3410584" h="1964054">
                <a:moveTo>
                  <a:pt x="785495" y="0"/>
                </a:moveTo>
                <a:lnTo>
                  <a:pt x="608203" y="79375"/>
                </a:lnTo>
                <a:lnTo>
                  <a:pt x="652932" y="116039"/>
                </a:lnTo>
                <a:lnTo>
                  <a:pt x="0" y="913257"/>
                </a:lnTo>
                <a:lnTo>
                  <a:pt x="44704" y="949960"/>
                </a:lnTo>
                <a:lnTo>
                  <a:pt x="697750" y="152768"/>
                </a:lnTo>
                <a:lnTo>
                  <a:pt x="742569" y="189484"/>
                </a:lnTo>
                <a:lnTo>
                  <a:pt x="764286" y="93599"/>
                </a:lnTo>
                <a:lnTo>
                  <a:pt x="785495" y="0"/>
                </a:lnTo>
                <a:close/>
              </a:path>
              <a:path w="3410584" h="1964054">
                <a:moveTo>
                  <a:pt x="1244092" y="1309878"/>
                </a:moveTo>
                <a:lnTo>
                  <a:pt x="1211453" y="1290828"/>
                </a:lnTo>
                <a:lnTo>
                  <a:pt x="1101598" y="1226693"/>
                </a:lnTo>
                <a:lnTo>
                  <a:pt x="1094397" y="1224305"/>
                </a:lnTo>
                <a:lnTo>
                  <a:pt x="1087094" y="1224788"/>
                </a:lnTo>
                <a:lnTo>
                  <a:pt x="1080541" y="1227950"/>
                </a:lnTo>
                <a:lnTo>
                  <a:pt x="1075563" y="1233551"/>
                </a:lnTo>
                <a:lnTo>
                  <a:pt x="1073086" y="1240751"/>
                </a:lnTo>
                <a:lnTo>
                  <a:pt x="1073556" y="1248067"/>
                </a:lnTo>
                <a:lnTo>
                  <a:pt x="1076731" y="1254671"/>
                </a:lnTo>
                <a:lnTo>
                  <a:pt x="1082421" y="1259713"/>
                </a:lnTo>
                <a:lnTo>
                  <a:pt x="1135748" y="1290828"/>
                </a:lnTo>
                <a:lnTo>
                  <a:pt x="282194" y="1290828"/>
                </a:lnTo>
                <a:lnTo>
                  <a:pt x="282194" y="1328928"/>
                </a:lnTo>
                <a:lnTo>
                  <a:pt x="1135748" y="1328928"/>
                </a:lnTo>
                <a:lnTo>
                  <a:pt x="1082421" y="1360043"/>
                </a:lnTo>
                <a:lnTo>
                  <a:pt x="1076731" y="1365097"/>
                </a:lnTo>
                <a:lnTo>
                  <a:pt x="1073556" y="1371701"/>
                </a:lnTo>
                <a:lnTo>
                  <a:pt x="1073086" y="1379016"/>
                </a:lnTo>
                <a:lnTo>
                  <a:pt x="1075563" y="1386205"/>
                </a:lnTo>
                <a:lnTo>
                  <a:pt x="1080541" y="1391818"/>
                </a:lnTo>
                <a:lnTo>
                  <a:pt x="1087094" y="1394968"/>
                </a:lnTo>
                <a:lnTo>
                  <a:pt x="1094397" y="1395463"/>
                </a:lnTo>
                <a:lnTo>
                  <a:pt x="1101598" y="1393063"/>
                </a:lnTo>
                <a:lnTo>
                  <a:pt x="1211453" y="1328928"/>
                </a:lnTo>
                <a:lnTo>
                  <a:pt x="1244092" y="1309878"/>
                </a:lnTo>
                <a:close/>
              </a:path>
              <a:path w="3410584" h="1964054">
                <a:moveTo>
                  <a:pt x="3410204" y="1821942"/>
                </a:moveTo>
                <a:lnTo>
                  <a:pt x="3362960" y="1821942"/>
                </a:lnTo>
                <a:lnTo>
                  <a:pt x="3362960" y="1392174"/>
                </a:lnTo>
                <a:lnTo>
                  <a:pt x="3315716" y="1392174"/>
                </a:lnTo>
                <a:lnTo>
                  <a:pt x="3315716" y="1821942"/>
                </a:lnTo>
                <a:lnTo>
                  <a:pt x="3268472" y="1821942"/>
                </a:lnTo>
                <a:lnTo>
                  <a:pt x="3339338" y="1963674"/>
                </a:lnTo>
                <a:lnTo>
                  <a:pt x="3398393" y="1845564"/>
                </a:lnTo>
                <a:lnTo>
                  <a:pt x="3410204" y="1821942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64540" y="369519"/>
            <a:ext cx="64731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</a:rPr>
              <a:t>From</a:t>
            </a:r>
            <a:r>
              <a:rPr sz="1800" spc="305" dirty="0">
                <a:solidFill>
                  <a:srgbClr val="C00000"/>
                </a:solidFill>
              </a:rPr>
              <a:t> </a:t>
            </a:r>
            <a:r>
              <a:rPr sz="1800" dirty="0">
                <a:solidFill>
                  <a:srgbClr val="C00000"/>
                </a:solidFill>
              </a:rPr>
              <a:t>Business</a:t>
            </a:r>
            <a:r>
              <a:rPr sz="1800" spc="315" dirty="0">
                <a:solidFill>
                  <a:srgbClr val="C00000"/>
                </a:solidFill>
              </a:rPr>
              <a:t> </a:t>
            </a:r>
            <a:r>
              <a:rPr sz="1800" dirty="0">
                <a:solidFill>
                  <a:srgbClr val="C00000"/>
                </a:solidFill>
              </a:rPr>
              <a:t>Strategy</a:t>
            </a:r>
            <a:r>
              <a:rPr sz="1800" spc="320" dirty="0">
                <a:solidFill>
                  <a:srgbClr val="C00000"/>
                </a:solidFill>
              </a:rPr>
              <a:t> </a:t>
            </a:r>
            <a:r>
              <a:rPr sz="1800" dirty="0"/>
              <a:t>to</a:t>
            </a:r>
            <a:r>
              <a:rPr sz="1800" spc="315" dirty="0"/>
              <a:t> </a:t>
            </a:r>
            <a:r>
              <a:rPr sz="1800" dirty="0"/>
              <a:t>Business</a:t>
            </a:r>
            <a:r>
              <a:rPr sz="1800" spc="315" dirty="0"/>
              <a:t> </a:t>
            </a:r>
            <a:r>
              <a:rPr sz="1800" dirty="0"/>
              <a:t>Activities</a:t>
            </a:r>
            <a:r>
              <a:rPr sz="1800" spc="305" dirty="0"/>
              <a:t> </a:t>
            </a:r>
            <a:r>
              <a:rPr sz="1800" dirty="0">
                <a:solidFill>
                  <a:srgbClr val="0000CC"/>
                </a:solidFill>
              </a:rPr>
              <a:t>to</a:t>
            </a:r>
            <a:r>
              <a:rPr sz="1800" spc="305" dirty="0">
                <a:solidFill>
                  <a:srgbClr val="0000CC"/>
                </a:solidFill>
              </a:rPr>
              <a:t> </a:t>
            </a:r>
            <a:r>
              <a:rPr sz="1800" spc="-10" dirty="0">
                <a:solidFill>
                  <a:srgbClr val="0000CC"/>
                </a:solidFill>
              </a:rPr>
              <a:t>Financial </a:t>
            </a:r>
            <a:r>
              <a:rPr sz="1800" dirty="0">
                <a:solidFill>
                  <a:srgbClr val="0000CC"/>
                </a:solidFill>
              </a:rPr>
              <a:t>Statements</a:t>
            </a:r>
            <a:r>
              <a:rPr sz="1800" spc="120" dirty="0">
                <a:solidFill>
                  <a:srgbClr val="0000CC"/>
                </a:solidFill>
              </a:rPr>
              <a:t> </a:t>
            </a:r>
            <a:r>
              <a:rPr sz="1800" dirty="0">
                <a:solidFill>
                  <a:srgbClr val="B80000"/>
                </a:solidFill>
              </a:rPr>
              <a:t>to</a:t>
            </a:r>
            <a:r>
              <a:rPr sz="1800" spc="140" dirty="0">
                <a:solidFill>
                  <a:srgbClr val="B80000"/>
                </a:solidFill>
              </a:rPr>
              <a:t> </a:t>
            </a:r>
            <a:r>
              <a:rPr sz="1800" dirty="0">
                <a:solidFill>
                  <a:srgbClr val="B80000"/>
                </a:solidFill>
              </a:rPr>
              <a:t>assessing</a:t>
            </a:r>
            <a:r>
              <a:rPr sz="1800" spc="140" dirty="0">
                <a:solidFill>
                  <a:srgbClr val="B80000"/>
                </a:solidFill>
              </a:rPr>
              <a:t> </a:t>
            </a:r>
            <a:r>
              <a:rPr sz="1800" dirty="0">
                <a:solidFill>
                  <a:srgbClr val="B80000"/>
                </a:solidFill>
              </a:rPr>
              <a:t>business</a:t>
            </a:r>
            <a:r>
              <a:rPr sz="1800" spc="145" dirty="0">
                <a:solidFill>
                  <a:srgbClr val="B80000"/>
                </a:solidFill>
              </a:rPr>
              <a:t> </a:t>
            </a:r>
            <a:r>
              <a:rPr sz="1800" dirty="0">
                <a:solidFill>
                  <a:srgbClr val="B80000"/>
                </a:solidFill>
              </a:rPr>
              <a:t>performance</a:t>
            </a:r>
            <a:r>
              <a:rPr sz="1800" spc="145" dirty="0">
                <a:solidFill>
                  <a:srgbClr val="B80000"/>
                </a:solidFill>
              </a:rPr>
              <a:t> </a:t>
            </a:r>
            <a:r>
              <a:rPr sz="1800" spc="-10" dirty="0">
                <a:solidFill>
                  <a:srgbClr val="B80000"/>
                </a:solidFill>
              </a:rPr>
              <a:t>(</a:t>
            </a:r>
            <a:r>
              <a:rPr sz="1800" spc="-10" dirty="0"/>
              <a:t>maximizing operating</a:t>
            </a:r>
            <a:r>
              <a:rPr sz="1800" spc="-65" dirty="0"/>
              <a:t> </a:t>
            </a:r>
            <a:r>
              <a:rPr sz="1800" spc="-10" dirty="0"/>
              <a:t>profit</a:t>
            </a:r>
            <a:r>
              <a:rPr sz="1800" spc="-10" dirty="0">
                <a:solidFill>
                  <a:srgbClr val="B80000"/>
                </a:solidFill>
              </a:rPr>
              <a:t>)</a:t>
            </a:r>
            <a:endParaRPr sz="1800"/>
          </a:p>
        </p:txBody>
      </p:sp>
      <p:sp>
        <p:nvSpPr>
          <p:cNvPr id="17" name="object 17"/>
          <p:cNvSpPr txBox="1"/>
          <p:nvPr/>
        </p:nvSpPr>
        <p:spPr>
          <a:xfrm>
            <a:off x="5473446" y="4379214"/>
            <a:ext cx="2999740" cy="1694814"/>
          </a:xfrm>
          <a:prstGeom prst="rect">
            <a:avLst/>
          </a:prstGeom>
          <a:solidFill>
            <a:srgbClr val="FFC000"/>
          </a:solidFill>
          <a:ln w="25907">
            <a:solidFill>
              <a:srgbClr val="77828D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998219" marR="462915" indent="-525145">
              <a:lnSpc>
                <a:spcPct val="100000"/>
              </a:lnSpc>
              <a:spcBef>
                <a:spcPts val="745"/>
              </a:spcBef>
            </a:pPr>
            <a:r>
              <a:rPr sz="1400" b="1" dirty="0">
                <a:latin typeface="Trebuchet MS"/>
                <a:cs typeface="Trebuchet MS"/>
              </a:rPr>
              <a:t>Components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of</a:t>
            </a:r>
            <a:r>
              <a:rPr sz="1400" b="1" spc="5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Financial Statements:</a:t>
            </a:r>
            <a:endParaRPr sz="1400">
              <a:latin typeface="Trebuchet MS"/>
              <a:cs typeface="Trebuchet MS"/>
            </a:endParaRPr>
          </a:p>
          <a:p>
            <a:pPr marL="62484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24840" algn="l"/>
              </a:tabLst>
            </a:pPr>
            <a:r>
              <a:rPr sz="1400" b="1" dirty="0">
                <a:latin typeface="Trebuchet MS"/>
                <a:cs typeface="Trebuchet MS"/>
              </a:rPr>
              <a:t>Statement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of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income</a:t>
            </a:r>
            <a:r>
              <a:rPr sz="1400" b="1" spc="-15" dirty="0">
                <a:latin typeface="Trebuchet MS"/>
                <a:cs typeface="Trebuchet MS"/>
              </a:rPr>
              <a:t> </a:t>
            </a:r>
            <a:r>
              <a:rPr sz="1400" b="1" spc="-25" dirty="0">
                <a:latin typeface="Trebuchet MS"/>
                <a:cs typeface="Trebuchet MS"/>
              </a:rPr>
              <a:t>and</a:t>
            </a:r>
            <a:endParaRPr sz="1400">
              <a:latin typeface="Trebuchet MS"/>
              <a:cs typeface="Trebuchet MS"/>
            </a:endParaRPr>
          </a:p>
          <a:p>
            <a:pPr marL="1127760">
              <a:lnSpc>
                <a:spcPct val="100000"/>
              </a:lnSpc>
            </a:pPr>
            <a:r>
              <a:rPr sz="1400" b="1" spc="-10" dirty="0">
                <a:latin typeface="Trebuchet MS"/>
                <a:cs typeface="Trebuchet MS"/>
              </a:rPr>
              <a:t>expenditure,</a:t>
            </a:r>
            <a:endParaRPr sz="1400">
              <a:latin typeface="Trebuchet MS"/>
              <a:cs typeface="Trebuchet MS"/>
            </a:endParaRPr>
          </a:p>
          <a:p>
            <a:pPr marL="696595" marR="345440" indent="-343535">
              <a:lnSpc>
                <a:spcPct val="100000"/>
              </a:lnSpc>
              <a:buAutoNum type="arabicPeriod" startAt="2"/>
              <a:tabLst>
                <a:tab pos="838200" algn="l"/>
              </a:tabLst>
            </a:pPr>
            <a:r>
              <a:rPr sz="1400" b="1" dirty="0">
                <a:latin typeface="Trebuchet MS"/>
                <a:cs typeface="Trebuchet MS"/>
              </a:rPr>
              <a:t>Statement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of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Sources</a:t>
            </a:r>
            <a:r>
              <a:rPr sz="1400" b="1" spc="-35" dirty="0">
                <a:latin typeface="Trebuchet MS"/>
                <a:cs typeface="Trebuchet MS"/>
              </a:rPr>
              <a:t> </a:t>
            </a:r>
            <a:r>
              <a:rPr sz="1400" b="1" spc="-50" dirty="0">
                <a:latin typeface="Trebuchet MS"/>
                <a:cs typeface="Trebuchet MS"/>
              </a:rPr>
              <a:t>&amp; 	</a:t>
            </a:r>
            <a:r>
              <a:rPr sz="1400" b="1" dirty="0">
                <a:latin typeface="Trebuchet MS"/>
                <a:cs typeface="Trebuchet MS"/>
              </a:rPr>
              <a:t>Application</a:t>
            </a:r>
            <a:r>
              <a:rPr sz="1400" b="1" spc="-6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of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funds</a:t>
            </a:r>
            <a:endParaRPr sz="1400">
              <a:latin typeface="Trebuchet MS"/>
              <a:cs typeface="Trebuchet MS"/>
            </a:endParaRPr>
          </a:p>
          <a:p>
            <a:pPr marL="796925" indent="-342900">
              <a:lnSpc>
                <a:spcPct val="100000"/>
              </a:lnSpc>
              <a:buAutoNum type="arabicPeriod" startAt="2"/>
              <a:tabLst>
                <a:tab pos="796925" algn="l"/>
              </a:tabLst>
            </a:pPr>
            <a:r>
              <a:rPr sz="1400" b="1" dirty="0">
                <a:latin typeface="Trebuchet MS"/>
                <a:cs typeface="Trebuchet MS"/>
              </a:rPr>
              <a:t>Cash</a:t>
            </a:r>
            <a:r>
              <a:rPr sz="1400" b="1" spc="-1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Flow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Statement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49972" y="3994403"/>
            <a:ext cx="3683635" cy="2494915"/>
            <a:chOff x="1049972" y="3994403"/>
            <a:chExt cx="3683635" cy="249491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9336" y="3994403"/>
              <a:ext cx="1449324" cy="140817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62990" y="5601461"/>
              <a:ext cx="3657600" cy="875030"/>
            </a:xfrm>
            <a:custGeom>
              <a:avLst/>
              <a:gdLst/>
              <a:ahLst/>
              <a:cxnLst/>
              <a:rect l="l" t="t" r="r" b="b"/>
              <a:pathLst>
                <a:path w="3657600" h="875029">
                  <a:moveTo>
                    <a:pt x="3511804" y="0"/>
                  </a:moveTo>
                  <a:lnTo>
                    <a:pt x="145796" y="0"/>
                  </a:lnTo>
                  <a:lnTo>
                    <a:pt x="99714" y="7433"/>
                  </a:lnTo>
                  <a:lnTo>
                    <a:pt x="59692" y="28131"/>
                  </a:lnTo>
                  <a:lnTo>
                    <a:pt x="28131" y="59692"/>
                  </a:lnTo>
                  <a:lnTo>
                    <a:pt x="7433" y="99714"/>
                  </a:lnTo>
                  <a:lnTo>
                    <a:pt x="0" y="145796"/>
                  </a:lnTo>
                  <a:lnTo>
                    <a:pt x="0" y="728980"/>
                  </a:lnTo>
                  <a:lnTo>
                    <a:pt x="7433" y="775061"/>
                  </a:lnTo>
                  <a:lnTo>
                    <a:pt x="28131" y="815083"/>
                  </a:lnTo>
                  <a:lnTo>
                    <a:pt x="59692" y="846644"/>
                  </a:lnTo>
                  <a:lnTo>
                    <a:pt x="99714" y="867342"/>
                  </a:lnTo>
                  <a:lnTo>
                    <a:pt x="145796" y="874776"/>
                  </a:lnTo>
                  <a:lnTo>
                    <a:pt x="3511804" y="874776"/>
                  </a:lnTo>
                  <a:lnTo>
                    <a:pt x="3557885" y="867342"/>
                  </a:lnTo>
                  <a:lnTo>
                    <a:pt x="3597907" y="846644"/>
                  </a:lnTo>
                  <a:lnTo>
                    <a:pt x="3629468" y="815083"/>
                  </a:lnTo>
                  <a:lnTo>
                    <a:pt x="3650166" y="775061"/>
                  </a:lnTo>
                  <a:lnTo>
                    <a:pt x="3657600" y="728980"/>
                  </a:lnTo>
                  <a:lnTo>
                    <a:pt x="3657600" y="145796"/>
                  </a:lnTo>
                  <a:lnTo>
                    <a:pt x="3650166" y="99714"/>
                  </a:lnTo>
                  <a:lnTo>
                    <a:pt x="3629468" y="59692"/>
                  </a:lnTo>
                  <a:lnTo>
                    <a:pt x="3597907" y="28131"/>
                  </a:lnTo>
                  <a:lnTo>
                    <a:pt x="3557885" y="7433"/>
                  </a:lnTo>
                  <a:lnTo>
                    <a:pt x="351180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62990" y="5601461"/>
              <a:ext cx="3657600" cy="875030"/>
            </a:xfrm>
            <a:custGeom>
              <a:avLst/>
              <a:gdLst/>
              <a:ahLst/>
              <a:cxnLst/>
              <a:rect l="l" t="t" r="r" b="b"/>
              <a:pathLst>
                <a:path w="3657600" h="875029">
                  <a:moveTo>
                    <a:pt x="0" y="145796"/>
                  </a:moveTo>
                  <a:lnTo>
                    <a:pt x="7433" y="99714"/>
                  </a:lnTo>
                  <a:lnTo>
                    <a:pt x="28131" y="59692"/>
                  </a:lnTo>
                  <a:lnTo>
                    <a:pt x="59692" y="28131"/>
                  </a:lnTo>
                  <a:lnTo>
                    <a:pt x="99714" y="7433"/>
                  </a:lnTo>
                  <a:lnTo>
                    <a:pt x="145796" y="0"/>
                  </a:lnTo>
                  <a:lnTo>
                    <a:pt x="3511804" y="0"/>
                  </a:lnTo>
                  <a:lnTo>
                    <a:pt x="3557885" y="7433"/>
                  </a:lnTo>
                  <a:lnTo>
                    <a:pt x="3597907" y="28131"/>
                  </a:lnTo>
                  <a:lnTo>
                    <a:pt x="3629468" y="59692"/>
                  </a:lnTo>
                  <a:lnTo>
                    <a:pt x="3650166" y="99714"/>
                  </a:lnTo>
                  <a:lnTo>
                    <a:pt x="3657600" y="145796"/>
                  </a:lnTo>
                  <a:lnTo>
                    <a:pt x="3657600" y="728980"/>
                  </a:lnTo>
                  <a:lnTo>
                    <a:pt x="3650166" y="775061"/>
                  </a:lnTo>
                  <a:lnTo>
                    <a:pt x="3629468" y="815083"/>
                  </a:lnTo>
                  <a:lnTo>
                    <a:pt x="3597907" y="846644"/>
                  </a:lnTo>
                  <a:lnTo>
                    <a:pt x="3557885" y="867342"/>
                  </a:lnTo>
                  <a:lnTo>
                    <a:pt x="3511804" y="874776"/>
                  </a:lnTo>
                  <a:lnTo>
                    <a:pt x="145796" y="874776"/>
                  </a:lnTo>
                  <a:lnTo>
                    <a:pt x="99714" y="867342"/>
                  </a:lnTo>
                  <a:lnTo>
                    <a:pt x="59692" y="846644"/>
                  </a:lnTo>
                  <a:lnTo>
                    <a:pt x="28131" y="815083"/>
                  </a:lnTo>
                  <a:lnTo>
                    <a:pt x="7433" y="775061"/>
                  </a:lnTo>
                  <a:lnTo>
                    <a:pt x="0" y="728980"/>
                  </a:lnTo>
                  <a:lnTo>
                    <a:pt x="0" y="145796"/>
                  </a:lnTo>
                  <a:close/>
                </a:path>
              </a:pathLst>
            </a:custGeom>
            <a:ln w="25908">
              <a:solidFill>
                <a:srgbClr val="778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91861" y="1820417"/>
            <a:ext cx="3581400" cy="524510"/>
          </a:xfrm>
          <a:prstGeom prst="rect">
            <a:avLst/>
          </a:prstGeom>
          <a:ln w="47244">
            <a:solidFill>
              <a:srgbClr val="FFC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 marR="149225">
              <a:lnSpc>
                <a:spcPct val="100000"/>
              </a:lnSpc>
              <a:spcBef>
                <a:spcPts val="315"/>
              </a:spcBef>
            </a:pPr>
            <a:r>
              <a:rPr sz="1400" b="1" spc="-20" dirty="0">
                <a:latin typeface="Trebuchet MS"/>
                <a:cs typeface="Trebuchet MS"/>
              </a:rPr>
              <a:t>You</a:t>
            </a:r>
            <a:r>
              <a:rPr sz="1400" b="1" spc="-3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need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mechanism</a:t>
            </a:r>
            <a:r>
              <a:rPr sz="1400" b="1" spc="-6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to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account</a:t>
            </a:r>
            <a:r>
              <a:rPr sz="1400" b="1" spc="-5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for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spc="-25" dirty="0">
                <a:latin typeface="Trebuchet MS"/>
                <a:cs typeface="Trebuchet MS"/>
              </a:rPr>
              <a:t>and </a:t>
            </a:r>
            <a:r>
              <a:rPr sz="1400" b="1" dirty="0">
                <a:latin typeface="Trebuchet MS"/>
                <a:cs typeface="Trebuchet MS"/>
              </a:rPr>
              <a:t>convert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business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activities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into</a:t>
            </a:r>
            <a:r>
              <a:rPr sz="1400" b="1" spc="-3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report?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63773" y="3373373"/>
            <a:ext cx="2367280" cy="524510"/>
          </a:xfrm>
          <a:prstGeom prst="rect">
            <a:avLst/>
          </a:prstGeom>
          <a:ln w="44196">
            <a:solidFill>
              <a:srgbClr val="C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 marR="474980">
              <a:lnSpc>
                <a:spcPct val="100000"/>
              </a:lnSpc>
              <a:spcBef>
                <a:spcPts val="320"/>
              </a:spcBef>
            </a:pPr>
            <a:r>
              <a:rPr sz="1400" b="1" dirty="0">
                <a:latin typeface="Arial"/>
                <a:cs typeface="Arial"/>
              </a:rPr>
              <a:t>Accounting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System </a:t>
            </a:r>
            <a:r>
              <a:rPr sz="1400" b="1" dirty="0">
                <a:latin typeface="Arial"/>
                <a:cs typeface="Arial"/>
              </a:rPr>
              <a:t>(Business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Language)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72761" y="2025395"/>
            <a:ext cx="419100" cy="114300"/>
          </a:xfrm>
          <a:custGeom>
            <a:avLst/>
            <a:gdLst/>
            <a:ahLst/>
            <a:cxnLst/>
            <a:rect l="l" t="t" r="r" b="b"/>
            <a:pathLst>
              <a:path w="4191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419100" h="114300">
                <a:moveTo>
                  <a:pt x="304800" y="0"/>
                </a:moveTo>
                <a:lnTo>
                  <a:pt x="304800" y="114300"/>
                </a:lnTo>
                <a:lnTo>
                  <a:pt x="381000" y="76200"/>
                </a:lnTo>
                <a:lnTo>
                  <a:pt x="323850" y="76200"/>
                </a:lnTo>
                <a:lnTo>
                  <a:pt x="323850" y="38100"/>
                </a:lnTo>
                <a:lnTo>
                  <a:pt x="381000" y="38100"/>
                </a:lnTo>
                <a:lnTo>
                  <a:pt x="304800" y="0"/>
                </a:lnTo>
                <a:close/>
              </a:path>
              <a:path w="4191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419100" h="114300">
                <a:moveTo>
                  <a:pt x="3048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04800" y="76200"/>
                </a:lnTo>
                <a:lnTo>
                  <a:pt x="304800" y="38100"/>
                </a:lnTo>
                <a:close/>
              </a:path>
              <a:path w="419100" h="114300">
                <a:moveTo>
                  <a:pt x="381000" y="38100"/>
                </a:moveTo>
                <a:lnTo>
                  <a:pt x="323850" y="38100"/>
                </a:lnTo>
                <a:lnTo>
                  <a:pt x="323850" y="76200"/>
                </a:lnTo>
                <a:lnTo>
                  <a:pt x="381000" y="76200"/>
                </a:lnTo>
                <a:lnTo>
                  <a:pt x="419100" y="57150"/>
                </a:lnTo>
                <a:lnTo>
                  <a:pt x="381000" y="38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15541" y="5654446"/>
            <a:ext cx="294894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 marR="5080" indent="-47625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Financial</a:t>
            </a:r>
            <a:r>
              <a:rPr sz="16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rebuchet MS"/>
                <a:cs typeface="Trebuchet MS"/>
              </a:rPr>
              <a:t>Statement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Interpretation</a:t>
            </a:r>
            <a:r>
              <a:rPr sz="160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16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tools</a:t>
            </a:r>
            <a:r>
              <a:rPr sz="16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techniques</a:t>
            </a: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rebuchet MS"/>
                <a:cs typeface="Trebuchet MS"/>
              </a:rPr>
              <a:t>(Mgt</a:t>
            </a:r>
            <a:r>
              <a:rPr sz="16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rebuchet MS"/>
                <a:cs typeface="Trebuchet MS"/>
              </a:rPr>
              <a:t>Accounting)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08246" y="5226558"/>
            <a:ext cx="965835" cy="707390"/>
          </a:xfrm>
          <a:custGeom>
            <a:avLst/>
            <a:gdLst/>
            <a:ahLst/>
            <a:cxnLst/>
            <a:rect l="l" t="t" r="r" b="b"/>
            <a:pathLst>
              <a:path w="965835" h="707389">
                <a:moveTo>
                  <a:pt x="861676" y="51663"/>
                </a:moveTo>
                <a:lnTo>
                  <a:pt x="0" y="676148"/>
                </a:lnTo>
                <a:lnTo>
                  <a:pt x="22351" y="706996"/>
                </a:lnTo>
                <a:lnTo>
                  <a:pt x="884028" y="82524"/>
                </a:lnTo>
                <a:lnTo>
                  <a:pt x="861676" y="51663"/>
                </a:lnTo>
                <a:close/>
              </a:path>
              <a:path w="965835" h="707389">
                <a:moveTo>
                  <a:pt x="944358" y="40513"/>
                </a:moveTo>
                <a:lnTo>
                  <a:pt x="877062" y="40513"/>
                </a:lnTo>
                <a:lnTo>
                  <a:pt x="899413" y="71374"/>
                </a:lnTo>
                <a:lnTo>
                  <a:pt x="884028" y="82524"/>
                </a:lnTo>
                <a:lnTo>
                  <a:pt x="906399" y="113411"/>
                </a:lnTo>
                <a:lnTo>
                  <a:pt x="944358" y="40513"/>
                </a:lnTo>
                <a:close/>
              </a:path>
              <a:path w="965835" h="707389">
                <a:moveTo>
                  <a:pt x="877062" y="40513"/>
                </a:moveTo>
                <a:lnTo>
                  <a:pt x="861676" y="51663"/>
                </a:lnTo>
                <a:lnTo>
                  <a:pt x="884028" y="82524"/>
                </a:lnTo>
                <a:lnTo>
                  <a:pt x="899413" y="71374"/>
                </a:lnTo>
                <a:lnTo>
                  <a:pt x="877062" y="40513"/>
                </a:lnTo>
                <a:close/>
              </a:path>
              <a:path w="965835" h="707389">
                <a:moveTo>
                  <a:pt x="965453" y="0"/>
                </a:moveTo>
                <a:lnTo>
                  <a:pt x="839342" y="20828"/>
                </a:lnTo>
                <a:lnTo>
                  <a:pt x="861676" y="51663"/>
                </a:lnTo>
                <a:lnTo>
                  <a:pt x="877062" y="40513"/>
                </a:lnTo>
                <a:lnTo>
                  <a:pt x="944358" y="40513"/>
                </a:lnTo>
                <a:lnTo>
                  <a:pt x="96545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223128" y="3368801"/>
            <a:ext cx="6057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B80000"/>
                </a:solidFill>
                <a:latin typeface="Trebuchet MS"/>
                <a:cs typeface="Trebuchet MS"/>
              </a:rPr>
              <a:t>Output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3984" y="1949957"/>
            <a:ext cx="233045" cy="1619250"/>
          </a:xfrm>
          <a:prstGeom prst="rect">
            <a:avLst/>
          </a:prstGeom>
        </p:spPr>
        <p:txBody>
          <a:bodyPr vert="vert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b="1" dirty="0">
                <a:latin typeface="Trebuchet MS"/>
                <a:cs typeface="Trebuchet MS"/>
              </a:rPr>
              <a:t>A</a:t>
            </a:r>
            <a:r>
              <a:rPr sz="1400" b="1" spc="-8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Business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Strategy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81755" y="2508504"/>
            <a:ext cx="1348740" cy="58547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 marR="428625">
              <a:lnSpc>
                <a:spcPct val="100000"/>
              </a:lnSpc>
              <a:spcBef>
                <a:spcPts val="315"/>
              </a:spcBef>
            </a:pPr>
            <a:r>
              <a:rPr sz="1600" b="1" spc="-20" dirty="0">
                <a:latin typeface="Trebuchet MS"/>
                <a:cs typeface="Trebuchet MS"/>
              </a:rPr>
              <a:t>Revenue </a:t>
            </a:r>
            <a:r>
              <a:rPr sz="1600" b="1" dirty="0">
                <a:latin typeface="Trebuchet MS"/>
                <a:cs typeface="Trebuchet MS"/>
              </a:rPr>
              <a:t>and</a:t>
            </a:r>
            <a:r>
              <a:rPr sz="1600" b="1" spc="-5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Cost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6915" y="2294382"/>
            <a:ext cx="171156" cy="2162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D6CC26C-F792-D1D8-C9AA-32ABCF4DB870}"/>
                  </a:ext>
                </a:extLst>
              </p14:cNvPr>
              <p14:cNvContentPartPr/>
              <p14:nvPr/>
            </p14:nvContentPartPr>
            <p14:xfrm>
              <a:off x="605880" y="1445760"/>
              <a:ext cx="8401320" cy="4595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D6CC26C-F792-D1D8-C9AA-32ABCF4DB8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6520" y="1436400"/>
                <a:ext cx="8420040" cy="461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2514600"/>
              <a:ext cx="2743200" cy="1828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4372" y="1135761"/>
              <a:ext cx="4516882" cy="968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962" y="2359151"/>
              <a:ext cx="7728242" cy="11610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73604" y="4490339"/>
              <a:ext cx="725043" cy="11801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6176" y="4454016"/>
              <a:ext cx="4874259" cy="156630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721561"/>
            <a:ext cx="8035925" cy="3380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Provide</a:t>
            </a:r>
            <a:r>
              <a:rPr sz="2000" b="1" spc="23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information</a:t>
            </a:r>
            <a:r>
              <a:rPr sz="2000" b="1" spc="2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useful</a:t>
            </a:r>
            <a:r>
              <a:rPr sz="2000" b="1" spc="23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23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users’</a:t>
            </a:r>
            <a:r>
              <a:rPr sz="2000" b="1" spc="20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decision</a:t>
            </a:r>
            <a:r>
              <a:rPr sz="2000" b="1" spc="23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making.</a:t>
            </a:r>
            <a:r>
              <a:rPr sz="2000" b="1" spc="229" dirty="0">
                <a:latin typeface="Trebuchet MS"/>
                <a:cs typeface="Trebuchet MS"/>
              </a:rPr>
              <a:t>  </a:t>
            </a:r>
            <a:r>
              <a:rPr sz="2000" b="1" spc="-25" dirty="0">
                <a:latin typeface="Trebuchet MS"/>
                <a:cs typeface="Trebuchet MS"/>
              </a:rPr>
              <a:t>Two</a:t>
            </a: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200100"/>
              </a:lnSpc>
            </a:pPr>
            <a:r>
              <a:rPr sz="2000" b="1" dirty="0">
                <a:latin typeface="Trebuchet MS"/>
                <a:cs typeface="Trebuchet MS"/>
              </a:rPr>
              <a:t>primary</a:t>
            </a:r>
            <a:r>
              <a:rPr sz="2000" b="1" spc="37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areas</a:t>
            </a:r>
            <a:r>
              <a:rPr sz="2000" b="1" spc="38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37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38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37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37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375" dirty="0">
                <a:latin typeface="Trebuchet MS"/>
                <a:cs typeface="Trebuchet MS"/>
              </a:rPr>
              <a:t>  </a:t>
            </a:r>
            <a:r>
              <a:rPr sz="2000" b="1" spc="-25" dirty="0">
                <a:latin typeface="Trebuchet MS"/>
                <a:cs typeface="Trebuchet MS"/>
              </a:rPr>
              <a:t>and </a:t>
            </a:r>
            <a:r>
              <a:rPr sz="2000" b="1" dirty="0">
                <a:latin typeface="Trebuchet MS"/>
                <a:cs typeface="Trebuchet MS"/>
              </a:rPr>
              <a:t>managerial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accounting.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intended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provide </a:t>
            </a:r>
            <a:r>
              <a:rPr sz="2000" b="1" dirty="0">
                <a:latin typeface="Trebuchet MS"/>
                <a:cs typeface="Trebuchet MS"/>
              </a:rPr>
              <a:t>information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1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external</a:t>
            </a:r>
            <a:r>
              <a:rPr sz="2000" b="1" spc="1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users</a:t>
            </a:r>
            <a:r>
              <a:rPr sz="2000" b="1" spc="15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(key</a:t>
            </a:r>
            <a:r>
              <a:rPr sz="2000" b="1" spc="1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external</a:t>
            </a:r>
            <a:r>
              <a:rPr sz="2000" b="1" spc="15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users</a:t>
            </a:r>
            <a:r>
              <a:rPr sz="2000" b="1" spc="15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are</a:t>
            </a:r>
            <a:r>
              <a:rPr sz="2000" b="1" spc="14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current</a:t>
            </a:r>
            <a:r>
              <a:rPr sz="2000" b="1" spc="1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and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potential</a:t>
            </a:r>
            <a:r>
              <a:rPr sz="2000" b="1" spc="1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creditors</a:t>
            </a:r>
            <a:r>
              <a:rPr sz="2000" b="1" spc="1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and</a:t>
            </a:r>
            <a:r>
              <a:rPr sz="2000" b="1" spc="3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investors)</a:t>
            </a:r>
            <a:r>
              <a:rPr sz="2000" b="1" spc="2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meeting</a:t>
            </a:r>
            <a:r>
              <a:rPr sz="2000" b="1" spc="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their</a:t>
            </a:r>
            <a:r>
              <a:rPr sz="2000" b="1" spc="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decision</a:t>
            </a:r>
            <a:r>
              <a:rPr sz="2000" b="1" spc="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making needs.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741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</a:rPr>
              <a:t>Objective</a:t>
            </a:r>
            <a:r>
              <a:rPr sz="2400" spc="-15" dirty="0">
                <a:solidFill>
                  <a:srgbClr val="C00000"/>
                </a:solidFill>
              </a:rPr>
              <a:t> </a:t>
            </a:r>
            <a:r>
              <a:rPr sz="2400" dirty="0">
                <a:solidFill>
                  <a:srgbClr val="C00000"/>
                </a:solidFill>
              </a:rPr>
              <a:t>of</a:t>
            </a:r>
            <a:r>
              <a:rPr sz="2400" spc="-125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Accounting:</a:t>
            </a:r>
            <a:endParaRPr sz="2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8936CD-D239-B375-6D4C-1751F8AD3A69}"/>
                  </a:ext>
                </a:extLst>
              </p14:cNvPr>
              <p14:cNvContentPartPr/>
              <p14:nvPr/>
            </p14:nvContentPartPr>
            <p14:xfrm>
              <a:off x="314280" y="2080080"/>
              <a:ext cx="6629760" cy="2452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8936CD-D239-B375-6D4C-1751F8AD3A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4920" y="2070720"/>
                <a:ext cx="6648480" cy="247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454968"/>
            <a:ext cx="8188959" cy="3456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Purpose</a:t>
            </a:r>
            <a:r>
              <a:rPr sz="2000" b="1" spc="4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4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business</a:t>
            </a:r>
            <a:r>
              <a:rPr sz="2000" b="1" spc="4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4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4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make</a:t>
            </a:r>
            <a:r>
              <a:rPr sz="2000" b="1" spc="4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profit</a:t>
            </a:r>
            <a:r>
              <a:rPr sz="2000" b="1" spc="4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from</a:t>
            </a:r>
            <a:r>
              <a:rPr sz="2000" b="1" spc="4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operation,</a:t>
            </a:r>
            <a:r>
              <a:rPr sz="2000" b="1" spc="4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one</a:t>
            </a:r>
            <a:r>
              <a:rPr sz="2000" b="1" spc="459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must </a:t>
            </a:r>
            <a:r>
              <a:rPr sz="2000" b="1" dirty="0">
                <a:latin typeface="Trebuchet MS"/>
                <a:cs typeface="Trebuchet MS"/>
              </a:rPr>
              <a:t>keep</a:t>
            </a:r>
            <a:r>
              <a:rPr sz="2000" b="1" spc="4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</a:t>
            </a:r>
            <a:r>
              <a:rPr sz="2000" b="1" spc="4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ongoing</a:t>
            </a:r>
            <a:r>
              <a:rPr sz="2000" b="1" spc="4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track</a:t>
            </a:r>
            <a:r>
              <a:rPr sz="2000" b="1" spc="4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48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4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activities</a:t>
            </a:r>
            <a:r>
              <a:rPr sz="2000" b="1" spc="48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undertaken</a:t>
            </a:r>
            <a:r>
              <a:rPr sz="2000" b="1" spc="4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4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course</a:t>
            </a:r>
            <a:r>
              <a:rPr sz="2000" b="1" spc="48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of </a:t>
            </a:r>
            <a:r>
              <a:rPr sz="2000" b="1" dirty="0">
                <a:latin typeface="Trebuchet MS"/>
                <a:cs typeface="Trebuchet MS"/>
              </a:rPr>
              <a:t>business.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Two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basic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questions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would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have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be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answered:</a:t>
            </a:r>
            <a:endParaRPr sz="2000" dirty="0">
              <a:latin typeface="Trebuchet MS"/>
              <a:cs typeface="Trebuchet MS"/>
            </a:endParaRPr>
          </a:p>
          <a:p>
            <a:pPr marL="408940" indent="-396240" algn="just">
              <a:lnSpc>
                <a:spcPct val="100000"/>
              </a:lnSpc>
              <a:spcBef>
                <a:spcPts val="2100"/>
              </a:spcBef>
              <a:buAutoNum type="alphaLcParenBoth"/>
              <a:tabLst>
                <a:tab pos="408940" algn="l"/>
              </a:tabLst>
            </a:pPr>
            <a:r>
              <a:rPr sz="2000" b="1" dirty="0">
                <a:latin typeface="Trebuchet MS"/>
                <a:cs typeface="Trebuchet MS"/>
              </a:rPr>
              <a:t>What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result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business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operations?</a:t>
            </a:r>
            <a:endParaRPr sz="2000" dirty="0">
              <a:latin typeface="Trebuchet MS"/>
              <a:cs typeface="Trebuchet MS"/>
            </a:endParaRPr>
          </a:p>
          <a:p>
            <a:pPr marL="12700" marR="347980" indent="448945" algn="just">
              <a:lnSpc>
                <a:spcPct val="150000"/>
              </a:lnSpc>
              <a:spcBef>
                <a:spcPts val="905"/>
              </a:spcBef>
              <a:buAutoNum type="alphaLcParenBoth"/>
              <a:tabLst>
                <a:tab pos="461645" algn="l"/>
              </a:tabLst>
            </a:pPr>
            <a:r>
              <a:rPr sz="2000" b="1" dirty="0">
                <a:latin typeface="Trebuchet MS"/>
                <a:cs typeface="Trebuchet MS"/>
              </a:rPr>
              <a:t>What</a:t>
            </a:r>
            <a:r>
              <a:rPr sz="2000" b="1" spc="2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2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3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position</a:t>
            </a:r>
            <a:r>
              <a:rPr sz="2000" b="1" spc="2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2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3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resources</a:t>
            </a:r>
            <a:r>
              <a:rPr sz="2000" b="1" spc="2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acquired</a:t>
            </a:r>
            <a:r>
              <a:rPr sz="2000" b="1" spc="3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2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What</a:t>
            </a:r>
            <a:r>
              <a:rPr sz="2000" b="1" spc="30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is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4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position</a:t>
            </a:r>
            <a:r>
              <a:rPr sz="2000" b="1" spc="4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459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4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resources</a:t>
            </a:r>
            <a:r>
              <a:rPr sz="2000" b="1" spc="4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used</a:t>
            </a:r>
            <a:r>
              <a:rPr sz="2000" b="1" spc="4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4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business</a:t>
            </a:r>
            <a:r>
              <a:rPr sz="2000" b="1" spc="459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purpose</a:t>
            </a:r>
            <a:r>
              <a:rPr sz="2000" b="1" spc="459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(ROI, </a:t>
            </a:r>
            <a:r>
              <a:rPr sz="2000" b="1" dirty="0">
                <a:latin typeface="Trebuchet MS"/>
                <a:cs typeface="Trebuchet MS"/>
              </a:rPr>
              <a:t>ROE)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?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529" rIns="0" bIns="0" rtlCol="0">
            <a:spAutoFit/>
          </a:bodyPr>
          <a:lstStyle/>
          <a:p>
            <a:pPr marL="135001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Need</a:t>
            </a:r>
            <a:r>
              <a:rPr sz="3200" spc="-25" dirty="0"/>
              <a:t> </a:t>
            </a:r>
            <a:r>
              <a:rPr sz="3200" dirty="0"/>
              <a:t>for</a:t>
            </a:r>
            <a:r>
              <a:rPr sz="3200" spc="-200" dirty="0"/>
              <a:t> </a:t>
            </a:r>
            <a:r>
              <a:rPr sz="3200" spc="-10" dirty="0"/>
              <a:t>Accounting</a:t>
            </a:r>
            <a:endParaRPr sz="32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8200D7-45EC-493B-FFD1-33F36F76B5A6}"/>
                  </a:ext>
                </a:extLst>
              </p14:cNvPr>
              <p14:cNvContentPartPr/>
              <p14:nvPr/>
            </p14:nvContentPartPr>
            <p14:xfrm>
              <a:off x="840240" y="3171960"/>
              <a:ext cx="7812720" cy="2012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8200D7-45EC-493B-FFD1-33F36F76B5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0880" y="3162600"/>
                <a:ext cx="7831440" cy="203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739849"/>
            <a:ext cx="8188959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9125" algn="l"/>
                <a:tab pos="1730375" algn="l"/>
                <a:tab pos="2129790" algn="l"/>
                <a:tab pos="2937510" algn="l"/>
                <a:tab pos="4227195" algn="l"/>
                <a:tab pos="4769485" algn="l"/>
                <a:tab pos="5610860" algn="l"/>
                <a:tab pos="6047105" algn="l"/>
                <a:tab pos="7339330" algn="l"/>
                <a:tab pos="7778115" algn="l"/>
              </a:tabLst>
            </a:pP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answers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these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questions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are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found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by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recording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all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rebuchet MS"/>
                <a:cs typeface="Trebuchet MS"/>
              </a:rPr>
              <a:t>business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activities.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6985">
              <a:lnSpc>
                <a:spcPct val="100000"/>
              </a:lnSpc>
              <a:tabLst>
                <a:tab pos="1365885" algn="l"/>
                <a:tab pos="1771014" algn="l"/>
                <a:tab pos="2937510" algn="l"/>
                <a:tab pos="4197985" algn="l"/>
                <a:tab pos="4758690" algn="l"/>
                <a:tab pos="5172075" algn="l"/>
                <a:tab pos="5633720" algn="l"/>
                <a:tab pos="6390005" algn="l"/>
                <a:tab pos="6783070" algn="l"/>
                <a:tab pos="7086600" algn="l"/>
              </a:tabLst>
            </a:pP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Recording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of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business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activities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has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to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be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0" dirty="0">
                <a:solidFill>
                  <a:srgbClr val="0000CC"/>
                </a:solidFill>
                <a:latin typeface="Trebuchet MS"/>
                <a:cs typeface="Trebuchet MS"/>
              </a:rPr>
              <a:t>done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in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50" dirty="0">
                <a:solidFill>
                  <a:srgbClr val="0000CC"/>
                </a:solidFill>
                <a:latin typeface="Trebuchet MS"/>
                <a:cs typeface="Trebuchet MS"/>
              </a:rPr>
              <a:t>a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scientific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manner</a:t>
            </a:r>
            <a:r>
              <a:rPr sz="2000" b="1" spc="-5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so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that</a:t>
            </a:r>
            <a:r>
              <a:rPr sz="2000" b="1" spc="-3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they</a:t>
            </a:r>
            <a:r>
              <a:rPr sz="2000" b="1" spc="-3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reveal</a:t>
            </a:r>
            <a:r>
              <a:rPr sz="2000" b="1" spc="-3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correct</a:t>
            </a:r>
            <a:r>
              <a:rPr sz="2000" b="1" spc="-3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outcome.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6350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2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science</a:t>
            </a:r>
            <a:r>
              <a:rPr sz="2000" b="1" spc="2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25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book-</a:t>
            </a:r>
            <a:r>
              <a:rPr sz="2000" b="1" dirty="0">
                <a:latin typeface="Trebuchet MS"/>
                <a:cs typeface="Trebuchet MS"/>
              </a:rPr>
              <a:t>keeping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2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provides</a:t>
            </a:r>
            <a:r>
              <a:rPr sz="2000" b="1" spc="2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</a:t>
            </a:r>
            <a:r>
              <a:rPr sz="2000" b="1" spc="26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effective </a:t>
            </a:r>
            <a:r>
              <a:rPr sz="2000" b="1" dirty="0">
                <a:latin typeface="Trebuchet MS"/>
                <a:cs typeface="Trebuchet MS"/>
              </a:rPr>
              <a:t>solution.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branch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social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science.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5942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Conti..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835861"/>
            <a:ext cx="1447165" cy="857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255" algn="l"/>
              </a:tabLst>
            </a:pPr>
            <a:r>
              <a:rPr sz="2000" b="1" spc="-20" dirty="0">
                <a:latin typeface="Trebuchet MS"/>
                <a:cs typeface="Trebuchet MS"/>
              </a:rPr>
              <a:t>This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course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2000" b="1" spc="-10" dirty="0">
                <a:latin typeface="Trebuchet MS"/>
                <a:cs typeface="Trebuchet MS"/>
              </a:rPr>
              <a:t>understand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325370" y="1693408"/>
            <a:ext cx="6512559" cy="101028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225"/>
              </a:spcBef>
              <a:tabLst>
                <a:tab pos="715010" algn="l"/>
                <a:tab pos="1090295" algn="l"/>
                <a:tab pos="2346325" algn="l"/>
                <a:tab pos="2620645" algn="l"/>
                <a:tab pos="3782060" algn="l"/>
                <a:tab pos="4164329" algn="l"/>
                <a:tab pos="4699635" algn="l"/>
                <a:tab pos="6254115" algn="l"/>
              </a:tabLst>
            </a:pPr>
            <a:r>
              <a:rPr sz="2000" b="1" spc="-20" dirty="0">
                <a:latin typeface="Trebuchet MS"/>
                <a:cs typeface="Trebuchet MS"/>
              </a:rPr>
              <a:t>aims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at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providing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50" dirty="0">
                <a:latin typeface="Trebuchet MS"/>
                <a:cs typeface="Trebuchet MS"/>
              </a:rPr>
              <a:t>a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platform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participants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to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920750" algn="l"/>
                <a:tab pos="2512060" algn="l"/>
                <a:tab pos="3220720" algn="l"/>
                <a:tab pos="4748530" algn="l"/>
                <a:tab pos="5621655" algn="l"/>
                <a:tab pos="6205855" algn="l"/>
              </a:tabLst>
            </a:pPr>
            <a:r>
              <a:rPr sz="2400" b="1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basic</a:t>
            </a:r>
            <a:r>
              <a:rPr sz="24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b="1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principles</a:t>
            </a:r>
            <a:r>
              <a:rPr sz="24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b="1" u="sng" spc="-25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and</a:t>
            </a:r>
            <a:r>
              <a:rPr sz="24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b="1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concepts</a:t>
            </a:r>
            <a:r>
              <a:rPr sz="2000" b="1" spc="-10" dirty="0">
                <a:latin typeface="Trebuchet MS"/>
                <a:cs typeface="Trebuchet MS"/>
              </a:rPr>
              <a:t>,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which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can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be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2860675"/>
            <a:ext cx="8188325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applied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accurately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Trebuchet MS"/>
                <a:cs typeface="Trebuchet MS"/>
              </a:rPr>
              <a:t>measure</a:t>
            </a:r>
            <a:r>
              <a:rPr sz="2400" b="1" u="sng" spc="-4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Trebuchet MS"/>
                <a:cs typeface="Trebuchet MS"/>
              </a:rPr>
              <a:t>performance</a:t>
            </a:r>
            <a:r>
              <a:rPr sz="2400" b="1" u="sng" spc="-5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business.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50100"/>
              </a:lnSpc>
            </a:pPr>
            <a:r>
              <a:rPr sz="2000" b="1" dirty="0">
                <a:latin typeface="Trebuchet MS"/>
                <a:cs typeface="Trebuchet MS"/>
              </a:rPr>
              <a:t>After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going</a:t>
            </a:r>
            <a:r>
              <a:rPr sz="2000" b="1" spc="3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through</a:t>
            </a:r>
            <a:r>
              <a:rPr sz="2000" b="1" spc="3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this</a:t>
            </a:r>
            <a:r>
              <a:rPr sz="2000" b="1" spc="3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course,</a:t>
            </a:r>
            <a:r>
              <a:rPr sz="2000" b="1" spc="3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you</a:t>
            </a:r>
            <a:r>
              <a:rPr sz="2000" b="1" spc="3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should</a:t>
            </a:r>
            <a:r>
              <a:rPr sz="2000" b="1" spc="3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be</a:t>
            </a:r>
            <a:r>
              <a:rPr sz="2000" b="1" spc="3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able</a:t>
            </a:r>
            <a:r>
              <a:rPr sz="2000" b="1" spc="3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3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apply</a:t>
            </a:r>
            <a:r>
              <a:rPr sz="2000" b="1" spc="36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the </a:t>
            </a:r>
            <a:r>
              <a:rPr sz="2000" b="1" dirty="0">
                <a:latin typeface="Trebuchet MS"/>
                <a:cs typeface="Trebuchet MS"/>
              </a:rPr>
              <a:t>principles</a:t>
            </a:r>
            <a:r>
              <a:rPr sz="2000" b="1" spc="2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/</a:t>
            </a:r>
            <a:r>
              <a:rPr sz="2000" b="1" spc="2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rules,</a:t>
            </a:r>
            <a:r>
              <a:rPr sz="2000" b="1" spc="3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conventions</a:t>
            </a:r>
            <a:r>
              <a:rPr sz="2000" b="1" spc="3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practices</a:t>
            </a:r>
            <a:r>
              <a:rPr sz="2000" b="1" spc="3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3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different</a:t>
            </a:r>
            <a:r>
              <a:rPr sz="2000" b="1" spc="31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business </a:t>
            </a:r>
            <a:r>
              <a:rPr sz="2000" b="1" dirty="0">
                <a:latin typeface="Trebuchet MS"/>
                <a:cs typeface="Trebuchet MS"/>
              </a:rPr>
              <a:t>situations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like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trading,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manufacturing</a:t>
            </a:r>
            <a:r>
              <a:rPr sz="2000" b="1" spc="-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or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service.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5942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Conti..</a:t>
            </a:r>
            <a:endParaRPr sz="2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38C441-CDA1-C99A-88BD-42BD5197E09D}"/>
                  </a:ext>
                </a:extLst>
              </p14:cNvPr>
              <p14:cNvContentPartPr/>
              <p14:nvPr/>
            </p14:nvContentPartPr>
            <p14:xfrm>
              <a:off x="2709000" y="2360160"/>
              <a:ext cx="1949040" cy="1057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38C441-CDA1-C99A-88BD-42BD5197E0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9640" y="2350800"/>
                <a:ext cx="1967760" cy="107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5957" rIns="0" bIns="0" rtlCol="0">
            <a:spAutoFit/>
          </a:bodyPr>
          <a:lstStyle/>
          <a:p>
            <a:pPr marL="12700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C00000"/>
                </a:solidFill>
              </a:rPr>
              <a:t>FMA</a:t>
            </a:r>
            <a:r>
              <a:rPr sz="2800" spc="-170" dirty="0">
                <a:solidFill>
                  <a:srgbClr val="C00000"/>
                </a:solidFill>
              </a:rPr>
              <a:t> </a:t>
            </a:r>
            <a:r>
              <a:rPr sz="2800" dirty="0">
                <a:solidFill>
                  <a:srgbClr val="C00000"/>
                </a:solidFill>
              </a:rPr>
              <a:t>-</a:t>
            </a:r>
            <a:r>
              <a:rPr sz="2800" spc="-30" dirty="0">
                <a:solidFill>
                  <a:srgbClr val="C00000"/>
                </a:solidFill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Concept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64540" y="1849882"/>
            <a:ext cx="7731125" cy="3708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What</a:t>
            </a:r>
            <a:r>
              <a:rPr sz="2000" b="1" spc="-4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is</a:t>
            </a:r>
            <a:r>
              <a:rPr sz="2000" b="1" spc="-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Financial</a:t>
            </a:r>
            <a:r>
              <a:rPr sz="2000" b="1" spc="-15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Accounting</a:t>
            </a:r>
            <a:r>
              <a:rPr sz="2000" b="1" spc="-1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Recording</a:t>
            </a:r>
            <a:r>
              <a:rPr sz="2000" b="1" spc="3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3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reporting</a:t>
            </a:r>
            <a:r>
              <a:rPr sz="2000" b="1" spc="3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monetary</a:t>
            </a:r>
            <a:r>
              <a:rPr sz="2000" b="1" spc="33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transactions</a:t>
            </a:r>
            <a:r>
              <a:rPr sz="2000" b="1" spc="340" dirty="0">
                <a:latin typeface="Trebuchet MS"/>
                <a:cs typeface="Trebuchet MS"/>
              </a:rPr>
              <a:t>  </a:t>
            </a:r>
            <a:r>
              <a:rPr sz="2000" b="1" spc="-10" dirty="0">
                <a:latin typeface="Trebuchet MS"/>
                <a:cs typeface="Trebuchet MS"/>
              </a:rPr>
              <a:t>(Financial </a:t>
            </a:r>
            <a:r>
              <a:rPr sz="2000" b="1" spc="-20" dirty="0">
                <a:latin typeface="Trebuchet MS"/>
                <a:cs typeface="Trebuchet MS"/>
              </a:rPr>
              <a:t>Transactions)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per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statutory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requirements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(Generally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Accepted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Principles-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GAAP).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Outcomes:</a:t>
            </a:r>
            <a:r>
              <a:rPr sz="2000" b="1" spc="135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2000" b="1" u="sng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Trebuchet MS"/>
                <a:cs typeface="Trebuchet MS"/>
              </a:rPr>
              <a:t>Financial</a:t>
            </a:r>
            <a:r>
              <a:rPr sz="2000" b="1" u="sng" spc="135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Trebuchet MS"/>
                <a:cs typeface="Trebuchet MS"/>
              </a:rPr>
              <a:t>  </a:t>
            </a:r>
            <a:r>
              <a:rPr sz="2000" b="1" u="sng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Trebuchet MS"/>
                <a:cs typeface="Trebuchet MS"/>
              </a:rPr>
              <a:t>Statements</a:t>
            </a:r>
            <a:r>
              <a:rPr sz="2000" b="1" u="sng" spc="130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(Statement</a:t>
            </a:r>
            <a:r>
              <a:rPr sz="2000" b="1" spc="1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1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Income</a:t>
            </a:r>
            <a:r>
              <a:rPr sz="2000" b="1" spc="135" dirty="0">
                <a:latin typeface="Trebuchet MS"/>
                <a:cs typeface="Trebuchet MS"/>
              </a:rPr>
              <a:t>  </a:t>
            </a:r>
            <a:r>
              <a:rPr sz="2000" b="1" spc="-25" dirty="0">
                <a:latin typeface="Trebuchet MS"/>
                <a:cs typeface="Trebuchet MS"/>
              </a:rPr>
              <a:t>and </a:t>
            </a:r>
            <a:r>
              <a:rPr sz="2000" b="1" dirty="0">
                <a:latin typeface="Trebuchet MS"/>
                <a:cs typeface="Trebuchet MS"/>
              </a:rPr>
              <a:t>Expenditure,</a:t>
            </a:r>
            <a:r>
              <a:rPr sz="2000" b="1" spc="20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Statement</a:t>
            </a:r>
            <a:r>
              <a:rPr sz="2000" b="1" spc="2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2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Sources</a:t>
            </a:r>
            <a:r>
              <a:rPr sz="2000" b="1" spc="2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&amp;</a:t>
            </a:r>
            <a:r>
              <a:rPr sz="2000" b="1" spc="2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Application</a:t>
            </a:r>
            <a:r>
              <a:rPr sz="2000" b="1" spc="2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2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Funds</a:t>
            </a:r>
            <a:r>
              <a:rPr sz="2000" b="1" spc="23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and </a:t>
            </a:r>
            <a:r>
              <a:rPr sz="2000" b="1" dirty="0">
                <a:latin typeface="Trebuchet MS"/>
                <a:cs typeface="Trebuchet MS"/>
              </a:rPr>
              <a:t>Cash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Flow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Statement)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Users:</a:t>
            </a:r>
            <a:r>
              <a:rPr sz="2000" b="1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Internal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External</a:t>
            </a:r>
            <a:endParaRPr sz="200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1310DB-A959-799E-6D66-E35E67B3D5CC}"/>
                  </a:ext>
                </a:extLst>
              </p14:cNvPr>
              <p14:cNvContentPartPr/>
              <p14:nvPr/>
            </p14:nvContentPartPr>
            <p14:xfrm>
              <a:off x="1303200" y="1285920"/>
              <a:ext cx="6783840" cy="4503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1310DB-A959-799E-6D66-E35E67B3D5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3840" y="1276560"/>
                <a:ext cx="6802560" cy="452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671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99"/>
                </a:solidFill>
              </a:rPr>
              <a:t>Major</a:t>
            </a:r>
            <a:r>
              <a:rPr sz="2400" spc="-10" dirty="0">
                <a:solidFill>
                  <a:srgbClr val="000099"/>
                </a:solidFill>
              </a:rPr>
              <a:t> </a:t>
            </a:r>
            <a:r>
              <a:rPr sz="2400" dirty="0">
                <a:solidFill>
                  <a:srgbClr val="000099"/>
                </a:solidFill>
              </a:rPr>
              <a:t>Learnings</a:t>
            </a:r>
            <a:r>
              <a:rPr sz="2400" spc="-15" dirty="0">
                <a:solidFill>
                  <a:srgbClr val="000099"/>
                </a:solidFill>
              </a:rPr>
              <a:t> </a:t>
            </a:r>
            <a:r>
              <a:rPr sz="2400" dirty="0">
                <a:solidFill>
                  <a:srgbClr val="000099"/>
                </a:solidFill>
              </a:rPr>
              <a:t>from</a:t>
            </a:r>
            <a:r>
              <a:rPr sz="2400" spc="15" dirty="0">
                <a:solidFill>
                  <a:srgbClr val="000099"/>
                </a:solidFill>
              </a:rPr>
              <a:t> </a:t>
            </a:r>
            <a:r>
              <a:rPr sz="2400" spc="-10" dirty="0">
                <a:solidFill>
                  <a:srgbClr val="000099"/>
                </a:solidFill>
              </a:rPr>
              <a:t>Financial</a:t>
            </a:r>
            <a:r>
              <a:rPr sz="2400" spc="-155" dirty="0">
                <a:solidFill>
                  <a:srgbClr val="000099"/>
                </a:solidFill>
              </a:rPr>
              <a:t> </a:t>
            </a:r>
            <a:r>
              <a:rPr sz="2400" spc="-10" dirty="0">
                <a:solidFill>
                  <a:srgbClr val="000099"/>
                </a:solidFill>
              </a:rPr>
              <a:t>Accounting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0240" y="1683568"/>
            <a:ext cx="7960359" cy="23133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5600" algn="l"/>
                <a:tab pos="3063875" algn="l"/>
                <a:tab pos="4852035" algn="l"/>
                <a:tab pos="5412740" algn="l"/>
                <a:tab pos="6602095" algn="l"/>
                <a:tab pos="7549515" algn="l"/>
              </a:tabLst>
            </a:pPr>
            <a:r>
              <a:rPr sz="2000" b="1" dirty="0">
                <a:latin typeface="Trebuchet MS"/>
                <a:cs typeface="Trebuchet MS"/>
              </a:rPr>
              <a:t>Understood</a:t>
            </a:r>
            <a:r>
              <a:rPr sz="2000" b="1" spc="3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Concepts</a:t>
            </a:r>
            <a:r>
              <a:rPr sz="2000" b="1" dirty="0">
                <a:latin typeface="Trebuchet MS"/>
                <a:cs typeface="Trebuchet MS"/>
              </a:rPr>
              <a:t>	of</a:t>
            </a:r>
            <a:r>
              <a:rPr sz="2000" b="1" spc="38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accounting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and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rationale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behind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b="1" spc="-10" dirty="0">
                <a:latin typeface="Trebuchet MS"/>
                <a:cs typeface="Trebuchet MS"/>
              </a:rPr>
              <a:t>concepts.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rebuchet MS"/>
                <a:cs typeface="Trebuchet MS"/>
              </a:rPr>
              <a:t>Recognize</a:t>
            </a:r>
            <a:r>
              <a:rPr sz="2000" b="1" spc="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record</a:t>
            </a:r>
            <a:r>
              <a:rPr sz="2000" b="1" spc="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(measure)</a:t>
            </a:r>
            <a:r>
              <a:rPr sz="2000" b="1" spc="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revenues</a:t>
            </a:r>
            <a:r>
              <a:rPr sz="2000" b="1" spc="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expenses</a:t>
            </a:r>
            <a:r>
              <a:rPr sz="2000" b="1" spc="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</a:t>
            </a:r>
            <a:r>
              <a:rPr sz="2000" b="1" spc="6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per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rebuchet MS"/>
                <a:cs typeface="Trebuchet MS"/>
              </a:rPr>
              <a:t>GAAP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prepare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statements.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  <a:tab pos="1890395" algn="l"/>
                <a:tab pos="2914650" algn="l"/>
                <a:tab pos="3527425" algn="l"/>
                <a:tab pos="4345940" algn="l"/>
                <a:tab pos="4943475" algn="l"/>
                <a:tab pos="6466205" algn="l"/>
                <a:tab pos="6871334" algn="l"/>
              </a:tabLst>
            </a:pPr>
            <a:r>
              <a:rPr sz="2000" b="1" spc="-10" dirty="0">
                <a:latin typeface="Trebuchet MS"/>
                <a:cs typeface="Trebuchet MS"/>
              </a:rPr>
              <a:t>Understood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various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0" dirty="0">
                <a:latin typeface="Trebuchet MS"/>
                <a:cs typeface="Trebuchet MS"/>
              </a:rPr>
              <a:t>line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items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and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importance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of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Financial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3971496"/>
            <a:ext cx="6981190" cy="13970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295"/>
              </a:spcBef>
              <a:tabLst>
                <a:tab pos="1910080" algn="l"/>
                <a:tab pos="2222500" algn="l"/>
                <a:tab pos="3378200" algn="l"/>
                <a:tab pos="4030345" algn="l"/>
                <a:tab pos="5330190" algn="l"/>
                <a:tab pos="5948045" algn="l"/>
              </a:tabLst>
            </a:pPr>
            <a:r>
              <a:rPr sz="2000" b="1" spc="-10" dirty="0">
                <a:latin typeface="Trebuchet MS"/>
                <a:cs typeface="Trebuchet MS"/>
              </a:rPr>
              <a:t>Statements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50" dirty="0">
                <a:latin typeface="Trebuchet MS"/>
                <a:cs typeface="Trebuchet MS"/>
              </a:rPr>
              <a:t>–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Analyze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and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interpret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financial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(performance</a:t>
            </a:r>
            <a:r>
              <a:rPr sz="2000" b="1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&amp;</a:t>
            </a:r>
            <a:r>
              <a:rPr sz="200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position)</a:t>
            </a:r>
            <a:r>
              <a:rPr sz="200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organization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rebuchet MS"/>
                <a:cs typeface="Trebuchet MS"/>
              </a:rPr>
              <a:t>What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how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much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produce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achieve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BEP?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24978" y="4122801"/>
            <a:ext cx="7842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rebuchet MS"/>
                <a:cs typeface="Trebuchet MS"/>
              </a:rPr>
              <a:t>health</a:t>
            </a:r>
            <a:endParaRPr sz="200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90B423-44B6-8902-430B-11AFE35940ED}"/>
                  </a:ext>
                </a:extLst>
              </p14:cNvPr>
              <p14:cNvContentPartPr/>
              <p14:nvPr/>
            </p14:nvContentPartPr>
            <p14:xfrm>
              <a:off x="6058080" y="4583520"/>
              <a:ext cx="1629000" cy="1000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90B423-44B6-8902-430B-11AFE35940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48720" y="4574160"/>
                <a:ext cx="1647720" cy="101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576278"/>
            <a:ext cx="7959725" cy="249618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Wingdings"/>
              <a:buChar char=""/>
              <a:tabLst>
                <a:tab pos="299085" algn="l"/>
              </a:tabLst>
            </a:pPr>
            <a:r>
              <a:rPr sz="1800" b="1" dirty="0">
                <a:latin typeface="Trebuchet MS"/>
                <a:cs typeface="Trebuchet MS"/>
              </a:rPr>
              <a:t>Measure</a:t>
            </a:r>
            <a:r>
              <a:rPr sz="1800" b="1" spc="9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the</a:t>
            </a:r>
            <a:r>
              <a:rPr sz="1800" b="1" spc="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level</a:t>
            </a:r>
            <a:r>
              <a:rPr sz="1800" b="1" spc="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of</a:t>
            </a:r>
            <a:r>
              <a:rPr sz="1800" b="1" spc="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business</a:t>
            </a:r>
            <a:r>
              <a:rPr sz="1800" b="1" spc="1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risk</a:t>
            </a:r>
            <a:r>
              <a:rPr sz="1800" b="1" spc="1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(operating</a:t>
            </a:r>
            <a:r>
              <a:rPr sz="1800" b="1" spc="1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financial)</a:t>
            </a:r>
            <a:r>
              <a:rPr sz="1800" b="1" spc="10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organization</a:t>
            </a:r>
            <a:endParaRPr sz="18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latin typeface="Trebuchet MS"/>
                <a:cs typeface="Trebuchet MS"/>
              </a:rPr>
              <a:t>is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exposed</a:t>
            </a:r>
            <a:endParaRPr sz="1800">
              <a:latin typeface="Trebuchet MS"/>
              <a:cs typeface="Trebuchet MS"/>
            </a:endParaRPr>
          </a:p>
          <a:p>
            <a:pPr marL="299085" marR="5080" indent="-287020">
              <a:lnSpc>
                <a:spcPct val="150000"/>
              </a:lnSpc>
              <a:buFont typeface="Wingdings"/>
              <a:buChar char=""/>
              <a:tabLst>
                <a:tab pos="299085" algn="l"/>
                <a:tab pos="1697989" algn="l"/>
                <a:tab pos="3085465" algn="l"/>
                <a:tab pos="3466465" algn="l"/>
                <a:tab pos="4106545" algn="l"/>
                <a:tab pos="4731385" algn="l"/>
                <a:tab pos="5286375" algn="l"/>
                <a:tab pos="6172200" algn="l"/>
                <a:tab pos="7174865" algn="l"/>
              </a:tabLst>
            </a:pPr>
            <a:r>
              <a:rPr sz="1800" b="1" spc="-10" dirty="0">
                <a:latin typeface="Trebuchet MS"/>
                <a:cs typeface="Trebuchet MS"/>
              </a:rPr>
              <a:t>Understood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importance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5" dirty="0">
                <a:latin typeface="Trebuchet MS"/>
                <a:cs typeface="Trebuchet MS"/>
              </a:rPr>
              <a:t>of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0" dirty="0">
                <a:latin typeface="Trebuchet MS"/>
                <a:cs typeface="Trebuchet MS"/>
              </a:rPr>
              <a:t>cash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0" dirty="0">
                <a:latin typeface="Trebuchet MS"/>
                <a:cs typeface="Trebuchet MS"/>
              </a:rPr>
              <a:t>flow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5" dirty="0">
                <a:latin typeface="Trebuchet MS"/>
                <a:cs typeface="Trebuchet MS"/>
              </a:rPr>
              <a:t>and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capital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blocked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various </a:t>
            </a:r>
            <a:r>
              <a:rPr sz="1800" b="1" dirty="0">
                <a:latin typeface="Trebuchet MS"/>
                <a:cs typeface="Trebuchet MS"/>
              </a:rPr>
              <a:t>components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of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working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capital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–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A/R,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Inventories,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etc.</a:t>
            </a:r>
            <a:endParaRPr sz="1800">
              <a:latin typeface="Trebuchet MS"/>
              <a:cs typeface="Trebuchet MS"/>
            </a:endParaRPr>
          </a:p>
          <a:p>
            <a:pPr marL="299085" marR="5080" indent="-287020">
              <a:lnSpc>
                <a:spcPct val="15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b="1" dirty="0">
                <a:latin typeface="Trebuchet MS"/>
                <a:cs typeface="Trebuchet MS"/>
              </a:rPr>
              <a:t>Understood</a:t>
            </a:r>
            <a:r>
              <a:rPr sz="1800" b="1" spc="2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as</a:t>
            </a:r>
            <a:r>
              <a:rPr sz="1800" b="1" spc="2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to</a:t>
            </a:r>
            <a:r>
              <a:rPr sz="1800" b="1" spc="2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why</a:t>
            </a:r>
            <a:r>
              <a:rPr sz="1800" b="1" spc="2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to</a:t>
            </a:r>
            <a:r>
              <a:rPr sz="1800" b="1" spc="254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reduce</a:t>
            </a:r>
            <a:r>
              <a:rPr sz="1800" b="1" spc="2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organization’s</a:t>
            </a:r>
            <a:r>
              <a:rPr sz="1800" b="1" spc="2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dependency</a:t>
            </a:r>
            <a:r>
              <a:rPr sz="1800" b="1" spc="2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on</a:t>
            </a:r>
            <a:r>
              <a:rPr sz="1800" b="1" spc="26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bank </a:t>
            </a:r>
            <a:r>
              <a:rPr sz="1800" b="1" dirty="0">
                <a:latin typeface="Trebuchet MS"/>
                <a:cs typeface="Trebuchet MS"/>
              </a:rPr>
              <a:t>borrowing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for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working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capital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financing?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8718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99"/>
                </a:solidFill>
              </a:rPr>
              <a:t>Major</a:t>
            </a:r>
            <a:r>
              <a:rPr sz="1800" spc="-65" dirty="0">
                <a:solidFill>
                  <a:srgbClr val="000099"/>
                </a:solidFill>
              </a:rPr>
              <a:t> </a:t>
            </a:r>
            <a:r>
              <a:rPr sz="1800" dirty="0">
                <a:solidFill>
                  <a:srgbClr val="000099"/>
                </a:solidFill>
              </a:rPr>
              <a:t>Learnings</a:t>
            </a:r>
            <a:r>
              <a:rPr sz="1800" spc="-50" dirty="0">
                <a:solidFill>
                  <a:srgbClr val="000099"/>
                </a:solidFill>
              </a:rPr>
              <a:t> </a:t>
            </a:r>
            <a:r>
              <a:rPr sz="1800" dirty="0">
                <a:solidFill>
                  <a:srgbClr val="000099"/>
                </a:solidFill>
              </a:rPr>
              <a:t>from</a:t>
            </a:r>
            <a:r>
              <a:rPr sz="1800" spc="-20" dirty="0">
                <a:solidFill>
                  <a:srgbClr val="000099"/>
                </a:solidFill>
              </a:rPr>
              <a:t> </a:t>
            </a:r>
            <a:r>
              <a:rPr sz="1800" spc="-10" dirty="0">
                <a:solidFill>
                  <a:srgbClr val="000099"/>
                </a:solidFill>
              </a:rPr>
              <a:t>Financial</a:t>
            </a:r>
            <a:r>
              <a:rPr sz="1800" spc="-125" dirty="0">
                <a:solidFill>
                  <a:srgbClr val="000099"/>
                </a:solidFill>
              </a:rPr>
              <a:t> </a:t>
            </a:r>
            <a:r>
              <a:rPr sz="1800" dirty="0">
                <a:solidFill>
                  <a:srgbClr val="000099"/>
                </a:solidFill>
              </a:rPr>
              <a:t>Accounting</a:t>
            </a:r>
            <a:r>
              <a:rPr sz="1800" spc="-75" dirty="0">
                <a:solidFill>
                  <a:srgbClr val="000099"/>
                </a:solidFill>
              </a:rPr>
              <a:t> </a:t>
            </a:r>
            <a:r>
              <a:rPr sz="1800" spc="-10" dirty="0">
                <a:solidFill>
                  <a:srgbClr val="000099"/>
                </a:solidFill>
              </a:rPr>
              <a:t>(Conti….)</a:t>
            </a:r>
            <a:endParaRPr sz="18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3FE584-CB88-1D48-26B6-99286BB4289C}"/>
                  </a:ext>
                </a:extLst>
              </p14:cNvPr>
              <p14:cNvContentPartPr/>
              <p14:nvPr/>
            </p14:nvContentPartPr>
            <p14:xfrm>
              <a:off x="4354920" y="1960200"/>
              <a:ext cx="2314800" cy="817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3FE584-CB88-1D48-26B6-99286BB428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5560" y="1950840"/>
                <a:ext cx="2333520" cy="83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372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Accounting</a:t>
            </a:r>
            <a:r>
              <a:rPr sz="2400" spc="-55" dirty="0"/>
              <a:t> </a:t>
            </a:r>
            <a:r>
              <a:rPr sz="2400" dirty="0"/>
              <a:t>Definition</a:t>
            </a:r>
            <a:r>
              <a:rPr sz="2400" b="0" dirty="0">
                <a:latin typeface="Trebuchet MS"/>
                <a:cs typeface="Trebuchet MS"/>
              </a:rPr>
              <a:t>-</a:t>
            </a:r>
            <a:r>
              <a:rPr sz="2400" b="0" spc="-6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00000"/>
                </a:solidFill>
              </a:rPr>
              <a:t>Financial</a:t>
            </a:r>
            <a:r>
              <a:rPr sz="2400" spc="-180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Accounting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0240" y="1609931"/>
            <a:ext cx="8187055" cy="428561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366395" algn="l"/>
                <a:tab pos="734695" algn="l"/>
                <a:tab pos="2132965" algn="l"/>
                <a:tab pos="3182620" algn="l"/>
                <a:tab pos="3609340" algn="l"/>
                <a:tab pos="5203825" algn="l"/>
                <a:tab pos="5839460" algn="l"/>
                <a:tab pos="6749415" algn="l"/>
                <a:tab pos="7935595" algn="l"/>
              </a:tabLst>
            </a:pPr>
            <a:r>
              <a:rPr sz="2000" b="1" spc="-25" dirty="0">
                <a:latin typeface="Trebuchet MS"/>
                <a:cs typeface="Trebuchet MS"/>
              </a:rPr>
              <a:t>It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is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commonly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termed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as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Accounting.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Indian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Institute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of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rebuchet MS"/>
                <a:cs typeface="Trebuchet MS"/>
              </a:rPr>
              <a:t>Certified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Public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Accountants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defines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“an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art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of</a:t>
            </a:r>
            <a:endParaRPr sz="2000">
              <a:latin typeface="Trebuchet MS"/>
              <a:cs typeface="Trebuchet MS"/>
            </a:endParaRPr>
          </a:p>
          <a:p>
            <a:pPr marL="467995" indent="-455295">
              <a:lnSpc>
                <a:spcPct val="100000"/>
              </a:lnSpc>
              <a:spcBef>
                <a:spcPts val="1200"/>
              </a:spcBef>
              <a:buAutoNum type="arabicParenBoth"/>
              <a:tabLst>
                <a:tab pos="467995" algn="l"/>
              </a:tabLst>
            </a:pP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recoding,</a:t>
            </a:r>
            <a:endParaRPr sz="2000">
              <a:latin typeface="Trebuchet MS"/>
              <a:cs typeface="Trebuchet MS"/>
            </a:endParaRPr>
          </a:p>
          <a:p>
            <a:pPr marL="467995" indent="-455295">
              <a:lnSpc>
                <a:spcPct val="100000"/>
              </a:lnSpc>
              <a:spcBef>
                <a:spcPts val="1200"/>
              </a:spcBef>
              <a:buAutoNum type="arabicParenBoth"/>
              <a:tabLst>
                <a:tab pos="467995" algn="l"/>
              </a:tabLst>
            </a:pP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classifying</a:t>
            </a:r>
            <a:r>
              <a:rPr sz="2000" b="1" spc="-7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L="467359" indent="-454659">
              <a:lnSpc>
                <a:spcPct val="100000"/>
              </a:lnSpc>
              <a:spcBef>
                <a:spcPts val="1200"/>
              </a:spcBef>
              <a:buAutoNum type="arabicParenBoth"/>
              <a:tabLst>
                <a:tab pos="467359" algn="l"/>
                <a:tab pos="6580505" algn="l"/>
              </a:tabLst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summarizing</a:t>
            </a:r>
            <a:r>
              <a:rPr sz="2000" b="1" spc="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significant</a:t>
            </a:r>
            <a:r>
              <a:rPr sz="2000" b="1" spc="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manner</a:t>
            </a:r>
            <a:r>
              <a:rPr sz="2000" b="1" spc="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terms</a:t>
            </a:r>
            <a:r>
              <a:rPr sz="2000" b="1" dirty="0">
                <a:latin typeface="Trebuchet MS"/>
                <a:cs typeface="Trebuchet MS"/>
              </a:rPr>
              <a:t>	of</a:t>
            </a:r>
            <a:r>
              <a:rPr sz="2000" b="1" spc="6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(a)</a:t>
            </a:r>
            <a:r>
              <a:rPr sz="2000" b="1" spc="6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30" dirty="0">
                <a:solidFill>
                  <a:srgbClr val="0000CC"/>
                </a:solidFill>
                <a:latin typeface="Trebuchet MS"/>
                <a:cs typeface="Trebuchet MS"/>
              </a:rPr>
              <a:t>money,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205"/>
              </a:spcBef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(b)</a:t>
            </a:r>
            <a:r>
              <a:rPr sz="2000" b="1" spc="1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transactions</a:t>
            </a:r>
            <a:r>
              <a:rPr sz="2000" b="1" spc="1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17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(</a:t>
            </a:r>
            <a:r>
              <a:rPr sz="2000" b="1" spc="1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</a:t>
            </a:r>
            <a:r>
              <a:rPr sz="2000" b="1" spc="1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)</a:t>
            </a:r>
            <a:r>
              <a:rPr sz="2000" b="1" spc="17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events</a:t>
            </a:r>
            <a:r>
              <a:rPr sz="2000" b="1" spc="15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which</a:t>
            </a:r>
            <a:r>
              <a:rPr sz="2000" b="1" spc="1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1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1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part</a:t>
            </a:r>
            <a:r>
              <a:rPr sz="2000" b="1" spc="1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at</a:t>
            </a:r>
            <a:r>
              <a:rPr sz="2000" b="1" spc="1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least</a:t>
            </a:r>
            <a:r>
              <a:rPr sz="2000" b="1" spc="1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155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a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(e)</a:t>
            </a:r>
            <a:r>
              <a:rPr sz="200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financial</a:t>
            </a:r>
            <a:r>
              <a:rPr sz="2000" b="1" spc="-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Trebuchet MS"/>
                <a:cs typeface="Trebuchet MS"/>
              </a:rPr>
              <a:t>character,</a:t>
            </a:r>
            <a:r>
              <a:rPr sz="200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(f)</a:t>
            </a:r>
            <a:r>
              <a:rPr sz="2000" b="1" spc="-1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interpreting</a:t>
            </a:r>
            <a:r>
              <a:rPr sz="2000" b="1" spc="-6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results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thereof.”</a:t>
            </a:r>
            <a:endParaRPr sz="2000">
              <a:latin typeface="Trebuchet MS"/>
              <a:cs typeface="Trebuchet MS"/>
            </a:endParaRPr>
          </a:p>
          <a:p>
            <a:pPr marL="12700" marR="421640">
              <a:lnSpc>
                <a:spcPct val="150000"/>
              </a:lnSpc>
              <a:spcBef>
                <a:spcPts val="1140"/>
              </a:spcBef>
            </a:pPr>
            <a:r>
              <a:rPr sz="2000" b="1" spc="-10" dirty="0">
                <a:latin typeface="Trebuchet MS"/>
                <a:cs typeface="Trebuchet MS"/>
              </a:rPr>
              <a:t>Financial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deals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with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recording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reporting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financial </a:t>
            </a:r>
            <a:r>
              <a:rPr sz="2000" b="1" dirty="0">
                <a:latin typeface="Trebuchet MS"/>
                <a:cs typeface="Trebuchet MS"/>
              </a:rPr>
              <a:t>transactions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per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statutory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requirements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(GAAP)</a:t>
            </a:r>
            <a:endParaRPr sz="200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CBC059-71EC-E33E-7277-2B4AF06C3F30}"/>
                  </a:ext>
                </a:extLst>
              </p14:cNvPr>
              <p14:cNvContentPartPr/>
              <p14:nvPr/>
            </p14:nvContentPartPr>
            <p14:xfrm>
              <a:off x="343080" y="2474640"/>
              <a:ext cx="8258400" cy="2514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CBC059-71EC-E33E-7277-2B4AF06C3F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720" y="2465280"/>
                <a:ext cx="8277120" cy="253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3048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92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Accounting</a:t>
            </a:r>
            <a:r>
              <a:rPr sz="2800" spc="-30" dirty="0"/>
              <a:t> </a:t>
            </a:r>
            <a:r>
              <a:rPr sz="2800" spc="-25" dirty="0"/>
              <a:t>Definition</a:t>
            </a:r>
            <a:r>
              <a:rPr sz="2800" spc="-345" dirty="0"/>
              <a:t> </a:t>
            </a:r>
            <a:r>
              <a:rPr sz="2800" b="0" dirty="0">
                <a:latin typeface="Trebuchet MS"/>
                <a:cs typeface="Trebuchet MS"/>
              </a:rPr>
              <a:t>-</a:t>
            </a:r>
            <a:r>
              <a:rPr sz="2800" b="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Financial</a:t>
            </a:r>
            <a:r>
              <a:rPr sz="2800" spc="-175" dirty="0">
                <a:solidFill>
                  <a:srgbClr val="C00000"/>
                </a:solidFill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Accounting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0240" y="1511553"/>
            <a:ext cx="70408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96035" algn="l"/>
                <a:tab pos="2824480" algn="l"/>
                <a:tab pos="3219450" algn="l"/>
                <a:tab pos="4681220" algn="l"/>
                <a:tab pos="5419090" algn="l"/>
                <a:tab pos="6122035" algn="l"/>
              </a:tabLst>
            </a:pP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Financial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Accounting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99"/>
                </a:solidFill>
                <a:latin typeface="Trebuchet MS"/>
                <a:cs typeface="Trebuchet MS"/>
              </a:rPr>
              <a:t>is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concerned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	</a:t>
            </a:r>
            <a:r>
              <a:rPr sz="2000" b="1" spc="-20" dirty="0">
                <a:solidFill>
                  <a:srgbClr val="000099"/>
                </a:solidFill>
                <a:latin typeface="Trebuchet MS"/>
                <a:cs typeface="Trebuchet MS"/>
              </a:rPr>
              <a:t>with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99"/>
                </a:solidFill>
                <a:latin typeface="Trebuchet MS"/>
                <a:cs typeface="Trebuchet MS"/>
              </a:rPr>
              <a:t>how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entities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financial</a:t>
            </a:r>
            <a:r>
              <a:rPr sz="2000" b="1" spc="-5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statements.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745" y="1511553"/>
            <a:ext cx="9652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prepare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240" y="2426335"/>
            <a:ext cx="818959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1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intended</a:t>
            </a:r>
            <a:r>
              <a:rPr sz="2000" b="1" spc="1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user</a:t>
            </a:r>
            <a:r>
              <a:rPr sz="2000" b="1" spc="1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1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11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11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external</a:t>
            </a:r>
            <a:r>
              <a:rPr sz="2000" b="1" spc="1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11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10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entity (organization).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2000" b="1" spc="114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time</a:t>
            </a:r>
            <a:r>
              <a:rPr sz="2000" b="1" spc="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period</a:t>
            </a:r>
            <a:r>
              <a:rPr sz="2000" b="1" spc="10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for</a:t>
            </a:r>
            <a:r>
              <a:rPr sz="2000" b="1" spc="10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financial</a:t>
            </a:r>
            <a:r>
              <a:rPr sz="2000" b="1" spc="10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accounting</a:t>
            </a:r>
            <a:r>
              <a:rPr sz="2000" b="1" spc="10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is</a:t>
            </a:r>
            <a:r>
              <a:rPr sz="2000" b="1" spc="1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historical.</a:t>
            </a:r>
            <a:r>
              <a:rPr sz="2000" b="1" spc="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It</a:t>
            </a:r>
            <a:r>
              <a:rPr sz="2000" b="1" spc="114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means</a:t>
            </a:r>
            <a:r>
              <a:rPr sz="2000" b="1" spc="114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000099"/>
                </a:solidFill>
                <a:latin typeface="Trebuchet MS"/>
                <a:cs typeface="Trebuchet MS"/>
              </a:rPr>
              <a:t>that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the</a:t>
            </a:r>
            <a:r>
              <a:rPr sz="2000" b="1" spc="17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financial</a:t>
            </a:r>
            <a:r>
              <a:rPr sz="2000" b="1" spc="1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reported</a:t>
            </a:r>
            <a:r>
              <a:rPr sz="2000" b="1" spc="17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statements</a:t>
            </a:r>
            <a:r>
              <a:rPr sz="2000" b="1" spc="16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are</a:t>
            </a:r>
            <a:r>
              <a:rPr sz="2000" b="1" spc="17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constructed</a:t>
            </a:r>
            <a:r>
              <a:rPr sz="2000" b="1" spc="17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based</a:t>
            </a:r>
            <a:r>
              <a:rPr sz="2000" b="1" spc="1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on</a:t>
            </a:r>
            <a:r>
              <a:rPr sz="2000" b="1" spc="17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events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which</a:t>
            </a:r>
            <a:r>
              <a:rPr sz="2000" b="1" spc="-1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have</a:t>
            </a:r>
            <a:r>
              <a:rPr sz="2000" b="1" spc="-3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already</a:t>
            </a:r>
            <a:r>
              <a:rPr sz="2000" b="1" spc="-15" dirty="0">
                <a:solidFill>
                  <a:srgbClr val="000099"/>
                </a:solidFill>
                <a:latin typeface="Trebuchet MS"/>
                <a:cs typeface="Trebuchet MS"/>
              </a:rPr>
              <a:t>  </a:t>
            </a: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happened.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heavily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regulated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standardized</a:t>
            </a:r>
            <a:endParaRPr sz="200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52DAF9-B1EA-315C-7677-A5CA1A821D6F}"/>
                  </a:ext>
                </a:extLst>
              </p14:cNvPr>
              <p14:cNvContentPartPr/>
              <p14:nvPr/>
            </p14:nvContentPartPr>
            <p14:xfrm>
              <a:off x="5389200" y="3137400"/>
              <a:ext cx="2046600" cy="675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52DAF9-B1EA-315C-7677-A5CA1A821D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9840" y="3128040"/>
                <a:ext cx="2065320" cy="69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2313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92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Accounting</a:t>
            </a:r>
            <a:r>
              <a:rPr sz="2800" spc="-30" dirty="0"/>
              <a:t> </a:t>
            </a:r>
            <a:r>
              <a:rPr sz="2800" spc="-25" dirty="0"/>
              <a:t>Definition</a:t>
            </a:r>
            <a:r>
              <a:rPr sz="2800" spc="-345" dirty="0"/>
              <a:t> </a:t>
            </a:r>
            <a:r>
              <a:rPr sz="2800" b="0" dirty="0">
                <a:latin typeface="Trebuchet MS"/>
                <a:cs typeface="Trebuchet MS"/>
              </a:rPr>
              <a:t>-</a:t>
            </a:r>
            <a:r>
              <a:rPr sz="2800" b="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Financial</a:t>
            </a:r>
            <a:r>
              <a:rPr sz="2800" spc="-175" dirty="0">
                <a:solidFill>
                  <a:srgbClr val="C00000"/>
                </a:solidFill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Accounting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50100"/>
              </a:lnSpc>
              <a:spcBef>
                <a:spcPts val="100"/>
              </a:spcBef>
            </a:pPr>
            <a:r>
              <a:rPr dirty="0"/>
              <a:t>Therefore,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Financial</a:t>
            </a:r>
            <a:r>
              <a:rPr spc="-35" dirty="0"/>
              <a:t> </a:t>
            </a:r>
            <a:r>
              <a:rPr dirty="0"/>
              <a:t>Accounting</a:t>
            </a:r>
            <a:r>
              <a:rPr spc="-20" dirty="0"/>
              <a:t> </a:t>
            </a:r>
            <a:r>
              <a:rPr dirty="0"/>
              <a:t>course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introduction</a:t>
            </a:r>
            <a:r>
              <a:rPr spc="-5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dirty="0"/>
              <a:t>fundamental</a:t>
            </a:r>
            <a:r>
              <a:rPr spc="25" dirty="0"/>
              <a:t>  </a:t>
            </a:r>
            <a:r>
              <a:rPr dirty="0"/>
              <a:t>concepts</a:t>
            </a:r>
            <a:r>
              <a:rPr spc="40" dirty="0"/>
              <a:t>  </a:t>
            </a:r>
            <a:r>
              <a:rPr dirty="0"/>
              <a:t>of</a:t>
            </a:r>
            <a:r>
              <a:rPr spc="35" dirty="0"/>
              <a:t>  </a:t>
            </a:r>
            <a:r>
              <a:rPr dirty="0"/>
              <a:t>financial</a:t>
            </a:r>
            <a:r>
              <a:rPr spc="35" dirty="0"/>
              <a:t>  </a:t>
            </a:r>
            <a:r>
              <a:rPr dirty="0"/>
              <a:t>accounting</a:t>
            </a:r>
            <a:r>
              <a:rPr spc="35" dirty="0"/>
              <a:t>  </a:t>
            </a:r>
            <a:r>
              <a:rPr dirty="0"/>
              <a:t>in</a:t>
            </a:r>
            <a:r>
              <a:rPr spc="35" dirty="0"/>
              <a:t>  </a:t>
            </a:r>
            <a:r>
              <a:rPr dirty="0"/>
              <a:t>a</a:t>
            </a:r>
            <a:r>
              <a:rPr spc="35" dirty="0"/>
              <a:t>  </a:t>
            </a:r>
            <a:r>
              <a:rPr spc="-10" dirty="0"/>
              <a:t>management context.</a:t>
            </a:r>
          </a:p>
          <a:p>
            <a:pPr marL="12700" marR="5080" algn="just">
              <a:lnSpc>
                <a:spcPct val="150000"/>
              </a:lnSpc>
            </a:pPr>
            <a:r>
              <a:rPr dirty="0">
                <a:solidFill>
                  <a:srgbClr val="C00000"/>
                </a:solidFill>
              </a:rPr>
              <a:t>The</a:t>
            </a:r>
            <a:r>
              <a:rPr spc="39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course</a:t>
            </a:r>
            <a:r>
              <a:rPr spc="390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will</a:t>
            </a:r>
            <a:r>
              <a:rPr spc="395" dirty="0">
                <a:solidFill>
                  <a:srgbClr val="C00000"/>
                </a:solidFill>
              </a:rPr>
              <a:t> </a:t>
            </a:r>
            <a:r>
              <a:rPr dirty="0"/>
              <a:t>enable</a:t>
            </a:r>
            <a:r>
              <a:rPr spc="370" dirty="0"/>
              <a:t> </a:t>
            </a:r>
            <a:r>
              <a:rPr dirty="0"/>
              <a:t>you</a:t>
            </a:r>
            <a:r>
              <a:rPr spc="409" dirty="0"/>
              <a:t> </a:t>
            </a:r>
            <a:r>
              <a:rPr dirty="0"/>
              <a:t>to</a:t>
            </a:r>
            <a:r>
              <a:rPr spc="405" dirty="0"/>
              <a:t> </a:t>
            </a:r>
            <a:r>
              <a:rPr dirty="0"/>
              <a:t>learn</a:t>
            </a:r>
            <a:r>
              <a:rPr spc="390" dirty="0"/>
              <a:t> </a:t>
            </a:r>
            <a:r>
              <a:rPr dirty="0"/>
              <a:t>how</a:t>
            </a:r>
            <a:r>
              <a:rPr spc="395" dirty="0"/>
              <a:t> </a:t>
            </a:r>
            <a:r>
              <a:rPr dirty="0"/>
              <a:t>accounting</a:t>
            </a:r>
            <a:r>
              <a:rPr spc="395" dirty="0"/>
              <a:t> </a:t>
            </a:r>
            <a:r>
              <a:rPr dirty="0"/>
              <a:t>systems</a:t>
            </a:r>
            <a:r>
              <a:rPr spc="405" dirty="0"/>
              <a:t> </a:t>
            </a:r>
            <a:r>
              <a:rPr spc="-25" dirty="0"/>
              <a:t>are </a:t>
            </a:r>
            <a:r>
              <a:rPr dirty="0"/>
              <a:t>used</a:t>
            </a:r>
            <a:r>
              <a:rPr spc="65" dirty="0"/>
              <a:t> </a:t>
            </a:r>
            <a:r>
              <a:rPr dirty="0"/>
              <a:t>to</a:t>
            </a:r>
            <a:r>
              <a:rPr spc="65" dirty="0"/>
              <a:t> </a:t>
            </a:r>
            <a:r>
              <a:rPr dirty="0"/>
              <a:t>record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spc="-10" dirty="0"/>
              <a:t>day-to-</a:t>
            </a:r>
            <a:r>
              <a:rPr dirty="0"/>
              <a:t>day</a:t>
            </a:r>
            <a:r>
              <a:rPr spc="70" dirty="0"/>
              <a:t> </a:t>
            </a:r>
            <a:r>
              <a:rPr dirty="0"/>
              <a:t>economic</a:t>
            </a:r>
            <a:r>
              <a:rPr spc="70" dirty="0"/>
              <a:t> </a:t>
            </a:r>
            <a:r>
              <a:rPr dirty="0"/>
              <a:t>activities</a:t>
            </a:r>
            <a:r>
              <a:rPr spc="7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business</a:t>
            </a:r>
            <a:r>
              <a:rPr spc="70" dirty="0"/>
              <a:t> </a:t>
            </a:r>
            <a:r>
              <a:rPr spc="-25" dirty="0"/>
              <a:t>and </a:t>
            </a:r>
            <a:r>
              <a:rPr dirty="0"/>
              <a:t>places</a:t>
            </a:r>
            <a:r>
              <a:rPr spc="-35" dirty="0"/>
              <a:t> </a:t>
            </a:r>
            <a:r>
              <a:rPr dirty="0"/>
              <a:t>special</a:t>
            </a:r>
            <a:r>
              <a:rPr spc="-25" dirty="0"/>
              <a:t> </a:t>
            </a:r>
            <a:r>
              <a:rPr dirty="0"/>
              <a:t>emphasis</a:t>
            </a:r>
            <a:r>
              <a:rPr spc="-30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dirty="0"/>
              <a:t>understanding</a:t>
            </a:r>
            <a:r>
              <a:rPr spc="-65" dirty="0"/>
              <a:t> </a:t>
            </a:r>
            <a:r>
              <a:rPr dirty="0"/>
              <a:t>accounting</a:t>
            </a:r>
            <a:r>
              <a:rPr spc="-45" dirty="0"/>
              <a:t> </a:t>
            </a:r>
            <a:r>
              <a:rPr spc="-10" dirty="0"/>
              <a:t>terminology.</a:t>
            </a:r>
          </a:p>
        </p:txBody>
      </p:sp>
    </p:spTree>
    <p:extLst>
      <p:ext uri="{BB962C8B-B14F-4D97-AF65-F5344CB8AC3E}">
        <p14:creationId xmlns:p14="http://schemas.microsoft.com/office/powerpoint/2010/main" val="4096917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92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Accounting</a:t>
            </a:r>
            <a:r>
              <a:rPr sz="2800" spc="-30" dirty="0"/>
              <a:t> </a:t>
            </a:r>
            <a:r>
              <a:rPr sz="2800" spc="-25" dirty="0"/>
              <a:t>Definition</a:t>
            </a:r>
            <a:r>
              <a:rPr sz="2800" spc="-345" dirty="0"/>
              <a:t> </a:t>
            </a:r>
            <a:r>
              <a:rPr sz="2800" b="0" dirty="0">
                <a:latin typeface="Trebuchet MS"/>
                <a:cs typeface="Trebuchet MS"/>
              </a:rPr>
              <a:t>-</a:t>
            </a:r>
            <a:r>
              <a:rPr sz="2800" b="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Financial</a:t>
            </a:r>
            <a:r>
              <a:rPr sz="2800" spc="-175" dirty="0">
                <a:solidFill>
                  <a:srgbClr val="C00000"/>
                </a:solidFill>
              </a:rPr>
              <a:t> </a:t>
            </a:r>
            <a:r>
              <a:rPr sz="2800" spc="-10" dirty="0">
                <a:solidFill>
                  <a:srgbClr val="C00000"/>
                </a:solidFill>
              </a:rPr>
              <a:t>Accounting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50100"/>
              </a:lnSpc>
              <a:spcBef>
                <a:spcPts val="100"/>
              </a:spcBef>
            </a:pPr>
            <a:r>
              <a:rPr spc="-10" dirty="0"/>
              <a:t>You</a:t>
            </a:r>
            <a:r>
              <a:rPr spc="5" dirty="0"/>
              <a:t> </a:t>
            </a:r>
            <a:r>
              <a:rPr dirty="0"/>
              <a:t>will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dirty="0"/>
              <a:t>able to</a:t>
            </a:r>
            <a:r>
              <a:rPr spc="5" dirty="0"/>
              <a:t> </a:t>
            </a:r>
            <a:r>
              <a:rPr dirty="0"/>
              <a:t>learn</a:t>
            </a:r>
            <a:r>
              <a:rPr spc="-10" dirty="0"/>
              <a:t> </a:t>
            </a:r>
            <a:r>
              <a:rPr dirty="0"/>
              <a:t>fundamental</a:t>
            </a:r>
            <a:r>
              <a:rPr spc="-15" dirty="0"/>
              <a:t> </a:t>
            </a:r>
            <a:r>
              <a:rPr dirty="0"/>
              <a:t>accounting</a:t>
            </a:r>
            <a:r>
              <a:rPr spc="-10" dirty="0"/>
              <a:t> </a:t>
            </a:r>
            <a:r>
              <a:rPr dirty="0"/>
              <a:t>concepts and </a:t>
            </a:r>
            <a:r>
              <a:rPr spc="-20" dirty="0"/>
              <a:t>then </a:t>
            </a:r>
            <a:r>
              <a:rPr dirty="0"/>
              <a:t>apply</a:t>
            </a:r>
            <a:r>
              <a:rPr spc="-30" dirty="0"/>
              <a:t>  </a:t>
            </a:r>
            <a:r>
              <a:rPr dirty="0"/>
              <a:t>those</a:t>
            </a:r>
            <a:r>
              <a:rPr spc="-25" dirty="0"/>
              <a:t>  </a:t>
            </a:r>
            <a:r>
              <a:rPr dirty="0"/>
              <a:t>concepts</a:t>
            </a:r>
            <a:r>
              <a:rPr spc="-10" dirty="0"/>
              <a:t>  </a:t>
            </a:r>
            <a:r>
              <a:rPr dirty="0"/>
              <a:t>in</a:t>
            </a:r>
            <a:r>
              <a:rPr spc="-25" dirty="0"/>
              <a:t>  </a:t>
            </a:r>
            <a:r>
              <a:rPr dirty="0"/>
              <a:t>a</a:t>
            </a:r>
            <a:r>
              <a:rPr spc="-20" dirty="0"/>
              <a:t>  </a:t>
            </a:r>
            <a:r>
              <a:rPr dirty="0"/>
              <a:t>detailed</a:t>
            </a:r>
            <a:r>
              <a:rPr spc="-25" dirty="0"/>
              <a:t>  </a:t>
            </a:r>
            <a:r>
              <a:rPr dirty="0"/>
              <a:t>examination</a:t>
            </a:r>
            <a:r>
              <a:rPr spc="-20" dirty="0"/>
              <a:t>  </a:t>
            </a:r>
            <a:r>
              <a:rPr dirty="0"/>
              <a:t>of</a:t>
            </a:r>
            <a:r>
              <a:rPr spc="-25" dirty="0"/>
              <a:t>  </a:t>
            </a:r>
            <a:r>
              <a:rPr dirty="0"/>
              <a:t>the</a:t>
            </a:r>
            <a:r>
              <a:rPr spc="-25" dirty="0"/>
              <a:t>  </a:t>
            </a:r>
            <a:r>
              <a:rPr spc="-10" dirty="0"/>
              <a:t>financial </a:t>
            </a:r>
            <a:r>
              <a:rPr dirty="0"/>
              <a:t>statements</a:t>
            </a:r>
            <a:r>
              <a:rPr spc="-70" dirty="0"/>
              <a:t> </a:t>
            </a:r>
            <a:r>
              <a:rPr dirty="0"/>
              <a:t>used</a:t>
            </a:r>
            <a:r>
              <a:rPr spc="-1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describe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business.</a:t>
            </a: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pc="-10" dirty="0"/>
          </a:p>
          <a:p>
            <a:pPr marL="12700" marR="5080" algn="just">
              <a:lnSpc>
                <a:spcPct val="150000"/>
              </a:lnSpc>
            </a:pPr>
            <a:r>
              <a:rPr dirty="0">
                <a:solidFill>
                  <a:srgbClr val="000099"/>
                </a:solidFill>
              </a:rPr>
              <a:t>In</a:t>
            </a:r>
            <a:r>
              <a:rPr spc="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2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course,</a:t>
            </a:r>
            <a:r>
              <a:rPr spc="2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you</a:t>
            </a:r>
            <a:r>
              <a:rPr spc="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will</a:t>
            </a:r>
            <a:r>
              <a:rPr spc="2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be</a:t>
            </a:r>
            <a:r>
              <a:rPr spc="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presented</a:t>
            </a:r>
            <a:r>
              <a:rPr spc="2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with</a:t>
            </a:r>
            <a:r>
              <a:rPr spc="3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real-</a:t>
            </a:r>
            <a:r>
              <a:rPr dirty="0">
                <a:solidFill>
                  <a:srgbClr val="000099"/>
                </a:solidFill>
              </a:rPr>
              <a:t>world</a:t>
            </a:r>
            <a:r>
              <a:rPr spc="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challenges</a:t>
            </a:r>
            <a:r>
              <a:rPr spc="25" dirty="0">
                <a:solidFill>
                  <a:srgbClr val="000099"/>
                </a:solidFill>
              </a:rPr>
              <a:t> </a:t>
            </a:r>
            <a:r>
              <a:rPr spc="-20" dirty="0">
                <a:solidFill>
                  <a:srgbClr val="000099"/>
                </a:solidFill>
              </a:rPr>
              <a:t>that </a:t>
            </a:r>
            <a:r>
              <a:rPr dirty="0">
                <a:solidFill>
                  <a:srgbClr val="000099"/>
                </a:solidFill>
              </a:rPr>
              <a:t>require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them</a:t>
            </a:r>
            <a:r>
              <a:rPr spc="-2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to</a:t>
            </a:r>
            <a:r>
              <a:rPr spc="-1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interpret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2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financial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data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to</a:t>
            </a:r>
            <a:r>
              <a:rPr spc="-2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find</a:t>
            </a:r>
            <a:r>
              <a:rPr spc="-2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answers.</a:t>
            </a:r>
          </a:p>
        </p:txBody>
      </p:sp>
    </p:spTree>
    <p:extLst>
      <p:ext uri="{BB962C8B-B14F-4D97-AF65-F5344CB8AC3E}">
        <p14:creationId xmlns:p14="http://schemas.microsoft.com/office/powerpoint/2010/main" val="349840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311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Objectives of</a:t>
            </a:r>
            <a:r>
              <a:rPr sz="2400" spc="5" dirty="0"/>
              <a:t> </a:t>
            </a:r>
            <a:r>
              <a:rPr sz="2400" spc="-10" dirty="0"/>
              <a:t>Financial</a:t>
            </a:r>
            <a:r>
              <a:rPr sz="2400" spc="-160" dirty="0"/>
              <a:t> </a:t>
            </a:r>
            <a:r>
              <a:rPr sz="2400" spc="-10" dirty="0"/>
              <a:t>Accounting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47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640" y="1625549"/>
            <a:ext cx="8416925" cy="402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(a)</a:t>
            </a:r>
            <a:r>
              <a:rPr sz="2000" b="1" spc="24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To</a:t>
            </a:r>
            <a:r>
              <a:rPr sz="2000" b="1" spc="26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ascertain</a:t>
            </a:r>
            <a:r>
              <a:rPr sz="2000" b="1" spc="2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the</a:t>
            </a:r>
            <a:r>
              <a:rPr sz="2000" b="1" spc="2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amount</a:t>
            </a:r>
            <a:r>
              <a:rPr sz="2000" b="1" spc="2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of</a:t>
            </a:r>
            <a:r>
              <a:rPr sz="2000" b="1" spc="2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profit</a:t>
            </a:r>
            <a:r>
              <a:rPr sz="2000" b="1" spc="254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or</a:t>
            </a:r>
            <a:r>
              <a:rPr sz="2000" b="1" spc="2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loss</a:t>
            </a:r>
            <a:r>
              <a:rPr sz="2000" b="1" spc="2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made</a:t>
            </a:r>
            <a:r>
              <a:rPr sz="2000" b="1" spc="254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by</a:t>
            </a:r>
            <a:r>
              <a:rPr sz="2000" b="1" spc="2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the</a:t>
            </a:r>
            <a:r>
              <a:rPr sz="2000" b="1" spc="2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business</a:t>
            </a:r>
            <a:endParaRPr sz="2000" dirty="0">
              <a:latin typeface="Trebuchet MS"/>
              <a:cs typeface="Trebuchet MS"/>
            </a:endParaRPr>
          </a:p>
          <a:p>
            <a:pPr marL="12700" marR="120014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i.e.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to</a:t>
            </a:r>
            <a:r>
              <a:rPr sz="2000" b="1" spc="1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compare the</a:t>
            </a:r>
            <a:r>
              <a:rPr sz="2000" b="1" spc="-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income earned</a:t>
            </a:r>
            <a:r>
              <a:rPr sz="2000" b="1" spc="-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versus</a:t>
            </a:r>
            <a:r>
              <a:rPr sz="2000" b="1" spc="-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the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expenses incurred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and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the</a:t>
            </a:r>
            <a:r>
              <a:rPr sz="2000" b="1" spc="-4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net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result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thereof.</a:t>
            </a:r>
            <a:endParaRPr sz="2000" dirty="0">
              <a:latin typeface="Trebuchet MS"/>
              <a:cs typeface="Trebuchet MS"/>
            </a:endParaRPr>
          </a:p>
          <a:p>
            <a:pPr marL="445134" indent="-432434">
              <a:lnSpc>
                <a:spcPct val="100000"/>
              </a:lnSpc>
              <a:spcBef>
                <a:spcPts val="2250"/>
              </a:spcBef>
              <a:buAutoNum type="alphaLcParenBoth" startAt="2"/>
              <a:tabLst>
                <a:tab pos="445134" algn="l"/>
              </a:tabLst>
            </a:pPr>
            <a:r>
              <a:rPr sz="2000" b="1" spc="-10" dirty="0">
                <a:latin typeface="Trebuchet MS"/>
                <a:cs typeface="Trebuchet MS"/>
              </a:rPr>
              <a:t>To</a:t>
            </a:r>
            <a:r>
              <a:rPr sz="2000" b="1" spc="1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know</a:t>
            </a:r>
            <a:r>
              <a:rPr sz="2000" b="1" spc="11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1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1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position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1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business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i.e.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1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assess</a:t>
            </a:r>
            <a:r>
              <a:rPr sz="2000" b="1" spc="14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what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business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owns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what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owes.</a:t>
            </a:r>
            <a:endParaRPr sz="2000" dirty="0">
              <a:latin typeface="Trebuchet MS"/>
              <a:cs typeface="Trebuchet MS"/>
            </a:endParaRPr>
          </a:p>
          <a:p>
            <a:pPr marL="501650" indent="-488950">
              <a:lnSpc>
                <a:spcPct val="100000"/>
              </a:lnSpc>
              <a:spcBef>
                <a:spcPts val="1745"/>
              </a:spcBef>
              <a:buAutoNum type="alphaLcParenBoth" startAt="3"/>
              <a:tabLst>
                <a:tab pos="501650" algn="l"/>
                <a:tab pos="943610" algn="l"/>
                <a:tab pos="2030095" algn="l"/>
                <a:tab pos="2339975" algn="l"/>
                <a:tab pos="3295650" algn="l"/>
                <a:tab pos="3816985" algn="l"/>
                <a:tab pos="5342890" algn="l"/>
                <a:tab pos="6042025" algn="l"/>
                <a:tab pos="7165975" algn="l"/>
                <a:tab pos="7770495" algn="l"/>
              </a:tabLst>
            </a:pP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To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provide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50" dirty="0">
                <a:solidFill>
                  <a:srgbClr val="0000CC"/>
                </a:solidFill>
                <a:latin typeface="Trebuchet MS"/>
                <a:cs typeface="Trebuchet MS"/>
              </a:rPr>
              <a:t>a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record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for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compliance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0" dirty="0">
                <a:solidFill>
                  <a:srgbClr val="0000CC"/>
                </a:solidFill>
                <a:latin typeface="Trebuchet MS"/>
                <a:cs typeface="Trebuchet MS"/>
              </a:rPr>
              <a:t>with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statutes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and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20" dirty="0">
                <a:solidFill>
                  <a:srgbClr val="0000CC"/>
                </a:solidFill>
                <a:latin typeface="Trebuchet MS"/>
                <a:cs typeface="Trebuchet MS"/>
              </a:rPr>
              <a:t>laws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applicable.</a:t>
            </a:r>
            <a:endParaRPr sz="2000" dirty="0">
              <a:latin typeface="Trebuchet MS"/>
              <a:cs typeface="Trebuchet MS"/>
            </a:endParaRPr>
          </a:p>
          <a:p>
            <a:pPr marL="474345" indent="-461645">
              <a:lnSpc>
                <a:spcPct val="100000"/>
              </a:lnSpc>
              <a:spcBef>
                <a:spcPts val="1745"/>
              </a:spcBef>
              <a:buAutoNum type="alphaLcParenBoth" startAt="4"/>
              <a:tabLst>
                <a:tab pos="474345" algn="l"/>
                <a:tab pos="870585" algn="l"/>
                <a:tab pos="1795780" algn="l"/>
                <a:tab pos="3719195" algn="l"/>
                <a:tab pos="6469380" algn="l"/>
              </a:tabLst>
            </a:pPr>
            <a:r>
              <a:rPr sz="2000" b="1" spc="-25" dirty="0">
                <a:latin typeface="Trebuchet MS"/>
                <a:cs typeface="Trebuchet MS"/>
              </a:rPr>
              <a:t>To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enable</a:t>
            </a:r>
            <a:r>
              <a:rPr sz="2000" b="1" dirty="0">
                <a:latin typeface="Trebuchet MS"/>
                <a:cs typeface="Trebuchet MS"/>
              </a:rPr>
              <a:t>	the</a:t>
            </a:r>
            <a:r>
              <a:rPr sz="2000" b="1" spc="3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readers</a:t>
            </a:r>
            <a:r>
              <a:rPr sz="2000" b="1" spc="37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to</a:t>
            </a:r>
            <a:r>
              <a:rPr sz="2000" b="1" dirty="0">
                <a:latin typeface="Trebuchet MS"/>
                <a:cs typeface="Trebuchet MS"/>
              </a:rPr>
              <a:t>	assess</a:t>
            </a:r>
            <a:r>
              <a:rPr sz="2000" b="1" spc="3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progress</a:t>
            </a:r>
            <a:r>
              <a:rPr sz="2000" b="1" spc="36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made</a:t>
            </a:r>
            <a:r>
              <a:rPr sz="2000" b="1" dirty="0">
                <a:latin typeface="Trebuchet MS"/>
                <a:cs typeface="Trebuchet MS"/>
              </a:rPr>
              <a:t>	by</a:t>
            </a:r>
            <a:r>
              <a:rPr sz="2000" b="1" spc="3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38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business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over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period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time.</a:t>
            </a:r>
            <a:endParaRPr sz="2000" dirty="0">
              <a:latin typeface="Trebuchet MS"/>
              <a:cs typeface="Trebuchet MS"/>
            </a:endParaRPr>
          </a:p>
          <a:p>
            <a:pPr marL="415925" indent="-403225">
              <a:lnSpc>
                <a:spcPct val="100000"/>
              </a:lnSpc>
              <a:spcBef>
                <a:spcPts val="1745"/>
              </a:spcBef>
              <a:buAutoNum type="alphaLcParenBoth" startAt="5"/>
              <a:tabLst>
                <a:tab pos="415925" algn="l"/>
              </a:tabLst>
            </a:pPr>
            <a:r>
              <a:rPr sz="2000" b="1" spc="-145" dirty="0">
                <a:solidFill>
                  <a:srgbClr val="0000CC"/>
                </a:solidFill>
                <a:latin typeface="Trebuchet MS"/>
                <a:cs typeface="Trebuchet MS"/>
              </a:rPr>
              <a:t>To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disclose</a:t>
            </a:r>
            <a:r>
              <a:rPr sz="2000" b="1" spc="-3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information</a:t>
            </a:r>
            <a:r>
              <a:rPr sz="2000" b="1" spc="-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needed</a:t>
            </a:r>
            <a:r>
              <a:rPr sz="2000" b="1" spc="-3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by</a:t>
            </a:r>
            <a:r>
              <a:rPr sz="2000" b="1" spc="-3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different</a:t>
            </a:r>
            <a:r>
              <a:rPr sz="2000" b="1" spc="-5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stakeholders.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288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538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Financial</a:t>
            </a:r>
            <a:r>
              <a:rPr sz="2400" spc="-175" dirty="0"/>
              <a:t> </a:t>
            </a:r>
            <a:r>
              <a:rPr sz="2400" dirty="0"/>
              <a:t>Accounting</a:t>
            </a:r>
            <a:r>
              <a:rPr sz="2400" spc="-30" dirty="0"/>
              <a:t> </a:t>
            </a:r>
            <a:r>
              <a:rPr sz="2400" dirty="0"/>
              <a:t>–</a:t>
            </a:r>
            <a:r>
              <a:rPr sz="2400" spc="-15" dirty="0"/>
              <a:t> </a:t>
            </a:r>
            <a:r>
              <a:rPr sz="2400" dirty="0">
                <a:solidFill>
                  <a:srgbClr val="C00000"/>
                </a:solidFill>
              </a:rPr>
              <a:t>Process</a:t>
            </a:r>
            <a:r>
              <a:rPr sz="2400" spc="5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(Cycles)</a:t>
            </a:r>
            <a:endParaRPr sz="2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35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2201672"/>
            <a:ext cx="16897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  <a:tab pos="1187450" algn="l"/>
              </a:tabLst>
            </a:pPr>
            <a:r>
              <a:rPr sz="2000" b="1" spc="-25" dirty="0">
                <a:latin typeface="Trebuchet MS"/>
                <a:cs typeface="Trebuchet MS"/>
              </a:rPr>
              <a:t>1.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first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1966" y="2201672"/>
            <a:ext cx="23901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2630" algn="l"/>
                <a:tab pos="1156970" algn="l"/>
                <a:tab pos="1760855" algn="l"/>
              </a:tabLst>
            </a:pPr>
            <a:r>
              <a:rPr sz="2000" b="1" spc="-20" dirty="0">
                <a:latin typeface="Trebuchet MS"/>
                <a:cs typeface="Trebuchet MS"/>
              </a:rPr>
              <a:t>step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in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0" dirty="0">
                <a:latin typeface="Trebuchet MS"/>
                <a:cs typeface="Trebuchet MS"/>
              </a:rPr>
              <a:t>cycle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3589" y="2201672"/>
            <a:ext cx="17672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0375" algn="l"/>
              </a:tabLst>
            </a:pPr>
            <a:r>
              <a:rPr sz="2000" b="1" spc="-25" dirty="0">
                <a:latin typeface="Trebuchet MS"/>
                <a:cs typeface="Trebuchet MS"/>
              </a:rPr>
              <a:t>of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accounting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1642" y="2201672"/>
            <a:ext cx="179641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393065" algn="l"/>
                <a:tab pos="845185" algn="l"/>
              </a:tabLst>
            </a:pPr>
            <a:r>
              <a:rPr sz="2000" b="1" spc="-25" dirty="0">
                <a:latin typeface="Trebuchet MS"/>
                <a:cs typeface="Trebuchet MS"/>
              </a:rPr>
              <a:t>is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identify</a:t>
            </a:r>
            <a:endParaRPr sz="2000">
              <a:latin typeface="Trebuchet MS"/>
              <a:cs typeface="Trebuchet MS"/>
            </a:endParaRPr>
          </a:p>
          <a:p>
            <a:pPr marR="6350" algn="r">
              <a:lnSpc>
                <a:spcPct val="100000"/>
              </a:lnSpc>
              <a:tabLst>
                <a:tab pos="605155" algn="l"/>
              </a:tabLst>
            </a:pPr>
            <a:r>
              <a:rPr sz="2000" b="1" spc="-20" dirty="0">
                <a:latin typeface="Trebuchet MS"/>
                <a:cs typeface="Trebuchet MS"/>
              </a:rPr>
              <a:t>will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be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5656" y="2506167"/>
            <a:ext cx="65932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32585" algn="l"/>
                <a:tab pos="2246630" algn="l"/>
                <a:tab pos="3369945" algn="l"/>
                <a:tab pos="4252595" algn="l"/>
                <a:tab pos="5139690" algn="l"/>
              </a:tabLst>
            </a:pP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transactions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	</a:t>
            </a: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account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under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which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transactions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Trebuchet MS"/>
                <a:cs typeface="Trebuchet MS"/>
              </a:rPr>
              <a:t>recorded.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240" y="3421126"/>
            <a:ext cx="8188959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rebuchet MS"/>
                <a:cs typeface="Trebuchet MS"/>
              </a:rPr>
              <a:t>Transactions</a:t>
            </a:r>
            <a:r>
              <a:rPr sz="2000" b="1" spc="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having</a:t>
            </a:r>
            <a:r>
              <a:rPr sz="2000" b="1" spc="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impact</a:t>
            </a:r>
            <a:r>
              <a:rPr sz="2000" b="1" spc="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only</a:t>
            </a:r>
            <a:r>
              <a:rPr sz="2000" b="1" spc="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be</a:t>
            </a:r>
            <a:r>
              <a:rPr sz="2000" b="1" spc="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recorded.</a:t>
            </a:r>
            <a:r>
              <a:rPr sz="2000" b="1" spc="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There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three</a:t>
            </a: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types</a:t>
            </a:r>
            <a:r>
              <a:rPr sz="200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10" dirty="0">
                <a:latin typeface="Trebuchet MS"/>
                <a:cs typeface="Trebuchet MS"/>
              </a:rPr>
              <a:t> accounts</a:t>
            </a:r>
            <a:endParaRPr sz="200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A16542-E7D5-A0F9-1421-A81A7D9314E8}"/>
                  </a:ext>
                </a:extLst>
              </p14:cNvPr>
              <p14:cNvContentPartPr/>
              <p14:nvPr/>
            </p14:nvContentPartPr>
            <p14:xfrm>
              <a:off x="1537560" y="4086360"/>
              <a:ext cx="1200240" cy="40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A16542-E7D5-A0F9-1421-A81A7D9314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8200" y="4077000"/>
                <a:ext cx="1218960" cy="5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8032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5549"/>
            <a:ext cx="818832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4495" algn="l"/>
                <a:tab pos="1677035" algn="l"/>
                <a:tab pos="2223770" algn="l"/>
                <a:tab pos="3512185" algn="l"/>
                <a:tab pos="3900804" algn="l"/>
                <a:tab pos="4446270" algn="l"/>
                <a:tab pos="5595620" algn="l"/>
                <a:tab pos="7183755" algn="l"/>
              </a:tabLst>
            </a:pP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Secondly,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recording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of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business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transactions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(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Journal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Entry)</a:t>
            </a:r>
            <a:r>
              <a:rPr sz="2000" b="1" spc="-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done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based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on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Golden</a:t>
            </a:r>
            <a:r>
              <a:rPr sz="200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Rules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of</a:t>
            </a:r>
            <a:r>
              <a:rPr sz="2000" b="1" spc="-1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Accounting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320" y="2897886"/>
            <a:ext cx="7447651" cy="25109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9144" y="2427859"/>
            <a:ext cx="1939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rebuchet MS"/>
                <a:cs typeface="Trebuchet MS"/>
              </a:rPr>
              <a:t>Types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of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Accounts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36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23128" y="2313559"/>
            <a:ext cx="1316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Golden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Rule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38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Financial</a:t>
            </a:r>
            <a:r>
              <a:rPr sz="2400" spc="-145" dirty="0"/>
              <a:t> </a:t>
            </a:r>
            <a:r>
              <a:rPr sz="2400" dirty="0"/>
              <a:t>Accounting -</a:t>
            </a:r>
            <a:r>
              <a:rPr sz="2400" spc="20" dirty="0"/>
              <a:t> </a:t>
            </a:r>
            <a:r>
              <a:rPr sz="2400" spc="-10" dirty="0">
                <a:solidFill>
                  <a:srgbClr val="C00000"/>
                </a:solidFill>
              </a:rPr>
              <a:t>Process</a:t>
            </a:r>
            <a:endParaRPr sz="2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5602ED3-44A7-B0DF-1237-F57DEFF3576C}"/>
                  </a:ext>
                </a:extLst>
              </p14:cNvPr>
              <p14:cNvContentPartPr/>
              <p14:nvPr/>
            </p14:nvContentPartPr>
            <p14:xfrm>
              <a:off x="703080" y="165600"/>
              <a:ext cx="8007120" cy="5481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5602ED3-44A7-B0DF-1237-F57DEFF357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720" y="156240"/>
                <a:ext cx="8025840" cy="549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3164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15236"/>
            <a:ext cx="818832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Transaction</a:t>
            </a:r>
            <a:r>
              <a:rPr sz="2000" b="1" spc="3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4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similar</a:t>
            </a:r>
            <a:r>
              <a:rPr sz="2000" b="1" spc="3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nature</a:t>
            </a:r>
            <a:r>
              <a:rPr sz="2000" b="1" spc="3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3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grouped</a:t>
            </a:r>
            <a:r>
              <a:rPr sz="2000" b="1" spc="4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together</a:t>
            </a:r>
            <a:r>
              <a:rPr sz="2000" b="1" spc="4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9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recorded </a:t>
            </a:r>
            <a:r>
              <a:rPr sz="2000" b="1" dirty="0">
                <a:latin typeface="Trebuchet MS"/>
                <a:cs typeface="Trebuchet MS"/>
              </a:rPr>
              <a:t>accordingly</a:t>
            </a:r>
            <a:r>
              <a:rPr sz="2000" b="1" spc="1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Ledger</a:t>
            </a:r>
            <a:r>
              <a:rPr sz="2000" b="1" spc="20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or</a:t>
            </a:r>
            <a:r>
              <a:rPr sz="2000" b="1" spc="1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Books</a:t>
            </a:r>
            <a:r>
              <a:rPr sz="2000" b="1" spc="204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of</a:t>
            </a:r>
            <a:r>
              <a:rPr sz="2000" b="1" spc="1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Accounts</a:t>
            </a:r>
            <a:r>
              <a:rPr sz="2000" b="1" dirty="0">
                <a:latin typeface="Trebuchet MS"/>
                <a:cs typeface="Trebuchet MS"/>
              </a:rPr>
              <a:t>).</a:t>
            </a:r>
            <a:r>
              <a:rPr sz="2000" b="1" spc="2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e.g.</a:t>
            </a:r>
            <a:r>
              <a:rPr sz="2000" b="1" spc="2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Sales</a:t>
            </a:r>
            <a:r>
              <a:rPr sz="2000" b="1" spc="19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Transactions, </a:t>
            </a:r>
            <a:r>
              <a:rPr sz="2000" b="1" dirty="0">
                <a:latin typeface="Trebuchet MS"/>
                <a:cs typeface="Trebuchet MS"/>
              </a:rPr>
              <a:t>Purchase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Transactions,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Cash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Transactions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etc.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37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Financial</a:t>
            </a:r>
            <a:r>
              <a:rPr sz="2400" spc="-145" dirty="0"/>
              <a:t> </a:t>
            </a:r>
            <a:r>
              <a:rPr sz="2400" dirty="0"/>
              <a:t>Accounting -</a:t>
            </a:r>
            <a:r>
              <a:rPr sz="2400" spc="20" dirty="0"/>
              <a:t> </a:t>
            </a:r>
            <a:r>
              <a:rPr sz="2400" spc="-10" dirty="0">
                <a:solidFill>
                  <a:srgbClr val="C00000"/>
                </a:solidFill>
              </a:rPr>
              <a:t>Process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10565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50977"/>
            <a:ext cx="8187690" cy="2769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90"/>
              </a:spcBef>
            </a:pP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3.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Thirdly,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transactions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increase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number,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will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be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difficult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understand</a:t>
            </a:r>
            <a:r>
              <a:rPr sz="2000" b="1" spc="-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combined</a:t>
            </a:r>
            <a:r>
              <a:rPr sz="2000" b="1" spc="-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effect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same</a:t>
            </a:r>
            <a:r>
              <a:rPr sz="2000" b="1" spc="-3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by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referring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spc="-25" dirty="0">
                <a:latin typeface="Trebuchet MS"/>
                <a:cs typeface="Trebuchet MS"/>
              </a:rPr>
              <a:t>to </a:t>
            </a:r>
            <a:r>
              <a:rPr sz="2000" b="1" dirty="0">
                <a:latin typeface="Trebuchet MS"/>
                <a:cs typeface="Trebuchet MS"/>
              </a:rPr>
              <a:t>individual</a:t>
            </a:r>
            <a:r>
              <a:rPr sz="2000" b="1" spc="-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records.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Hence,</a:t>
            </a:r>
            <a:r>
              <a:rPr sz="2000" b="1" spc="1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1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art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1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11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also</a:t>
            </a:r>
            <a:r>
              <a:rPr sz="2000" b="1" spc="1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involves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step</a:t>
            </a:r>
            <a:r>
              <a:rPr sz="2000" b="1" spc="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145" dirty="0"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summarizing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b="1" spc="-20" dirty="0">
                <a:solidFill>
                  <a:srgbClr val="0000CC"/>
                </a:solidFill>
                <a:latin typeface="Trebuchet MS"/>
                <a:cs typeface="Trebuchet MS"/>
              </a:rPr>
              <a:t>(Trial</a:t>
            </a:r>
            <a:r>
              <a:rPr sz="2000" b="1" spc="-3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Balance)</a:t>
            </a:r>
            <a:r>
              <a:rPr sz="2000" b="1" spc="-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them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reporting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terms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statements.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38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38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Financial</a:t>
            </a:r>
            <a:r>
              <a:rPr sz="2400" spc="-145" dirty="0"/>
              <a:t> </a:t>
            </a:r>
            <a:r>
              <a:rPr sz="2400" dirty="0"/>
              <a:t>Accounting -</a:t>
            </a:r>
            <a:r>
              <a:rPr sz="2400" spc="20" dirty="0"/>
              <a:t> </a:t>
            </a:r>
            <a:r>
              <a:rPr sz="2400" spc="-10" dirty="0">
                <a:solidFill>
                  <a:srgbClr val="C00000"/>
                </a:solidFill>
              </a:rPr>
              <a:t>Process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62190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465DB66-74B8-48D5-B1FD-268A1E05D2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" y="1493838"/>
          <a:ext cx="8534400" cy="4678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126F-FA46-4BFF-BEE7-FAD16E5B6E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Accounting Cycle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B51ABF-2AAE-4F89-AD27-EC09CC66B8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19/11/2021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88351-1E83-4BA5-9824-B8B2183E3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Introduction to Accounting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19F55-DA70-44D4-8076-68E4D5AAB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9C9154-AE58-D2DD-E500-BE21578B724C}"/>
                  </a:ext>
                </a:extLst>
              </p14:cNvPr>
              <p14:cNvContentPartPr/>
              <p14:nvPr/>
            </p14:nvContentPartPr>
            <p14:xfrm>
              <a:off x="537120" y="1423080"/>
              <a:ext cx="8401680" cy="400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9C9154-AE58-D2DD-E500-BE21578B72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7760" y="1413720"/>
                <a:ext cx="8420400" cy="401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6066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20500"/>
            <a:ext cx="8187055" cy="379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Lastly,</a:t>
            </a:r>
            <a:r>
              <a:rPr sz="2000" b="1" spc="-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-2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process</a:t>
            </a:r>
            <a:r>
              <a:rPr sz="2000" b="1" spc="-2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provides</a:t>
            </a:r>
            <a:r>
              <a:rPr sz="2000" b="1" spc="-2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users</a:t>
            </a:r>
            <a:r>
              <a:rPr sz="2000" b="1" spc="-2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with</a:t>
            </a:r>
            <a:r>
              <a:rPr sz="2000" b="1" spc="-35" dirty="0">
                <a:latin typeface="Trebuchet MS"/>
                <a:cs typeface="Trebuchet MS"/>
              </a:rPr>
              <a:t>  </a:t>
            </a:r>
            <a:r>
              <a:rPr sz="2000" b="1" spc="-10" dirty="0">
                <a:latin typeface="Trebuchet MS"/>
                <a:cs typeface="Trebuchet MS"/>
              </a:rPr>
              <a:t>financial </a:t>
            </a:r>
            <a:r>
              <a:rPr sz="2000" b="1" dirty="0">
                <a:latin typeface="Trebuchet MS"/>
                <a:cs typeface="Trebuchet MS"/>
              </a:rPr>
              <a:t>statements</a:t>
            </a:r>
            <a:r>
              <a:rPr sz="2000" b="1" spc="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which</a:t>
            </a:r>
            <a:r>
              <a:rPr sz="2000" b="1" spc="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will</a:t>
            </a:r>
            <a:r>
              <a:rPr sz="2000" b="1" spc="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describe</a:t>
            </a:r>
            <a:r>
              <a:rPr sz="2000" b="1" spc="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what</a:t>
            </a:r>
            <a:r>
              <a:rPr sz="2000" b="1" spc="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has</a:t>
            </a:r>
            <a:r>
              <a:rPr sz="2000" b="1" spc="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happened</a:t>
            </a:r>
            <a:r>
              <a:rPr sz="2000" b="1" spc="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9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business. </a:t>
            </a:r>
            <a:r>
              <a:rPr sz="2000" b="1" dirty="0">
                <a:latin typeface="Trebuchet MS"/>
                <a:cs typeface="Trebuchet MS"/>
              </a:rPr>
              <a:t>Remember</a:t>
            </a:r>
            <a:r>
              <a:rPr sz="2000" b="1" spc="2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two</a:t>
            </a:r>
            <a:r>
              <a:rPr sz="2000" b="1" spc="26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basic</a:t>
            </a:r>
            <a:r>
              <a:rPr sz="2000" b="1" spc="254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questions</a:t>
            </a:r>
            <a:r>
              <a:rPr sz="2000" b="1" spc="24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we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talked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about,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one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24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know </a:t>
            </a:r>
            <a:r>
              <a:rPr sz="2000" b="1" dirty="0">
                <a:latin typeface="Trebuchet MS"/>
                <a:cs typeface="Trebuchet MS"/>
              </a:rPr>
              <a:t>whether</a:t>
            </a:r>
            <a:r>
              <a:rPr sz="2000" b="1" spc="26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(1)</a:t>
            </a:r>
            <a:r>
              <a:rPr sz="2000" b="1" spc="27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business</a:t>
            </a:r>
            <a:r>
              <a:rPr sz="2000" b="1" spc="27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has</a:t>
            </a:r>
            <a:r>
              <a:rPr sz="2000" b="1" spc="27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made</a:t>
            </a:r>
            <a:r>
              <a:rPr sz="2000" b="1" spc="26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profit</a:t>
            </a:r>
            <a:r>
              <a:rPr sz="2000" b="1" spc="26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or</a:t>
            </a:r>
            <a:r>
              <a:rPr sz="2000" b="1" spc="2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loss</a:t>
            </a:r>
            <a:r>
              <a:rPr sz="2000" b="1" spc="26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2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(2)</a:t>
            </a:r>
            <a:r>
              <a:rPr sz="2000" b="1" spc="27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2000" b="1" spc="2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other</a:t>
            </a:r>
            <a:r>
              <a:rPr sz="2000" b="1" spc="2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to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know</a:t>
            </a:r>
            <a:r>
              <a:rPr sz="200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200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position</a:t>
            </a: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of</a:t>
            </a:r>
            <a:r>
              <a:rPr sz="200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resources</a:t>
            </a: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that</a:t>
            </a:r>
            <a:r>
              <a:rPr sz="2000" b="1" spc="-1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are</a:t>
            </a: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used by</a:t>
            </a:r>
            <a:r>
              <a:rPr sz="2000" b="1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 business.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>
              <a:latin typeface="Trebuchet MS"/>
              <a:cs typeface="Trebuchet MS"/>
            </a:endParaRPr>
          </a:p>
          <a:p>
            <a:pPr marL="584200" indent="-457200">
              <a:lnSpc>
                <a:spcPct val="100000"/>
              </a:lnSpc>
              <a:buAutoNum type="arabicPeriod"/>
              <a:tabLst>
                <a:tab pos="584200" algn="l"/>
              </a:tabLst>
            </a:pPr>
            <a:r>
              <a:rPr sz="2000" b="1" dirty="0">
                <a:latin typeface="Trebuchet MS"/>
                <a:cs typeface="Trebuchet MS"/>
              </a:rPr>
              <a:t>Statement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Income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&amp;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Expenditure</a:t>
            </a:r>
            <a:endParaRPr sz="2000">
              <a:latin typeface="Trebuchet MS"/>
              <a:cs typeface="Trebuchet MS"/>
            </a:endParaRPr>
          </a:p>
          <a:p>
            <a:pPr marL="584200" indent="-457200">
              <a:lnSpc>
                <a:spcPct val="100000"/>
              </a:lnSpc>
              <a:buAutoNum type="arabicPeriod"/>
              <a:tabLst>
                <a:tab pos="584200" algn="l"/>
              </a:tabLst>
            </a:pPr>
            <a:r>
              <a:rPr sz="2000" b="1" dirty="0">
                <a:latin typeface="Trebuchet MS"/>
                <a:cs typeface="Trebuchet MS"/>
              </a:rPr>
              <a:t>Statement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Sources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&amp;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Application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Funds</a:t>
            </a:r>
            <a:endParaRPr sz="2000">
              <a:latin typeface="Trebuchet MS"/>
              <a:cs typeface="Trebuchet MS"/>
            </a:endParaRPr>
          </a:p>
          <a:p>
            <a:pPr marL="5842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84200" algn="l"/>
              </a:tabLst>
            </a:pPr>
            <a:r>
              <a:rPr sz="2000" b="1" dirty="0">
                <a:latin typeface="Trebuchet MS"/>
                <a:cs typeface="Trebuchet MS"/>
              </a:rPr>
              <a:t>Cash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Flow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Statement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39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38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Financial</a:t>
            </a:r>
            <a:r>
              <a:rPr sz="2400" spc="-145" dirty="0"/>
              <a:t> </a:t>
            </a:r>
            <a:r>
              <a:rPr sz="2400" dirty="0"/>
              <a:t>Accounting -</a:t>
            </a:r>
            <a:r>
              <a:rPr sz="2400" spc="20" dirty="0"/>
              <a:t> </a:t>
            </a:r>
            <a:r>
              <a:rPr sz="2400" spc="-10" dirty="0">
                <a:solidFill>
                  <a:srgbClr val="C00000"/>
                </a:solidFill>
              </a:rPr>
              <a:t>Process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05860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696595"/>
            <a:ext cx="4944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6280" algn="l"/>
              </a:tabLst>
            </a:pPr>
            <a:r>
              <a:rPr sz="2400" dirty="0"/>
              <a:t>Outcomes</a:t>
            </a:r>
            <a:r>
              <a:rPr sz="2400" spc="-70" dirty="0"/>
              <a:t> </a:t>
            </a:r>
            <a:r>
              <a:rPr sz="2400" spc="-25" dirty="0"/>
              <a:t>of</a:t>
            </a:r>
            <a:r>
              <a:rPr sz="2400" dirty="0"/>
              <a:t>	</a:t>
            </a:r>
            <a:r>
              <a:rPr sz="2400" spc="-10" dirty="0">
                <a:solidFill>
                  <a:srgbClr val="C00000"/>
                </a:solidFill>
              </a:rPr>
              <a:t>Financial</a:t>
            </a:r>
            <a:r>
              <a:rPr sz="2400" spc="-100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Accounting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40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268"/>
            <a:ext cx="6249035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1262380" algn="l"/>
                <a:tab pos="2755900" algn="l"/>
                <a:tab pos="3115945" algn="l"/>
                <a:tab pos="4429760" algn="l"/>
                <a:tab pos="5038090" algn="l"/>
              </a:tabLst>
            </a:pPr>
            <a:r>
              <a:rPr sz="2000" b="1" spc="-10" dirty="0">
                <a:latin typeface="Trebuchet MS"/>
                <a:cs typeface="Trebuchet MS"/>
              </a:rPr>
              <a:t>Financial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Accounting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is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recording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and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reporting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rebuchet MS"/>
                <a:cs typeface="Trebuchet MS"/>
              </a:rPr>
              <a:t>monetary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term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per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statutory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requirement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(GAAP)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45045" y="1721561"/>
            <a:ext cx="18783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28139" algn="l"/>
              </a:tabLst>
            </a:pPr>
            <a:r>
              <a:rPr sz="2000" b="1" spc="-10" dirty="0">
                <a:latin typeface="Trebuchet MS"/>
                <a:cs typeface="Trebuchet MS"/>
              </a:rPr>
              <a:t>transactions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of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240" y="2769235"/>
            <a:ext cx="764095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Outcome</a:t>
            </a:r>
            <a:r>
              <a:rPr sz="2000" b="1" spc="1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of </a:t>
            </a:r>
            <a:r>
              <a:rPr sz="2000" b="1" spc="-10" dirty="0">
                <a:solidFill>
                  <a:srgbClr val="006600"/>
                </a:solidFill>
                <a:latin typeface="Trebuchet MS"/>
                <a:cs typeface="Trebuchet MS"/>
              </a:rPr>
              <a:t>Financial</a:t>
            </a:r>
            <a:r>
              <a:rPr sz="2000" b="1" spc="-14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Trebuchet MS"/>
                <a:cs typeface="Trebuchet MS"/>
              </a:rPr>
              <a:t>Accounting: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527685" marR="5080" indent="-515620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000" b="1" dirty="0">
                <a:latin typeface="Trebuchet MS"/>
                <a:cs typeface="Trebuchet MS"/>
              </a:rPr>
              <a:t>Statement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Income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&amp;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Gains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Expenses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(expenditure)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&amp; </a:t>
            </a:r>
            <a:r>
              <a:rPr sz="2000" b="1" dirty="0">
                <a:latin typeface="Trebuchet MS"/>
                <a:cs typeface="Trebuchet MS"/>
              </a:rPr>
              <a:t>Losses,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(Profit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&amp;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Loss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Account)</a:t>
            </a:r>
            <a:endParaRPr sz="2000">
              <a:latin typeface="Trebuchet MS"/>
              <a:cs typeface="Trebuchet MS"/>
            </a:endParaRPr>
          </a:p>
          <a:p>
            <a:pPr marL="527685" marR="5080" indent="-515620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000" b="1" dirty="0">
                <a:latin typeface="Trebuchet MS"/>
                <a:cs typeface="Trebuchet MS"/>
              </a:rPr>
              <a:t>Statement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Sources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&amp;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Application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Fund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(Balance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Sheet) </a:t>
            </a:r>
            <a:r>
              <a:rPr sz="2000" b="1" spc="-25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000" b="1" dirty="0">
                <a:latin typeface="Trebuchet MS"/>
                <a:cs typeface="Trebuchet MS"/>
              </a:rPr>
              <a:t>Cash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Flow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Statement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698871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1156" y="3274656"/>
            <a:ext cx="2581910" cy="2900680"/>
            <a:chOff x="351156" y="3274656"/>
            <a:chExt cx="2581910" cy="2900680"/>
          </a:xfrm>
        </p:grpSpPr>
        <p:sp>
          <p:nvSpPr>
            <p:cNvPr id="3" name="object 3"/>
            <p:cNvSpPr/>
            <p:nvPr/>
          </p:nvSpPr>
          <p:spPr>
            <a:xfrm>
              <a:off x="351156" y="3274656"/>
              <a:ext cx="1739900" cy="2500630"/>
            </a:xfrm>
            <a:custGeom>
              <a:avLst/>
              <a:gdLst/>
              <a:ahLst/>
              <a:cxnLst/>
              <a:rect l="l" t="t" r="r" b="b"/>
              <a:pathLst>
                <a:path w="1739900" h="2500629">
                  <a:moveTo>
                    <a:pt x="0" y="0"/>
                  </a:moveTo>
                  <a:lnTo>
                    <a:pt x="0" y="2245676"/>
                  </a:lnTo>
                  <a:lnTo>
                    <a:pt x="6862" y="2285201"/>
                  </a:lnTo>
                  <a:lnTo>
                    <a:pt x="24196" y="2321241"/>
                  </a:lnTo>
                  <a:lnTo>
                    <a:pt x="66693" y="2393635"/>
                  </a:lnTo>
                  <a:lnTo>
                    <a:pt x="97425" y="2431582"/>
                  </a:lnTo>
                  <a:lnTo>
                    <a:pt x="158890" y="2500504"/>
                  </a:lnTo>
                  <a:lnTo>
                    <a:pt x="560370" y="2497334"/>
                  </a:lnTo>
                  <a:lnTo>
                    <a:pt x="1341450" y="2497334"/>
                  </a:lnTo>
                  <a:lnTo>
                    <a:pt x="1739322" y="2493862"/>
                  </a:lnTo>
                  <a:lnTo>
                    <a:pt x="1739322" y="6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0046" y="5770412"/>
              <a:ext cx="2423160" cy="404495"/>
            </a:xfrm>
            <a:custGeom>
              <a:avLst/>
              <a:gdLst/>
              <a:ahLst/>
              <a:cxnLst/>
              <a:rect l="l" t="t" r="r" b="b"/>
              <a:pathLst>
                <a:path w="2423160" h="404495">
                  <a:moveTo>
                    <a:pt x="1894972" y="0"/>
                  </a:moveTo>
                  <a:lnTo>
                    <a:pt x="0" y="1578"/>
                  </a:lnTo>
                  <a:lnTo>
                    <a:pt x="422082" y="404364"/>
                  </a:lnTo>
                  <a:lnTo>
                    <a:pt x="2422608" y="404364"/>
                  </a:lnTo>
                  <a:lnTo>
                    <a:pt x="189497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2945" y="2215965"/>
            <a:ext cx="3168015" cy="4110354"/>
            <a:chOff x="82945" y="2215965"/>
            <a:chExt cx="3168015" cy="4110354"/>
          </a:xfrm>
        </p:grpSpPr>
        <p:sp>
          <p:nvSpPr>
            <p:cNvPr id="6" name="object 6"/>
            <p:cNvSpPr/>
            <p:nvPr/>
          </p:nvSpPr>
          <p:spPr>
            <a:xfrm>
              <a:off x="985083" y="2520064"/>
              <a:ext cx="2000885" cy="97155"/>
            </a:xfrm>
            <a:custGeom>
              <a:avLst/>
              <a:gdLst/>
              <a:ahLst/>
              <a:cxnLst/>
              <a:rect l="l" t="t" r="r" b="b"/>
              <a:pathLst>
                <a:path w="2000885" h="97155">
                  <a:moveTo>
                    <a:pt x="1947572" y="0"/>
                  </a:moveTo>
                  <a:lnTo>
                    <a:pt x="52967" y="0"/>
                  </a:lnTo>
                  <a:lnTo>
                    <a:pt x="0" y="97069"/>
                  </a:lnTo>
                  <a:lnTo>
                    <a:pt x="2000540" y="97069"/>
                  </a:lnTo>
                  <a:lnTo>
                    <a:pt x="194757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5083" y="2620304"/>
              <a:ext cx="2000885" cy="912494"/>
            </a:xfrm>
            <a:custGeom>
              <a:avLst/>
              <a:gdLst/>
              <a:ahLst/>
              <a:cxnLst/>
              <a:rect l="l" t="t" r="r" b="b"/>
              <a:pathLst>
                <a:path w="2000885" h="912495">
                  <a:moveTo>
                    <a:pt x="2000526" y="0"/>
                  </a:moveTo>
                  <a:lnTo>
                    <a:pt x="0" y="0"/>
                  </a:lnTo>
                  <a:lnTo>
                    <a:pt x="0" y="912415"/>
                  </a:lnTo>
                  <a:lnTo>
                    <a:pt x="2000526" y="912415"/>
                  </a:lnTo>
                  <a:lnTo>
                    <a:pt x="200052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5083" y="3536100"/>
              <a:ext cx="1948180" cy="353695"/>
            </a:xfrm>
            <a:custGeom>
              <a:avLst/>
              <a:gdLst/>
              <a:ahLst/>
              <a:cxnLst/>
              <a:rect l="l" t="t" r="r" b="b"/>
              <a:pathLst>
                <a:path w="1948180" h="353695">
                  <a:moveTo>
                    <a:pt x="1947558" y="0"/>
                  </a:moveTo>
                  <a:lnTo>
                    <a:pt x="0" y="0"/>
                  </a:lnTo>
                  <a:lnTo>
                    <a:pt x="0" y="353462"/>
                  </a:lnTo>
                  <a:lnTo>
                    <a:pt x="1947558" y="353462"/>
                  </a:lnTo>
                  <a:lnTo>
                    <a:pt x="194755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1156" y="3281364"/>
              <a:ext cx="631190" cy="608330"/>
            </a:xfrm>
            <a:custGeom>
              <a:avLst/>
              <a:gdLst/>
              <a:ahLst/>
              <a:cxnLst/>
              <a:rect l="l" t="t" r="r" b="b"/>
              <a:pathLst>
                <a:path w="631190" h="608329">
                  <a:moveTo>
                    <a:pt x="52967" y="0"/>
                  </a:moveTo>
                  <a:lnTo>
                    <a:pt x="30732" y="14468"/>
                  </a:lnTo>
                  <a:lnTo>
                    <a:pt x="13725" y="39196"/>
                  </a:lnTo>
                  <a:lnTo>
                    <a:pt x="3594" y="68922"/>
                  </a:lnTo>
                  <a:lnTo>
                    <a:pt x="0" y="101804"/>
                  </a:lnTo>
                  <a:lnTo>
                    <a:pt x="0" y="304099"/>
                  </a:lnTo>
                  <a:lnTo>
                    <a:pt x="630658" y="608198"/>
                  </a:lnTo>
                  <a:lnTo>
                    <a:pt x="630658" y="252933"/>
                  </a:lnTo>
                  <a:lnTo>
                    <a:pt x="5296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930" y="2215965"/>
              <a:ext cx="944880" cy="4110354"/>
            </a:xfrm>
            <a:custGeom>
              <a:avLst/>
              <a:gdLst/>
              <a:ahLst/>
              <a:cxnLst/>
              <a:rect l="l" t="t" r="r" b="b"/>
              <a:pathLst>
                <a:path w="944880" h="4110354">
                  <a:moveTo>
                    <a:pt x="0" y="0"/>
                  </a:moveTo>
                  <a:lnTo>
                    <a:pt x="0" y="3552552"/>
                  </a:lnTo>
                  <a:lnTo>
                    <a:pt x="838930" y="4109931"/>
                  </a:lnTo>
                  <a:lnTo>
                    <a:pt x="838930" y="3958811"/>
                  </a:lnTo>
                  <a:lnTo>
                    <a:pt x="418482" y="3552552"/>
                  </a:lnTo>
                  <a:lnTo>
                    <a:pt x="357017" y="3483630"/>
                  </a:lnTo>
                  <a:lnTo>
                    <a:pt x="326285" y="3445697"/>
                  </a:lnTo>
                  <a:lnTo>
                    <a:pt x="300781" y="3404594"/>
                  </a:lnTo>
                  <a:lnTo>
                    <a:pt x="266454" y="3337250"/>
                  </a:lnTo>
                  <a:lnTo>
                    <a:pt x="259591" y="3297738"/>
                  </a:lnTo>
                  <a:lnTo>
                    <a:pt x="259591" y="1165625"/>
                  </a:lnTo>
                  <a:lnTo>
                    <a:pt x="263186" y="1122877"/>
                  </a:lnTo>
                  <a:lnTo>
                    <a:pt x="283461" y="1088153"/>
                  </a:lnTo>
                  <a:lnTo>
                    <a:pt x="312559" y="1063425"/>
                  </a:lnTo>
                  <a:lnTo>
                    <a:pt x="891884" y="1318332"/>
                  </a:lnTo>
                  <a:lnTo>
                    <a:pt x="891884" y="404325"/>
                  </a:lnTo>
                  <a:lnTo>
                    <a:pt x="944852" y="304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930" y="2316060"/>
              <a:ext cx="842644" cy="3924935"/>
            </a:xfrm>
            <a:custGeom>
              <a:avLst/>
              <a:gdLst/>
              <a:ahLst/>
              <a:cxnLst/>
              <a:rect l="l" t="t" r="r" b="b"/>
              <a:pathLst>
                <a:path w="842644" h="3924935">
                  <a:moveTo>
                    <a:pt x="0" y="0"/>
                  </a:moveTo>
                  <a:lnTo>
                    <a:pt x="816694" y="279502"/>
                  </a:lnTo>
                  <a:lnTo>
                    <a:pt x="816694" y="1118011"/>
                  </a:lnTo>
                  <a:lnTo>
                    <a:pt x="348520" y="917558"/>
                  </a:lnTo>
                  <a:lnTo>
                    <a:pt x="324651" y="907693"/>
                  </a:lnTo>
                  <a:lnTo>
                    <a:pt x="295552" y="907693"/>
                  </a:lnTo>
                  <a:lnTo>
                    <a:pt x="271683" y="917558"/>
                  </a:lnTo>
                  <a:lnTo>
                    <a:pt x="256323" y="933999"/>
                  </a:lnTo>
                  <a:lnTo>
                    <a:pt x="235722" y="963331"/>
                  </a:lnTo>
                  <a:lnTo>
                    <a:pt x="228859" y="998186"/>
                  </a:lnTo>
                  <a:lnTo>
                    <a:pt x="225591" y="1025939"/>
                  </a:lnTo>
                  <a:lnTo>
                    <a:pt x="225591" y="1058822"/>
                  </a:lnTo>
                  <a:lnTo>
                    <a:pt x="227225" y="1185354"/>
                  </a:lnTo>
                  <a:lnTo>
                    <a:pt x="227225" y="2923217"/>
                  </a:lnTo>
                  <a:lnTo>
                    <a:pt x="225591" y="3181202"/>
                  </a:lnTo>
                  <a:lnTo>
                    <a:pt x="225591" y="3248861"/>
                  </a:lnTo>
                  <a:lnTo>
                    <a:pt x="235722" y="3293121"/>
                  </a:lnTo>
                  <a:lnTo>
                    <a:pt x="249461" y="3324412"/>
                  </a:lnTo>
                  <a:lnTo>
                    <a:pt x="264820" y="3357295"/>
                  </a:lnTo>
                  <a:lnTo>
                    <a:pt x="281827" y="3378472"/>
                  </a:lnTo>
                  <a:lnTo>
                    <a:pt x="302415" y="3405041"/>
                  </a:lnTo>
                  <a:lnTo>
                    <a:pt x="842198" y="3924474"/>
                  </a:lnTo>
                </a:path>
              </a:pathLst>
            </a:custGeom>
            <a:ln w="137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2129" y="6177938"/>
              <a:ext cx="2000885" cy="147955"/>
            </a:xfrm>
            <a:custGeom>
              <a:avLst/>
              <a:gdLst/>
              <a:ahLst/>
              <a:cxnLst/>
              <a:rect l="l" t="t" r="r" b="b"/>
              <a:pathLst>
                <a:path w="2000885" h="147954">
                  <a:moveTo>
                    <a:pt x="2000526" y="0"/>
                  </a:moveTo>
                  <a:lnTo>
                    <a:pt x="0" y="0"/>
                  </a:lnTo>
                  <a:lnTo>
                    <a:pt x="0" y="147958"/>
                  </a:lnTo>
                  <a:lnTo>
                    <a:pt x="2000526" y="147958"/>
                  </a:lnTo>
                  <a:lnTo>
                    <a:pt x="200052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20811" y="2671193"/>
              <a:ext cx="1531620" cy="712470"/>
            </a:xfrm>
            <a:custGeom>
              <a:avLst/>
              <a:gdLst/>
              <a:ahLst/>
              <a:cxnLst/>
              <a:rect l="l" t="t" r="r" b="b"/>
              <a:pathLst>
                <a:path w="1531620" h="712470">
                  <a:moveTo>
                    <a:pt x="1531031" y="0"/>
                  </a:moveTo>
                  <a:lnTo>
                    <a:pt x="0" y="0"/>
                  </a:lnTo>
                  <a:lnTo>
                    <a:pt x="0" y="711975"/>
                  </a:lnTo>
                  <a:lnTo>
                    <a:pt x="1531031" y="711975"/>
                  </a:lnTo>
                  <a:lnTo>
                    <a:pt x="1531031" y="0"/>
                  </a:lnTo>
                  <a:close/>
                </a:path>
              </a:pathLst>
            </a:custGeom>
            <a:solidFill>
              <a:srgbClr val="1F0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20811" y="2671193"/>
              <a:ext cx="1531620" cy="712470"/>
            </a:xfrm>
            <a:custGeom>
              <a:avLst/>
              <a:gdLst/>
              <a:ahLst/>
              <a:cxnLst/>
              <a:rect l="l" t="t" r="r" b="b"/>
              <a:pathLst>
                <a:path w="1531620" h="712470">
                  <a:moveTo>
                    <a:pt x="0" y="711975"/>
                  </a:moveTo>
                  <a:lnTo>
                    <a:pt x="1531031" y="711975"/>
                  </a:lnTo>
                  <a:lnTo>
                    <a:pt x="1531031" y="0"/>
                  </a:lnTo>
                  <a:lnTo>
                    <a:pt x="0" y="0"/>
                  </a:lnTo>
                  <a:lnTo>
                    <a:pt x="0" y="711975"/>
                  </a:lnTo>
                  <a:close/>
                </a:path>
              </a:pathLst>
            </a:custGeom>
            <a:ln w="26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5515" y="3434078"/>
              <a:ext cx="102870" cy="48260"/>
            </a:xfrm>
            <a:custGeom>
              <a:avLst/>
              <a:gdLst/>
              <a:ahLst/>
              <a:cxnLst/>
              <a:rect l="l" t="t" r="r" b="b"/>
              <a:pathLst>
                <a:path w="102869" h="48260">
                  <a:moveTo>
                    <a:pt x="102331" y="0"/>
                  </a:moveTo>
                  <a:lnTo>
                    <a:pt x="0" y="0"/>
                  </a:lnTo>
                  <a:lnTo>
                    <a:pt x="0" y="47739"/>
                  </a:lnTo>
                  <a:lnTo>
                    <a:pt x="102331" y="47739"/>
                  </a:lnTo>
                  <a:lnTo>
                    <a:pt x="102331" y="0"/>
                  </a:lnTo>
                  <a:close/>
                </a:path>
              </a:pathLst>
            </a:custGeom>
            <a:solidFill>
              <a:srgbClr val="1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38051" y="3587055"/>
              <a:ext cx="419100" cy="251460"/>
            </a:xfrm>
            <a:custGeom>
              <a:avLst/>
              <a:gdLst/>
              <a:ahLst/>
              <a:cxnLst/>
              <a:rect l="l" t="t" r="r" b="b"/>
              <a:pathLst>
                <a:path w="419100" h="251460">
                  <a:moveTo>
                    <a:pt x="418487" y="0"/>
                  </a:moveTo>
                  <a:lnTo>
                    <a:pt x="0" y="0"/>
                  </a:lnTo>
                  <a:lnTo>
                    <a:pt x="0" y="251342"/>
                  </a:lnTo>
                  <a:lnTo>
                    <a:pt x="418487" y="251342"/>
                  </a:lnTo>
                  <a:lnTo>
                    <a:pt x="418487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66100" y="3587063"/>
              <a:ext cx="574040" cy="200660"/>
            </a:xfrm>
            <a:custGeom>
              <a:avLst/>
              <a:gdLst/>
              <a:ahLst/>
              <a:cxnLst/>
              <a:rect l="l" t="t" r="r" b="b"/>
              <a:pathLst>
                <a:path w="574039" h="200660">
                  <a:moveTo>
                    <a:pt x="205003" y="0"/>
                  </a:moveTo>
                  <a:lnTo>
                    <a:pt x="0" y="0"/>
                  </a:lnTo>
                  <a:lnTo>
                    <a:pt x="0" y="200431"/>
                  </a:lnTo>
                  <a:lnTo>
                    <a:pt x="205003" y="200431"/>
                  </a:lnTo>
                  <a:lnTo>
                    <a:pt x="205003" y="0"/>
                  </a:lnTo>
                  <a:close/>
                </a:path>
                <a:path w="574039" h="200660">
                  <a:moveTo>
                    <a:pt x="574001" y="0"/>
                  </a:moveTo>
                  <a:lnTo>
                    <a:pt x="369011" y="0"/>
                  </a:lnTo>
                  <a:lnTo>
                    <a:pt x="369011" y="200431"/>
                  </a:lnTo>
                  <a:lnTo>
                    <a:pt x="574001" y="200431"/>
                  </a:lnTo>
                  <a:lnTo>
                    <a:pt x="574001" y="0"/>
                  </a:lnTo>
                  <a:close/>
                </a:path>
              </a:pathLst>
            </a:custGeom>
            <a:solidFill>
              <a:srgbClr val="1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51016" y="3587049"/>
              <a:ext cx="576580" cy="99060"/>
            </a:xfrm>
            <a:custGeom>
              <a:avLst/>
              <a:gdLst/>
              <a:ahLst/>
              <a:cxnLst/>
              <a:rect l="l" t="t" r="r" b="b"/>
              <a:pathLst>
                <a:path w="576580" h="99060">
                  <a:moveTo>
                    <a:pt x="576070" y="0"/>
                  </a:moveTo>
                  <a:lnTo>
                    <a:pt x="0" y="0"/>
                  </a:lnTo>
                  <a:lnTo>
                    <a:pt x="0" y="98640"/>
                  </a:lnTo>
                  <a:lnTo>
                    <a:pt x="576070" y="98640"/>
                  </a:lnTo>
                  <a:lnTo>
                    <a:pt x="5760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3987" y="3637957"/>
              <a:ext cx="208915" cy="149860"/>
            </a:xfrm>
            <a:custGeom>
              <a:avLst/>
              <a:gdLst/>
              <a:ahLst/>
              <a:cxnLst/>
              <a:rect l="l" t="t" r="r" b="b"/>
              <a:pathLst>
                <a:path w="208915" h="149860">
                  <a:moveTo>
                    <a:pt x="208590" y="0"/>
                  </a:moveTo>
                  <a:lnTo>
                    <a:pt x="0" y="0"/>
                  </a:lnTo>
                  <a:lnTo>
                    <a:pt x="0" y="149537"/>
                  </a:lnTo>
                  <a:lnTo>
                    <a:pt x="208590" y="149537"/>
                  </a:lnTo>
                  <a:lnTo>
                    <a:pt x="208590" y="0"/>
                  </a:lnTo>
                  <a:close/>
                </a:path>
              </a:pathLst>
            </a:custGeom>
            <a:solidFill>
              <a:srgbClr val="4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975" y="3895876"/>
              <a:ext cx="2651606" cy="225581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138224" y="2483866"/>
            <a:ext cx="15081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Trebuchet MS"/>
                <a:cs typeface="Trebuchet MS"/>
              </a:rPr>
              <a:t>Profit</a:t>
            </a:r>
            <a:r>
              <a:rPr sz="3200" b="1" spc="-50" dirty="0">
                <a:solidFill>
                  <a:srgbClr val="FFFF00"/>
                </a:solidFill>
                <a:latin typeface="Trebuchet MS"/>
                <a:cs typeface="Trebuchet MS"/>
              </a:rPr>
              <a:t> &amp;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8224" y="2971545"/>
            <a:ext cx="18732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Trebuchet MS"/>
                <a:cs typeface="Trebuchet MS"/>
              </a:rPr>
              <a:t>L</a:t>
            </a:r>
            <a:r>
              <a:rPr sz="3200" b="1" u="heavy" dirty="0">
                <a:solidFill>
                  <a:srgbClr val="FFFF00"/>
                </a:solidFill>
                <a:uFill>
                  <a:solidFill>
                    <a:srgbClr val="1F0000"/>
                  </a:solidFill>
                </a:uFill>
                <a:latin typeface="Trebuchet MS"/>
                <a:cs typeface="Trebuchet MS"/>
              </a:rPr>
              <a:t>os</a:t>
            </a:r>
            <a:r>
              <a:rPr sz="3200" b="1" dirty="0">
                <a:solidFill>
                  <a:srgbClr val="FFFF00"/>
                </a:solidFill>
                <a:latin typeface="Trebuchet MS"/>
                <a:cs typeface="Trebuchet MS"/>
              </a:rPr>
              <a:t>s</a:t>
            </a:r>
            <a:r>
              <a:rPr sz="3200" b="1" u="heavy" spc="-45" dirty="0">
                <a:solidFill>
                  <a:srgbClr val="FFFF00"/>
                </a:solidFill>
                <a:uFill>
                  <a:solidFill>
                    <a:srgbClr val="1F0000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b="1" u="heavy" spc="-10" dirty="0">
                <a:solidFill>
                  <a:srgbClr val="FFFF00"/>
                </a:solidFill>
                <a:uFill>
                  <a:solidFill>
                    <a:srgbClr val="1F0000"/>
                  </a:solidFill>
                </a:uFill>
                <a:latin typeface="Trebuchet MS"/>
                <a:cs typeface="Trebuchet MS"/>
              </a:rPr>
              <a:t>(P/L</a:t>
            </a:r>
            <a:r>
              <a:rPr sz="3200" b="1" spc="-10" dirty="0">
                <a:solidFill>
                  <a:srgbClr val="FFFF00"/>
                </a:solidFill>
                <a:latin typeface="Trebuchet MS"/>
                <a:cs typeface="Trebuchet MS"/>
              </a:rPr>
              <a:t>)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61466" y="2217796"/>
            <a:ext cx="2366645" cy="3429635"/>
            <a:chOff x="6561466" y="2217796"/>
            <a:chExt cx="2366645" cy="3429635"/>
          </a:xfrm>
        </p:grpSpPr>
        <p:sp>
          <p:nvSpPr>
            <p:cNvPr id="24" name="object 24"/>
            <p:cNvSpPr/>
            <p:nvPr/>
          </p:nvSpPr>
          <p:spPr>
            <a:xfrm>
              <a:off x="6576071" y="2232401"/>
              <a:ext cx="2075814" cy="3124200"/>
            </a:xfrm>
            <a:custGeom>
              <a:avLst/>
              <a:gdLst/>
              <a:ahLst/>
              <a:cxnLst/>
              <a:rect l="l" t="t" r="r" b="b"/>
              <a:pathLst>
                <a:path w="2075815" h="3124200">
                  <a:moveTo>
                    <a:pt x="1979162" y="0"/>
                  </a:moveTo>
                  <a:lnTo>
                    <a:pt x="1938816" y="0"/>
                  </a:lnTo>
                  <a:lnTo>
                    <a:pt x="0" y="325749"/>
                  </a:lnTo>
                  <a:lnTo>
                    <a:pt x="0" y="3124125"/>
                  </a:lnTo>
                  <a:lnTo>
                    <a:pt x="2074004" y="2716642"/>
                  </a:lnTo>
                  <a:lnTo>
                    <a:pt x="2074004" y="248007"/>
                  </a:lnTo>
                  <a:lnTo>
                    <a:pt x="2075685" y="124003"/>
                  </a:lnTo>
                  <a:lnTo>
                    <a:pt x="2068680" y="64588"/>
                  </a:lnTo>
                  <a:lnTo>
                    <a:pt x="2044024" y="23795"/>
                  </a:lnTo>
                  <a:lnTo>
                    <a:pt x="2021190" y="9163"/>
                  </a:lnTo>
                  <a:lnTo>
                    <a:pt x="1979162" y="0"/>
                  </a:lnTo>
                  <a:close/>
                </a:path>
              </a:pathLst>
            </a:custGeom>
            <a:solidFill>
              <a:srgbClr val="0000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76071" y="2232401"/>
              <a:ext cx="2075814" cy="3124200"/>
            </a:xfrm>
            <a:custGeom>
              <a:avLst/>
              <a:gdLst/>
              <a:ahLst/>
              <a:cxnLst/>
              <a:rect l="l" t="t" r="r" b="b"/>
              <a:pathLst>
                <a:path w="2075815" h="3124200">
                  <a:moveTo>
                    <a:pt x="0" y="325749"/>
                  </a:moveTo>
                  <a:lnTo>
                    <a:pt x="1884320" y="9156"/>
                  </a:lnTo>
                  <a:lnTo>
                    <a:pt x="1938816" y="0"/>
                  </a:lnTo>
                  <a:lnTo>
                    <a:pt x="1979162" y="0"/>
                  </a:lnTo>
                  <a:lnTo>
                    <a:pt x="2021190" y="9163"/>
                  </a:lnTo>
                  <a:lnTo>
                    <a:pt x="2059855" y="36949"/>
                  </a:lnTo>
                  <a:lnTo>
                    <a:pt x="2074004" y="88827"/>
                  </a:lnTo>
                  <a:lnTo>
                    <a:pt x="2075685" y="124003"/>
                  </a:lnTo>
                  <a:lnTo>
                    <a:pt x="2074004" y="248007"/>
                  </a:lnTo>
                  <a:lnTo>
                    <a:pt x="2074004" y="2716642"/>
                  </a:lnTo>
                  <a:lnTo>
                    <a:pt x="0" y="3124124"/>
                  </a:lnTo>
                  <a:lnTo>
                    <a:pt x="0" y="325749"/>
                  </a:lnTo>
                </a:path>
              </a:pathLst>
            </a:custGeom>
            <a:ln w="287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25459" y="2410056"/>
              <a:ext cx="1888489" cy="3222625"/>
            </a:xfrm>
            <a:custGeom>
              <a:avLst/>
              <a:gdLst/>
              <a:ahLst/>
              <a:cxnLst/>
              <a:rect l="l" t="t" r="r" b="b"/>
              <a:pathLst>
                <a:path w="1888490" h="3222625">
                  <a:moveTo>
                    <a:pt x="1821024" y="0"/>
                  </a:moveTo>
                  <a:lnTo>
                    <a:pt x="1791465" y="0"/>
                  </a:lnTo>
                  <a:lnTo>
                    <a:pt x="1759804" y="1773"/>
                  </a:lnTo>
                  <a:lnTo>
                    <a:pt x="1731646" y="7389"/>
                  </a:lnTo>
                  <a:lnTo>
                    <a:pt x="1696623" y="13154"/>
                  </a:lnTo>
                  <a:lnTo>
                    <a:pt x="0" y="422410"/>
                  </a:lnTo>
                  <a:lnTo>
                    <a:pt x="0" y="3222509"/>
                  </a:lnTo>
                  <a:lnTo>
                    <a:pt x="1761486" y="2707744"/>
                  </a:lnTo>
                  <a:lnTo>
                    <a:pt x="1794827" y="2700280"/>
                  </a:lnTo>
                  <a:lnTo>
                    <a:pt x="1843999" y="2683579"/>
                  </a:lnTo>
                  <a:lnTo>
                    <a:pt x="1868515" y="2665104"/>
                  </a:lnTo>
                  <a:lnTo>
                    <a:pt x="1880983" y="2644855"/>
                  </a:lnTo>
                  <a:lnTo>
                    <a:pt x="1886307" y="2611467"/>
                  </a:lnTo>
                  <a:lnTo>
                    <a:pt x="1886306" y="126072"/>
                  </a:lnTo>
                  <a:lnTo>
                    <a:pt x="1887987" y="81733"/>
                  </a:lnTo>
                  <a:lnTo>
                    <a:pt x="1877200" y="44339"/>
                  </a:lnTo>
                  <a:lnTo>
                    <a:pt x="1863471" y="24091"/>
                  </a:lnTo>
                  <a:lnTo>
                    <a:pt x="1843999" y="9163"/>
                  </a:lnTo>
                  <a:lnTo>
                    <a:pt x="1821024" y="0"/>
                  </a:lnTo>
                  <a:close/>
                </a:path>
              </a:pathLst>
            </a:custGeom>
            <a:solidFill>
              <a:srgbClr val="3E7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25459" y="2410056"/>
              <a:ext cx="1888489" cy="3222625"/>
            </a:xfrm>
            <a:custGeom>
              <a:avLst/>
              <a:gdLst/>
              <a:ahLst/>
              <a:cxnLst/>
              <a:rect l="l" t="t" r="r" b="b"/>
              <a:pathLst>
                <a:path w="1888490" h="3222625">
                  <a:moveTo>
                    <a:pt x="0" y="422410"/>
                  </a:moveTo>
                  <a:lnTo>
                    <a:pt x="0" y="3222509"/>
                  </a:lnTo>
                  <a:lnTo>
                    <a:pt x="1761486" y="2707744"/>
                  </a:lnTo>
                  <a:lnTo>
                    <a:pt x="1794827" y="2700280"/>
                  </a:lnTo>
                  <a:lnTo>
                    <a:pt x="1843999" y="2683579"/>
                  </a:lnTo>
                  <a:lnTo>
                    <a:pt x="1868515" y="2665104"/>
                  </a:lnTo>
                  <a:lnTo>
                    <a:pt x="1880983" y="2644855"/>
                  </a:lnTo>
                  <a:lnTo>
                    <a:pt x="1886307" y="2611467"/>
                  </a:lnTo>
                  <a:lnTo>
                    <a:pt x="1886307" y="2589091"/>
                  </a:lnTo>
                  <a:lnTo>
                    <a:pt x="1886307" y="2553914"/>
                  </a:lnTo>
                  <a:lnTo>
                    <a:pt x="1886307" y="2503825"/>
                  </a:lnTo>
                  <a:lnTo>
                    <a:pt x="1886306" y="126072"/>
                  </a:lnTo>
                  <a:lnTo>
                    <a:pt x="1887987" y="81733"/>
                  </a:lnTo>
                  <a:lnTo>
                    <a:pt x="1877200" y="44339"/>
                  </a:lnTo>
                  <a:lnTo>
                    <a:pt x="1863471" y="24091"/>
                  </a:lnTo>
                  <a:lnTo>
                    <a:pt x="1843999" y="9163"/>
                  </a:lnTo>
                  <a:lnTo>
                    <a:pt x="1821024" y="0"/>
                  </a:lnTo>
                  <a:lnTo>
                    <a:pt x="1791465" y="0"/>
                  </a:lnTo>
                  <a:lnTo>
                    <a:pt x="1759804" y="1773"/>
                  </a:lnTo>
                  <a:lnTo>
                    <a:pt x="1731646" y="7389"/>
                  </a:lnTo>
                  <a:lnTo>
                    <a:pt x="1696623" y="13154"/>
                  </a:lnTo>
                  <a:lnTo>
                    <a:pt x="0" y="422410"/>
                  </a:lnTo>
                </a:path>
              </a:pathLst>
            </a:custGeom>
            <a:ln w="28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37530" y="2563915"/>
              <a:ext cx="332105" cy="288925"/>
            </a:xfrm>
            <a:custGeom>
              <a:avLst/>
              <a:gdLst/>
              <a:ahLst/>
              <a:cxnLst/>
              <a:rect l="l" t="t" r="r" b="b"/>
              <a:pathLst>
                <a:path w="332104" h="288925">
                  <a:moveTo>
                    <a:pt x="235450" y="0"/>
                  </a:moveTo>
                  <a:lnTo>
                    <a:pt x="208875" y="5616"/>
                  </a:lnTo>
                  <a:lnTo>
                    <a:pt x="182650" y="12710"/>
                  </a:lnTo>
                  <a:lnTo>
                    <a:pt x="159773" y="22022"/>
                  </a:lnTo>
                  <a:lnTo>
                    <a:pt x="130172" y="38723"/>
                  </a:lnTo>
                  <a:lnTo>
                    <a:pt x="100234" y="53651"/>
                  </a:lnTo>
                  <a:lnTo>
                    <a:pt x="68616" y="79516"/>
                  </a:lnTo>
                  <a:lnTo>
                    <a:pt x="40360" y="103607"/>
                  </a:lnTo>
                  <a:lnTo>
                    <a:pt x="17483" y="125629"/>
                  </a:lnTo>
                  <a:lnTo>
                    <a:pt x="0" y="146321"/>
                  </a:lnTo>
                  <a:lnTo>
                    <a:pt x="221329" y="288800"/>
                  </a:lnTo>
                  <a:lnTo>
                    <a:pt x="238812" y="270325"/>
                  </a:lnTo>
                  <a:lnTo>
                    <a:pt x="284566" y="207362"/>
                  </a:lnTo>
                  <a:lnTo>
                    <a:pt x="298687" y="183271"/>
                  </a:lnTo>
                  <a:lnTo>
                    <a:pt x="314503" y="160805"/>
                  </a:lnTo>
                  <a:lnTo>
                    <a:pt x="321564" y="137010"/>
                  </a:lnTo>
                  <a:lnTo>
                    <a:pt x="331986" y="94443"/>
                  </a:lnTo>
                  <a:lnTo>
                    <a:pt x="328288" y="73899"/>
                  </a:lnTo>
                  <a:lnTo>
                    <a:pt x="324926" y="53651"/>
                  </a:lnTo>
                  <a:lnTo>
                    <a:pt x="289945" y="12710"/>
                  </a:lnTo>
                  <a:lnTo>
                    <a:pt x="252947" y="1773"/>
                  </a:lnTo>
                  <a:lnTo>
                    <a:pt x="23545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37530" y="2563915"/>
              <a:ext cx="332105" cy="288925"/>
            </a:xfrm>
            <a:custGeom>
              <a:avLst/>
              <a:gdLst/>
              <a:ahLst/>
              <a:cxnLst/>
              <a:rect l="l" t="t" r="r" b="b"/>
              <a:pathLst>
                <a:path w="332104" h="288925">
                  <a:moveTo>
                    <a:pt x="0" y="146321"/>
                  </a:moveTo>
                  <a:lnTo>
                    <a:pt x="40360" y="103607"/>
                  </a:lnTo>
                  <a:lnTo>
                    <a:pt x="100234" y="53651"/>
                  </a:lnTo>
                  <a:lnTo>
                    <a:pt x="130172" y="38723"/>
                  </a:lnTo>
                  <a:lnTo>
                    <a:pt x="159773" y="22022"/>
                  </a:lnTo>
                  <a:lnTo>
                    <a:pt x="182650" y="12710"/>
                  </a:lnTo>
                  <a:lnTo>
                    <a:pt x="208875" y="5616"/>
                  </a:lnTo>
                  <a:lnTo>
                    <a:pt x="235450" y="0"/>
                  </a:lnTo>
                  <a:lnTo>
                    <a:pt x="252947" y="1773"/>
                  </a:lnTo>
                  <a:lnTo>
                    <a:pt x="289945" y="12710"/>
                  </a:lnTo>
                  <a:lnTo>
                    <a:pt x="324926" y="53651"/>
                  </a:lnTo>
                  <a:lnTo>
                    <a:pt x="328288" y="73899"/>
                  </a:lnTo>
                  <a:lnTo>
                    <a:pt x="331986" y="94443"/>
                  </a:lnTo>
                  <a:lnTo>
                    <a:pt x="326595" y="116462"/>
                  </a:lnTo>
                  <a:lnTo>
                    <a:pt x="321564" y="137010"/>
                  </a:lnTo>
                  <a:lnTo>
                    <a:pt x="314503" y="160805"/>
                  </a:lnTo>
                  <a:lnTo>
                    <a:pt x="298687" y="183271"/>
                  </a:lnTo>
                  <a:lnTo>
                    <a:pt x="284566" y="207362"/>
                  </a:lnTo>
                  <a:lnTo>
                    <a:pt x="261689" y="238696"/>
                  </a:lnTo>
                  <a:lnTo>
                    <a:pt x="238812" y="270325"/>
                  </a:lnTo>
                  <a:lnTo>
                    <a:pt x="221329" y="288800"/>
                  </a:lnTo>
                  <a:lnTo>
                    <a:pt x="0" y="146321"/>
                  </a:lnTo>
                </a:path>
              </a:pathLst>
            </a:custGeom>
            <a:ln w="291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32487" y="2541449"/>
              <a:ext cx="332105" cy="289560"/>
            </a:xfrm>
            <a:custGeom>
              <a:avLst/>
              <a:gdLst/>
              <a:ahLst/>
              <a:cxnLst/>
              <a:rect l="l" t="t" r="r" b="b"/>
              <a:pathLst>
                <a:path w="332104" h="289560">
                  <a:moveTo>
                    <a:pt x="254628" y="0"/>
                  </a:moveTo>
                  <a:lnTo>
                    <a:pt x="233433" y="0"/>
                  </a:lnTo>
                  <a:lnTo>
                    <a:pt x="208875" y="3990"/>
                  </a:lnTo>
                  <a:lnTo>
                    <a:pt x="182299" y="11380"/>
                  </a:lnTo>
                  <a:lnTo>
                    <a:pt x="159773" y="24239"/>
                  </a:lnTo>
                  <a:lnTo>
                    <a:pt x="129835" y="37393"/>
                  </a:lnTo>
                  <a:lnTo>
                    <a:pt x="101579" y="55720"/>
                  </a:lnTo>
                  <a:lnTo>
                    <a:pt x="68280" y="79663"/>
                  </a:lnTo>
                  <a:lnTo>
                    <a:pt x="40360" y="103755"/>
                  </a:lnTo>
                  <a:lnTo>
                    <a:pt x="0" y="146321"/>
                  </a:lnTo>
                  <a:lnTo>
                    <a:pt x="219311" y="289243"/>
                  </a:lnTo>
                  <a:lnTo>
                    <a:pt x="238812" y="272542"/>
                  </a:lnTo>
                  <a:lnTo>
                    <a:pt x="261353" y="237365"/>
                  </a:lnTo>
                  <a:lnTo>
                    <a:pt x="284229" y="207510"/>
                  </a:lnTo>
                  <a:lnTo>
                    <a:pt x="312472" y="159475"/>
                  </a:lnTo>
                  <a:lnTo>
                    <a:pt x="321227" y="141000"/>
                  </a:lnTo>
                  <a:lnTo>
                    <a:pt x="328288" y="115135"/>
                  </a:lnTo>
                  <a:lnTo>
                    <a:pt x="331650" y="94443"/>
                  </a:lnTo>
                  <a:lnTo>
                    <a:pt x="329969" y="74195"/>
                  </a:lnTo>
                  <a:lnTo>
                    <a:pt x="324590" y="55720"/>
                  </a:lnTo>
                  <a:lnTo>
                    <a:pt x="314167" y="33402"/>
                  </a:lnTo>
                  <a:lnTo>
                    <a:pt x="301713" y="24239"/>
                  </a:lnTo>
                  <a:lnTo>
                    <a:pt x="291290" y="14927"/>
                  </a:lnTo>
                  <a:lnTo>
                    <a:pt x="275474" y="5764"/>
                  </a:lnTo>
                  <a:lnTo>
                    <a:pt x="25462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32487" y="2541449"/>
              <a:ext cx="332105" cy="289560"/>
            </a:xfrm>
            <a:custGeom>
              <a:avLst/>
              <a:gdLst/>
              <a:ahLst/>
              <a:cxnLst/>
              <a:rect l="l" t="t" r="r" b="b"/>
              <a:pathLst>
                <a:path w="332104" h="289560">
                  <a:moveTo>
                    <a:pt x="0" y="146321"/>
                  </a:moveTo>
                  <a:lnTo>
                    <a:pt x="40360" y="103755"/>
                  </a:lnTo>
                  <a:lnTo>
                    <a:pt x="101579" y="55720"/>
                  </a:lnTo>
                  <a:lnTo>
                    <a:pt x="159773" y="24239"/>
                  </a:lnTo>
                  <a:lnTo>
                    <a:pt x="182299" y="11380"/>
                  </a:lnTo>
                  <a:lnTo>
                    <a:pt x="208875" y="3990"/>
                  </a:lnTo>
                  <a:lnTo>
                    <a:pt x="233433" y="0"/>
                  </a:lnTo>
                  <a:lnTo>
                    <a:pt x="254628" y="0"/>
                  </a:lnTo>
                  <a:lnTo>
                    <a:pt x="275474" y="5764"/>
                  </a:lnTo>
                  <a:lnTo>
                    <a:pt x="291290" y="14927"/>
                  </a:lnTo>
                  <a:lnTo>
                    <a:pt x="301713" y="24239"/>
                  </a:lnTo>
                  <a:lnTo>
                    <a:pt x="314167" y="33402"/>
                  </a:lnTo>
                  <a:lnTo>
                    <a:pt x="324590" y="55720"/>
                  </a:lnTo>
                  <a:lnTo>
                    <a:pt x="329969" y="74195"/>
                  </a:lnTo>
                  <a:lnTo>
                    <a:pt x="331650" y="94443"/>
                  </a:lnTo>
                  <a:lnTo>
                    <a:pt x="328288" y="115135"/>
                  </a:lnTo>
                  <a:lnTo>
                    <a:pt x="321227" y="141000"/>
                  </a:lnTo>
                  <a:lnTo>
                    <a:pt x="312472" y="159475"/>
                  </a:lnTo>
                  <a:lnTo>
                    <a:pt x="298351" y="183271"/>
                  </a:lnTo>
                  <a:lnTo>
                    <a:pt x="284229" y="207510"/>
                  </a:lnTo>
                  <a:lnTo>
                    <a:pt x="261353" y="237365"/>
                  </a:lnTo>
                  <a:lnTo>
                    <a:pt x="238812" y="272542"/>
                  </a:lnTo>
                  <a:lnTo>
                    <a:pt x="219311" y="289243"/>
                  </a:lnTo>
                  <a:lnTo>
                    <a:pt x="0" y="146321"/>
                  </a:lnTo>
                </a:path>
              </a:pathLst>
            </a:custGeom>
            <a:ln w="291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76071" y="2559924"/>
              <a:ext cx="449580" cy="3069590"/>
            </a:xfrm>
            <a:custGeom>
              <a:avLst/>
              <a:gdLst/>
              <a:ahLst/>
              <a:cxnLst/>
              <a:rect l="l" t="t" r="r" b="b"/>
              <a:pathLst>
                <a:path w="449579" h="3069590">
                  <a:moveTo>
                    <a:pt x="0" y="0"/>
                  </a:moveTo>
                  <a:lnTo>
                    <a:pt x="0" y="2796601"/>
                  </a:lnTo>
                  <a:lnTo>
                    <a:pt x="449387" y="3069087"/>
                  </a:lnTo>
                  <a:lnTo>
                    <a:pt x="449387" y="2725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76071" y="2559924"/>
              <a:ext cx="449580" cy="3069590"/>
            </a:xfrm>
            <a:custGeom>
              <a:avLst/>
              <a:gdLst/>
              <a:ahLst/>
              <a:cxnLst/>
              <a:rect l="l" t="t" r="r" b="b"/>
              <a:pathLst>
                <a:path w="449579" h="3069590">
                  <a:moveTo>
                    <a:pt x="0" y="0"/>
                  </a:moveTo>
                  <a:lnTo>
                    <a:pt x="0" y="2796601"/>
                  </a:lnTo>
                  <a:lnTo>
                    <a:pt x="449387" y="3069087"/>
                  </a:lnTo>
                  <a:lnTo>
                    <a:pt x="449387" y="272542"/>
                  </a:lnTo>
                  <a:lnTo>
                    <a:pt x="0" y="0"/>
                  </a:lnTo>
                </a:path>
              </a:pathLst>
            </a:custGeom>
            <a:ln w="2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107" y="2999478"/>
              <a:ext cx="113405" cy="12518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8472" y="4882679"/>
              <a:ext cx="113433" cy="12173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166609" y="3003930"/>
            <a:ext cx="16027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rebuchet MS"/>
                <a:cs typeface="Trebuchet MS"/>
              </a:rPr>
              <a:t>Balance </a:t>
            </a:r>
            <a:r>
              <a:rPr sz="2400" b="1" dirty="0">
                <a:latin typeface="Trebuchet MS"/>
                <a:cs typeface="Trebuchet MS"/>
              </a:rPr>
              <a:t>Sheet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(B/S)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747403" y="5341952"/>
            <a:ext cx="3850004" cy="1076960"/>
            <a:chOff x="2747403" y="5341952"/>
            <a:chExt cx="3850004" cy="1076960"/>
          </a:xfrm>
        </p:grpSpPr>
        <p:sp>
          <p:nvSpPr>
            <p:cNvPr id="38" name="object 38"/>
            <p:cNvSpPr/>
            <p:nvPr/>
          </p:nvSpPr>
          <p:spPr>
            <a:xfrm>
              <a:off x="2753435" y="5346397"/>
              <a:ext cx="3837940" cy="1068070"/>
            </a:xfrm>
            <a:custGeom>
              <a:avLst/>
              <a:gdLst/>
              <a:ahLst/>
              <a:cxnLst/>
              <a:rect l="l" t="t" r="r" b="b"/>
              <a:pathLst>
                <a:path w="3837940" h="1068070">
                  <a:moveTo>
                    <a:pt x="3837493" y="0"/>
                  </a:moveTo>
                  <a:lnTo>
                    <a:pt x="0" y="0"/>
                  </a:lnTo>
                  <a:lnTo>
                    <a:pt x="812" y="1068065"/>
                  </a:lnTo>
                  <a:lnTo>
                    <a:pt x="3837493" y="1068065"/>
                  </a:lnTo>
                  <a:lnTo>
                    <a:pt x="3837493" y="0"/>
                  </a:lnTo>
                  <a:close/>
                </a:path>
              </a:pathLst>
            </a:custGeom>
            <a:solidFill>
              <a:srgbClr val="80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53435" y="5346397"/>
              <a:ext cx="3837940" cy="1068070"/>
            </a:xfrm>
            <a:custGeom>
              <a:avLst/>
              <a:gdLst/>
              <a:ahLst/>
              <a:cxnLst/>
              <a:rect l="l" t="t" r="r" b="b"/>
              <a:pathLst>
                <a:path w="3837940" h="1068070">
                  <a:moveTo>
                    <a:pt x="812" y="1068065"/>
                  </a:moveTo>
                  <a:lnTo>
                    <a:pt x="3837493" y="1068065"/>
                  </a:lnTo>
                  <a:lnTo>
                    <a:pt x="3837493" y="0"/>
                  </a:lnTo>
                  <a:lnTo>
                    <a:pt x="0" y="0"/>
                  </a:lnTo>
                  <a:lnTo>
                    <a:pt x="812" y="1068065"/>
                  </a:lnTo>
                </a:path>
              </a:pathLst>
            </a:custGeom>
            <a:ln w="69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53436" y="5779974"/>
              <a:ext cx="3837940" cy="635000"/>
            </a:xfrm>
            <a:custGeom>
              <a:avLst/>
              <a:gdLst/>
              <a:ahLst/>
              <a:cxnLst/>
              <a:rect l="l" t="t" r="r" b="b"/>
              <a:pathLst>
                <a:path w="3837940" h="635000">
                  <a:moveTo>
                    <a:pt x="609601" y="98501"/>
                  </a:moveTo>
                  <a:lnTo>
                    <a:pt x="535024" y="101626"/>
                  </a:lnTo>
                  <a:lnTo>
                    <a:pt x="485146" y="118430"/>
                  </a:lnTo>
                  <a:lnTo>
                    <a:pt x="463053" y="128379"/>
                  </a:lnTo>
                  <a:lnTo>
                    <a:pt x="437704" y="151147"/>
                  </a:lnTo>
                  <a:lnTo>
                    <a:pt x="343795" y="164253"/>
                  </a:lnTo>
                  <a:lnTo>
                    <a:pt x="305617" y="184279"/>
                  </a:lnTo>
                  <a:lnTo>
                    <a:pt x="248099" y="198214"/>
                  </a:lnTo>
                  <a:lnTo>
                    <a:pt x="181974" y="226498"/>
                  </a:lnTo>
                  <a:lnTo>
                    <a:pt x="120227" y="237308"/>
                  </a:lnTo>
                  <a:lnTo>
                    <a:pt x="0" y="275159"/>
                  </a:lnTo>
                  <a:lnTo>
                    <a:pt x="0" y="634871"/>
                  </a:lnTo>
                  <a:lnTo>
                    <a:pt x="3837493" y="634871"/>
                  </a:lnTo>
                  <a:lnTo>
                    <a:pt x="3837493" y="248788"/>
                  </a:lnTo>
                  <a:lnTo>
                    <a:pt x="3705405" y="245280"/>
                  </a:lnTo>
                  <a:lnTo>
                    <a:pt x="3611482" y="224489"/>
                  </a:lnTo>
                  <a:lnTo>
                    <a:pt x="3553965" y="207333"/>
                  </a:lnTo>
                  <a:lnTo>
                    <a:pt x="3525071" y="190624"/>
                  </a:lnTo>
                  <a:lnTo>
                    <a:pt x="3472560" y="189413"/>
                  </a:lnTo>
                  <a:lnTo>
                    <a:pt x="3352315" y="165497"/>
                  </a:lnTo>
                  <a:lnTo>
                    <a:pt x="3352315" y="153156"/>
                  </a:lnTo>
                  <a:lnTo>
                    <a:pt x="3245602" y="125637"/>
                  </a:lnTo>
                  <a:lnTo>
                    <a:pt x="3188085" y="123628"/>
                  </a:lnTo>
                  <a:lnTo>
                    <a:pt x="3175338" y="104846"/>
                  </a:lnTo>
                  <a:lnTo>
                    <a:pt x="645187" y="104846"/>
                  </a:lnTo>
                  <a:lnTo>
                    <a:pt x="609601" y="98501"/>
                  </a:lnTo>
                  <a:close/>
                </a:path>
                <a:path w="3837940" h="635000">
                  <a:moveTo>
                    <a:pt x="3290601" y="0"/>
                  </a:moveTo>
                  <a:lnTo>
                    <a:pt x="622275" y="0"/>
                  </a:lnTo>
                  <a:lnTo>
                    <a:pt x="656231" y="11128"/>
                  </a:lnTo>
                  <a:lnTo>
                    <a:pt x="680788" y="31505"/>
                  </a:lnTo>
                  <a:lnTo>
                    <a:pt x="729847" y="43080"/>
                  </a:lnTo>
                  <a:lnTo>
                    <a:pt x="773019" y="55038"/>
                  </a:lnTo>
                  <a:lnTo>
                    <a:pt x="798394" y="66167"/>
                  </a:lnTo>
                  <a:lnTo>
                    <a:pt x="798394" y="80101"/>
                  </a:lnTo>
                  <a:lnTo>
                    <a:pt x="778094" y="84534"/>
                  </a:lnTo>
                  <a:lnTo>
                    <a:pt x="709546" y="90529"/>
                  </a:lnTo>
                  <a:lnTo>
                    <a:pt x="645187" y="104846"/>
                  </a:lnTo>
                  <a:lnTo>
                    <a:pt x="3175338" y="104846"/>
                  </a:lnTo>
                  <a:lnTo>
                    <a:pt x="3169408" y="96109"/>
                  </a:lnTo>
                  <a:lnTo>
                    <a:pt x="3044899" y="77327"/>
                  </a:lnTo>
                  <a:lnTo>
                    <a:pt x="3109252" y="53826"/>
                  </a:lnTo>
                  <a:lnTo>
                    <a:pt x="3144033" y="47831"/>
                  </a:lnTo>
                  <a:lnTo>
                    <a:pt x="3180438" y="44228"/>
                  </a:lnTo>
                  <a:lnTo>
                    <a:pt x="3194919" y="35873"/>
                  </a:lnTo>
                  <a:lnTo>
                    <a:pt x="3216844" y="28284"/>
                  </a:lnTo>
                  <a:lnTo>
                    <a:pt x="3290601" y="0"/>
                  </a:lnTo>
                  <a:close/>
                </a:path>
              </a:pathLst>
            </a:custGeom>
            <a:solidFill>
              <a:srgbClr val="00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53436" y="5779974"/>
              <a:ext cx="3837940" cy="635000"/>
            </a:xfrm>
            <a:custGeom>
              <a:avLst/>
              <a:gdLst/>
              <a:ahLst/>
              <a:cxnLst/>
              <a:rect l="l" t="t" r="r" b="b"/>
              <a:pathLst>
                <a:path w="3837940" h="635000">
                  <a:moveTo>
                    <a:pt x="3175338" y="104846"/>
                  </a:moveTo>
                  <a:lnTo>
                    <a:pt x="3188085" y="123628"/>
                  </a:lnTo>
                  <a:lnTo>
                    <a:pt x="3245602" y="125637"/>
                  </a:lnTo>
                  <a:lnTo>
                    <a:pt x="3352315" y="153156"/>
                  </a:lnTo>
                  <a:lnTo>
                    <a:pt x="3352315" y="165497"/>
                  </a:lnTo>
                  <a:lnTo>
                    <a:pt x="3472560" y="189413"/>
                  </a:lnTo>
                  <a:lnTo>
                    <a:pt x="3525071" y="190624"/>
                  </a:lnTo>
                  <a:lnTo>
                    <a:pt x="3553965" y="207333"/>
                  </a:lnTo>
                  <a:lnTo>
                    <a:pt x="3611482" y="224489"/>
                  </a:lnTo>
                  <a:lnTo>
                    <a:pt x="3705405" y="245280"/>
                  </a:lnTo>
                  <a:lnTo>
                    <a:pt x="3837493" y="248788"/>
                  </a:lnTo>
                  <a:lnTo>
                    <a:pt x="3837493" y="634871"/>
                  </a:lnTo>
                  <a:lnTo>
                    <a:pt x="0" y="634871"/>
                  </a:lnTo>
                  <a:lnTo>
                    <a:pt x="0" y="275159"/>
                  </a:lnTo>
                  <a:lnTo>
                    <a:pt x="120227" y="237308"/>
                  </a:lnTo>
                  <a:lnTo>
                    <a:pt x="181974" y="226498"/>
                  </a:lnTo>
                  <a:lnTo>
                    <a:pt x="248099" y="198214"/>
                  </a:lnTo>
                  <a:lnTo>
                    <a:pt x="305617" y="184279"/>
                  </a:lnTo>
                  <a:lnTo>
                    <a:pt x="343795" y="164253"/>
                  </a:lnTo>
                  <a:lnTo>
                    <a:pt x="437704" y="151147"/>
                  </a:lnTo>
                  <a:lnTo>
                    <a:pt x="463053" y="128379"/>
                  </a:lnTo>
                  <a:lnTo>
                    <a:pt x="485146" y="118431"/>
                  </a:lnTo>
                  <a:lnTo>
                    <a:pt x="535024" y="101626"/>
                  </a:lnTo>
                  <a:lnTo>
                    <a:pt x="609601" y="98501"/>
                  </a:lnTo>
                  <a:lnTo>
                    <a:pt x="645187" y="104846"/>
                  </a:lnTo>
                </a:path>
                <a:path w="3837940" h="635000">
                  <a:moveTo>
                    <a:pt x="645187" y="104846"/>
                  </a:moveTo>
                  <a:lnTo>
                    <a:pt x="709546" y="90529"/>
                  </a:lnTo>
                  <a:lnTo>
                    <a:pt x="778094" y="84534"/>
                  </a:lnTo>
                  <a:lnTo>
                    <a:pt x="798394" y="80101"/>
                  </a:lnTo>
                  <a:lnTo>
                    <a:pt x="798394" y="66167"/>
                  </a:lnTo>
                  <a:lnTo>
                    <a:pt x="773019" y="55038"/>
                  </a:lnTo>
                  <a:lnTo>
                    <a:pt x="729847" y="43080"/>
                  </a:lnTo>
                  <a:lnTo>
                    <a:pt x="680788" y="31505"/>
                  </a:lnTo>
                  <a:lnTo>
                    <a:pt x="656231" y="11128"/>
                  </a:lnTo>
                  <a:lnTo>
                    <a:pt x="622275" y="0"/>
                  </a:lnTo>
                  <a:lnTo>
                    <a:pt x="3290601" y="0"/>
                  </a:lnTo>
                  <a:lnTo>
                    <a:pt x="3216844" y="28284"/>
                  </a:lnTo>
                  <a:lnTo>
                    <a:pt x="3194919" y="35873"/>
                  </a:lnTo>
                  <a:lnTo>
                    <a:pt x="3180438" y="44228"/>
                  </a:lnTo>
                  <a:lnTo>
                    <a:pt x="3144033" y="47831"/>
                  </a:lnTo>
                  <a:lnTo>
                    <a:pt x="3109252" y="53826"/>
                  </a:lnTo>
                  <a:lnTo>
                    <a:pt x="3044899" y="77327"/>
                  </a:lnTo>
                  <a:lnTo>
                    <a:pt x="3169408" y="96109"/>
                  </a:lnTo>
                  <a:lnTo>
                    <a:pt x="3175338" y="104846"/>
                  </a:lnTo>
                </a:path>
              </a:pathLst>
            </a:custGeom>
            <a:ln w="100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53436" y="5779974"/>
              <a:ext cx="3836035" cy="633730"/>
            </a:xfrm>
            <a:custGeom>
              <a:avLst/>
              <a:gdLst/>
              <a:ahLst/>
              <a:cxnLst/>
              <a:rect l="l" t="t" r="r" b="b"/>
              <a:pathLst>
                <a:path w="3836034" h="633729">
                  <a:moveTo>
                    <a:pt x="3126304" y="0"/>
                  </a:moveTo>
                  <a:lnTo>
                    <a:pt x="709546" y="0"/>
                  </a:lnTo>
                  <a:lnTo>
                    <a:pt x="740065" y="14732"/>
                  </a:lnTo>
                  <a:lnTo>
                    <a:pt x="776470" y="29049"/>
                  </a:lnTo>
                  <a:lnTo>
                    <a:pt x="813687" y="43080"/>
                  </a:lnTo>
                  <a:lnTo>
                    <a:pt x="841634" y="57015"/>
                  </a:lnTo>
                  <a:lnTo>
                    <a:pt x="863694" y="67378"/>
                  </a:lnTo>
                  <a:lnTo>
                    <a:pt x="871340" y="77710"/>
                  </a:lnTo>
                  <a:lnTo>
                    <a:pt x="838995" y="86925"/>
                  </a:lnTo>
                  <a:lnTo>
                    <a:pt x="796770" y="97257"/>
                  </a:lnTo>
                  <a:lnTo>
                    <a:pt x="763816" y="98501"/>
                  </a:lnTo>
                  <a:lnTo>
                    <a:pt x="698449" y="107621"/>
                  </a:lnTo>
                  <a:lnTo>
                    <a:pt x="657043" y="122799"/>
                  </a:lnTo>
                  <a:lnTo>
                    <a:pt x="632513" y="128379"/>
                  </a:lnTo>
                  <a:lnTo>
                    <a:pt x="586695" y="136351"/>
                  </a:lnTo>
                  <a:lnTo>
                    <a:pt x="552090" y="145567"/>
                  </a:lnTo>
                  <a:lnTo>
                    <a:pt x="524955" y="160267"/>
                  </a:lnTo>
                  <a:lnTo>
                    <a:pt x="497008" y="183800"/>
                  </a:lnTo>
                  <a:lnTo>
                    <a:pt x="444532" y="197767"/>
                  </a:lnTo>
                  <a:lnTo>
                    <a:pt x="386040" y="226115"/>
                  </a:lnTo>
                  <a:lnTo>
                    <a:pt x="331933" y="236830"/>
                  </a:lnTo>
                  <a:lnTo>
                    <a:pt x="221776" y="274776"/>
                  </a:lnTo>
                  <a:lnTo>
                    <a:pt x="82049" y="312659"/>
                  </a:lnTo>
                  <a:lnTo>
                    <a:pt x="0" y="332958"/>
                  </a:lnTo>
                  <a:lnTo>
                    <a:pt x="0" y="633721"/>
                  </a:lnTo>
                  <a:lnTo>
                    <a:pt x="3835869" y="633721"/>
                  </a:lnTo>
                  <a:lnTo>
                    <a:pt x="3835869" y="296332"/>
                  </a:lnTo>
                  <a:lnTo>
                    <a:pt x="3756224" y="286351"/>
                  </a:lnTo>
                  <a:lnTo>
                    <a:pt x="3675835" y="272321"/>
                  </a:lnTo>
                  <a:lnTo>
                    <a:pt x="3595378" y="261989"/>
                  </a:lnTo>
                  <a:lnTo>
                    <a:pt x="3494688" y="244802"/>
                  </a:lnTo>
                  <a:lnTo>
                    <a:pt x="3410847" y="224106"/>
                  </a:lnTo>
                  <a:lnTo>
                    <a:pt x="3359149" y="206951"/>
                  </a:lnTo>
                  <a:lnTo>
                    <a:pt x="3333638" y="190242"/>
                  </a:lnTo>
                  <a:lnTo>
                    <a:pt x="3287962" y="189030"/>
                  </a:lnTo>
                  <a:lnTo>
                    <a:pt x="3181250" y="165114"/>
                  </a:lnTo>
                  <a:lnTo>
                    <a:pt x="3181250" y="153156"/>
                  </a:lnTo>
                  <a:lnTo>
                    <a:pt x="3088139" y="125637"/>
                  </a:lnTo>
                  <a:lnTo>
                    <a:pt x="3036509" y="123628"/>
                  </a:lnTo>
                  <a:lnTo>
                    <a:pt x="3020404" y="96109"/>
                  </a:lnTo>
                  <a:lnTo>
                    <a:pt x="2931556" y="88137"/>
                  </a:lnTo>
                  <a:lnTo>
                    <a:pt x="2911188" y="77327"/>
                  </a:lnTo>
                  <a:lnTo>
                    <a:pt x="2923909" y="60554"/>
                  </a:lnTo>
                  <a:lnTo>
                    <a:pt x="2967893" y="53826"/>
                  </a:lnTo>
                  <a:lnTo>
                    <a:pt x="2998479" y="47831"/>
                  </a:lnTo>
                  <a:lnTo>
                    <a:pt x="3029674" y="44228"/>
                  </a:lnTo>
                  <a:lnTo>
                    <a:pt x="3042463" y="35873"/>
                  </a:lnTo>
                  <a:lnTo>
                    <a:pt x="3062831" y="28284"/>
                  </a:lnTo>
                  <a:lnTo>
                    <a:pt x="3126304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53436" y="5779974"/>
              <a:ext cx="3836035" cy="634365"/>
            </a:xfrm>
            <a:custGeom>
              <a:avLst/>
              <a:gdLst/>
              <a:ahLst/>
              <a:cxnLst/>
              <a:rect l="l" t="t" r="r" b="b"/>
              <a:pathLst>
                <a:path w="3836034" h="634364">
                  <a:moveTo>
                    <a:pt x="2996652" y="0"/>
                  </a:moveTo>
                  <a:lnTo>
                    <a:pt x="723012" y="0"/>
                  </a:lnTo>
                  <a:lnTo>
                    <a:pt x="804417" y="17091"/>
                  </a:lnTo>
                  <a:lnTo>
                    <a:pt x="833988" y="29910"/>
                  </a:lnTo>
                  <a:lnTo>
                    <a:pt x="865318" y="49075"/>
                  </a:lnTo>
                  <a:lnTo>
                    <a:pt x="890693" y="60172"/>
                  </a:lnTo>
                  <a:lnTo>
                    <a:pt x="911941" y="68973"/>
                  </a:lnTo>
                  <a:lnTo>
                    <a:pt x="917016" y="78571"/>
                  </a:lnTo>
                  <a:lnTo>
                    <a:pt x="919587" y="87308"/>
                  </a:lnTo>
                  <a:lnTo>
                    <a:pt x="889881" y="97257"/>
                  </a:lnTo>
                  <a:lnTo>
                    <a:pt x="860310" y="98501"/>
                  </a:lnTo>
                  <a:lnTo>
                    <a:pt x="801778" y="107621"/>
                  </a:lnTo>
                  <a:lnTo>
                    <a:pt x="764628" y="122799"/>
                  </a:lnTo>
                  <a:lnTo>
                    <a:pt x="742501" y="128379"/>
                  </a:lnTo>
                  <a:lnTo>
                    <a:pt x="701088" y="136351"/>
                  </a:lnTo>
                  <a:lnTo>
                    <a:pt x="669690" y="145567"/>
                  </a:lnTo>
                  <a:lnTo>
                    <a:pt x="645999" y="160267"/>
                  </a:lnTo>
                  <a:lnTo>
                    <a:pt x="619839" y="183800"/>
                  </a:lnTo>
                  <a:lnTo>
                    <a:pt x="572397" y="198214"/>
                  </a:lnTo>
                  <a:lnTo>
                    <a:pt x="520733" y="226498"/>
                  </a:lnTo>
                  <a:lnTo>
                    <a:pt x="470686" y="236830"/>
                  </a:lnTo>
                  <a:lnTo>
                    <a:pt x="369955" y="274776"/>
                  </a:lnTo>
                  <a:lnTo>
                    <a:pt x="245501" y="312659"/>
                  </a:lnTo>
                  <a:lnTo>
                    <a:pt x="165883" y="333418"/>
                  </a:lnTo>
                  <a:lnTo>
                    <a:pt x="0" y="387225"/>
                  </a:lnTo>
                  <a:lnTo>
                    <a:pt x="0" y="634104"/>
                  </a:lnTo>
                  <a:lnTo>
                    <a:pt x="3835869" y="634104"/>
                  </a:lnTo>
                  <a:lnTo>
                    <a:pt x="3835869" y="342923"/>
                  </a:lnTo>
                  <a:lnTo>
                    <a:pt x="3640241" y="308673"/>
                  </a:lnTo>
                  <a:lnTo>
                    <a:pt x="3560596" y="291103"/>
                  </a:lnTo>
                  <a:lnTo>
                    <a:pt x="3492861" y="272799"/>
                  </a:lnTo>
                  <a:lnTo>
                    <a:pt x="3420118" y="261989"/>
                  </a:lnTo>
                  <a:lnTo>
                    <a:pt x="3328631" y="244802"/>
                  </a:lnTo>
                  <a:lnTo>
                    <a:pt x="3252437" y="224106"/>
                  </a:lnTo>
                  <a:lnTo>
                    <a:pt x="3205814" y="206951"/>
                  </a:lnTo>
                  <a:lnTo>
                    <a:pt x="3183010" y="190242"/>
                  </a:lnTo>
                  <a:lnTo>
                    <a:pt x="3141462" y="189030"/>
                  </a:lnTo>
                  <a:lnTo>
                    <a:pt x="3044899" y="165114"/>
                  </a:lnTo>
                  <a:lnTo>
                    <a:pt x="3044899" y="153156"/>
                  </a:lnTo>
                  <a:lnTo>
                    <a:pt x="2961939" y="125637"/>
                  </a:lnTo>
                  <a:lnTo>
                    <a:pt x="2914639" y="123628"/>
                  </a:lnTo>
                  <a:lnTo>
                    <a:pt x="2900158" y="96109"/>
                  </a:lnTo>
                  <a:lnTo>
                    <a:pt x="2819769" y="88137"/>
                  </a:lnTo>
                  <a:lnTo>
                    <a:pt x="2801837" y="77327"/>
                  </a:lnTo>
                  <a:lnTo>
                    <a:pt x="2813746" y="60554"/>
                  </a:lnTo>
                  <a:lnTo>
                    <a:pt x="2853535" y="53826"/>
                  </a:lnTo>
                  <a:lnTo>
                    <a:pt x="2879858" y="47831"/>
                  </a:lnTo>
                  <a:lnTo>
                    <a:pt x="2909428" y="44228"/>
                  </a:lnTo>
                  <a:lnTo>
                    <a:pt x="2920458" y="35873"/>
                  </a:lnTo>
                  <a:lnTo>
                    <a:pt x="2938323" y="28284"/>
                  </a:lnTo>
                  <a:lnTo>
                    <a:pt x="2996652" y="0"/>
                  </a:lnTo>
                  <a:close/>
                </a:path>
              </a:pathLst>
            </a:custGeom>
            <a:solidFill>
              <a:srgbClr val="00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53436" y="5779974"/>
              <a:ext cx="3836035" cy="634365"/>
            </a:xfrm>
            <a:custGeom>
              <a:avLst/>
              <a:gdLst/>
              <a:ahLst/>
              <a:cxnLst/>
              <a:rect l="l" t="t" r="r" b="b"/>
              <a:pathLst>
                <a:path w="3836034" h="634364">
                  <a:moveTo>
                    <a:pt x="2889940" y="0"/>
                  </a:moveTo>
                  <a:lnTo>
                    <a:pt x="823905" y="0"/>
                  </a:lnTo>
                  <a:lnTo>
                    <a:pt x="897528" y="17091"/>
                  </a:lnTo>
                  <a:lnTo>
                    <a:pt x="925474" y="29910"/>
                  </a:lnTo>
                  <a:lnTo>
                    <a:pt x="954233" y="49075"/>
                  </a:lnTo>
                  <a:lnTo>
                    <a:pt x="977105" y="60172"/>
                  </a:lnTo>
                  <a:lnTo>
                    <a:pt x="994834" y="68973"/>
                  </a:lnTo>
                  <a:lnTo>
                    <a:pt x="1000044" y="78571"/>
                  </a:lnTo>
                  <a:lnTo>
                    <a:pt x="1002480" y="86925"/>
                  </a:lnTo>
                  <a:lnTo>
                    <a:pt x="975481" y="97257"/>
                  </a:lnTo>
                  <a:lnTo>
                    <a:pt x="949158" y="98501"/>
                  </a:lnTo>
                  <a:lnTo>
                    <a:pt x="895904" y="107621"/>
                  </a:lnTo>
                  <a:lnTo>
                    <a:pt x="861934" y="122799"/>
                  </a:lnTo>
                  <a:lnTo>
                    <a:pt x="841634" y="128379"/>
                  </a:lnTo>
                  <a:lnTo>
                    <a:pt x="804417" y="136351"/>
                  </a:lnTo>
                  <a:lnTo>
                    <a:pt x="776470" y="145567"/>
                  </a:lnTo>
                  <a:lnTo>
                    <a:pt x="754342" y="160267"/>
                  </a:lnTo>
                  <a:lnTo>
                    <a:pt x="730659" y="183800"/>
                  </a:lnTo>
                  <a:lnTo>
                    <a:pt x="688434" y="197767"/>
                  </a:lnTo>
                  <a:lnTo>
                    <a:pt x="640958" y="226115"/>
                  </a:lnTo>
                  <a:lnTo>
                    <a:pt x="596115" y="236830"/>
                  </a:lnTo>
                  <a:lnTo>
                    <a:pt x="503829" y="274776"/>
                  </a:lnTo>
                  <a:lnTo>
                    <a:pt x="390262" y="312659"/>
                  </a:lnTo>
                  <a:lnTo>
                    <a:pt x="317472" y="332958"/>
                  </a:lnTo>
                  <a:lnTo>
                    <a:pt x="162472" y="387225"/>
                  </a:lnTo>
                  <a:lnTo>
                    <a:pt x="0" y="429533"/>
                  </a:lnTo>
                  <a:lnTo>
                    <a:pt x="0" y="634104"/>
                  </a:lnTo>
                  <a:lnTo>
                    <a:pt x="3835869" y="634104"/>
                  </a:lnTo>
                  <a:lnTo>
                    <a:pt x="3835869" y="374042"/>
                  </a:lnTo>
                  <a:lnTo>
                    <a:pt x="3661354" y="342923"/>
                  </a:lnTo>
                  <a:lnTo>
                    <a:pt x="3475944" y="308290"/>
                  </a:lnTo>
                  <a:lnTo>
                    <a:pt x="3402389" y="290720"/>
                  </a:lnTo>
                  <a:lnTo>
                    <a:pt x="3341285" y="272321"/>
                  </a:lnTo>
                  <a:lnTo>
                    <a:pt x="3275309" y="261989"/>
                  </a:lnTo>
                  <a:lnTo>
                    <a:pt x="3192280" y="244802"/>
                  </a:lnTo>
                  <a:lnTo>
                    <a:pt x="3122921" y="224106"/>
                  </a:lnTo>
                  <a:lnTo>
                    <a:pt x="3080493" y="206951"/>
                  </a:lnTo>
                  <a:lnTo>
                    <a:pt x="3059380" y="190242"/>
                  </a:lnTo>
                  <a:lnTo>
                    <a:pt x="3022163" y="189030"/>
                  </a:lnTo>
                  <a:lnTo>
                    <a:pt x="2935751" y="165114"/>
                  </a:lnTo>
                  <a:lnTo>
                    <a:pt x="2935751" y="153156"/>
                  </a:lnTo>
                  <a:lnTo>
                    <a:pt x="2859557" y="125637"/>
                  </a:lnTo>
                  <a:lnTo>
                    <a:pt x="2817129" y="123628"/>
                  </a:lnTo>
                  <a:lnTo>
                    <a:pt x="2803664" y="96109"/>
                  </a:lnTo>
                  <a:lnTo>
                    <a:pt x="2729906" y="88137"/>
                  </a:lnTo>
                  <a:lnTo>
                    <a:pt x="2712989" y="77327"/>
                  </a:lnTo>
                  <a:lnTo>
                    <a:pt x="2724018" y="60554"/>
                  </a:lnTo>
                  <a:lnTo>
                    <a:pt x="2759612" y="53826"/>
                  </a:lnTo>
                  <a:lnTo>
                    <a:pt x="2784987" y="47831"/>
                  </a:lnTo>
                  <a:lnTo>
                    <a:pt x="2811310" y="44228"/>
                  </a:lnTo>
                  <a:lnTo>
                    <a:pt x="2822340" y="35873"/>
                  </a:lnTo>
                  <a:lnTo>
                    <a:pt x="2837430" y="28284"/>
                  </a:lnTo>
                  <a:lnTo>
                    <a:pt x="2889940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53043" y="5686639"/>
              <a:ext cx="2900680" cy="40005"/>
            </a:xfrm>
            <a:custGeom>
              <a:avLst/>
              <a:gdLst/>
              <a:ahLst/>
              <a:cxnLst/>
              <a:rect l="l" t="t" r="r" b="b"/>
              <a:pathLst>
                <a:path w="2900679" h="40004">
                  <a:moveTo>
                    <a:pt x="4222" y="36702"/>
                  </a:moveTo>
                  <a:lnTo>
                    <a:pt x="77824" y="1211"/>
                  </a:lnTo>
                  <a:lnTo>
                    <a:pt x="156624" y="39062"/>
                  </a:lnTo>
                  <a:lnTo>
                    <a:pt x="236262" y="1594"/>
                  </a:lnTo>
                  <a:lnTo>
                    <a:pt x="316651" y="39062"/>
                  </a:lnTo>
                  <a:lnTo>
                    <a:pt x="397108" y="765"/>
                  </a:lnTo>
                  <a:lnTo>
                    <a:pt x="478310" y="39062"/>
                  </a:lnTo>
                  <a:lnTo>
                    <a:pt x="557955" y="1594"/>
                  </a:lnTo>
                  <a:lnTo>
                    <a:pt x="638344" y="39062"/>
                  </a:lnTo>
                  <a:lnTo>
                    <a:pt x="716365" y="0"/>
                  </a:lnTo>
                  <a:lnTo>
                    <a:pt x="794995" y="39062"/>
                  </a:lnTo>
                  <a:lnTo>
                    <a:pt x="876400" y="382"/>
                  </a:lnTo>
                  <a:lnTo>
                    <a:pt x="961864" y="39445"/>
                  </a:lnTo>
                  <a:lnTo>
                    <a:pt x="1042254" y="382"/>
                  </a:lnTo>
                  <a:lnTo>
                    <a:pt x="1125282" y="39445"/>
                  </a:lnTo>
                  <a:lnTo>
                    <a:pt x="1206551" y="765"/>
                  </a:lnTo>
                  <a:lnTo>
                    <a:pt x="1287956" y="39827"/>
                  </a:lnTo>
                  <a:lnTo>
                    <a:pt x="1367533" y="1977"/>
                  </a:lnTo>
                  <a:lnTo>
                    <a:pt x="1449614" y="39827"/>
                  </a:lnTo>
                </a:path>
                <a:path w="2900679" h="40004">
                  <a:moveTo>
                    <a:pt x="0" y="1977"/>
                  </a:moveTo>
                  <a:lnTo>
                    <a:pt x="74414" y="39445"/>
                  </a:lnTo>
                  <a:lnTo>
                    <a:pt x="156624" y="382"/>
                  </a:lnTo>
                  <a:lnTo>
                    <a:pt x="236262" y="38233"/>
                  </a:lnTo>
                  <a:lnTo>
                    <a:pt x="316651" y="382"/>
                  </a:lnTo>
                  <a:lnTo>
                    <a:pt x="397108" y="38679"/>
                  </a:lnTo>
                  <a:lnTo>
                    <a:pt x="478310" y="382"/>
                  </a:lnTo>
                  <a:lnTo>
                    <a:pt x="557955" y="38233"/>
                  </a:lnTo>
                  <a:lnTo>
                    <a:pt x="638344" y="382"/>
                  </a:lnTo>
                  <a:lnTo>
                    <a:pt x="716365" y="37468"/>
                  </a:lnTo>
                  <a:lnTo>
                    <a:pt x="794995" y="382"/>
                  </a:lnTo>
                  <a:lnTo>
                    <a:pt x="876400" y="39445"/>
                  </a:lnTo>
                  <a:lnTo>
                    <a:pt x="961864" y="382"/>
                  </a:lnTo>
                  <a:lnTo>
                    <a:pt x="1042254" y="39445"/>
                  </a:lnTo>
                  <a:lnTo>
                    <a:pt x="1125282" y="382"/>
                  </a:lnTo>
                  <a:lnTo>
                    <a:pt x="1206551" y="38679"/>
                  </a:lnTo>
                  <a:lnTo>
                    <a:pt x="1287956" y="0"/>
                  </a:lnTo>
                  <a:lnTo>
                    <a:pt x="1368345" y="37850"/>
                  </a:lnTo>
                  <a:lnTo>
                    <a:pt x="1449614" y="0"/>
                  </a:lnTo>
                </a:path>
                <a:path w="2900679" h="40004">
                  <a:moveTo>
                    <a:pt x="2900142" y="37468"/>
                  </a:moveTo>
                  <a:lnTo>
                    <a:pt x="2822324" y="1977"/>
                  </a:lnTo>
                  <a:lnTo>
                    <a:pt x="2743559" y="39062"/>
                  </a:lnTo>
                  <a:lnTo>
                    <a:pt x="2663914" y="1594"/>
                  </a:lnTo>
                  <a:lnTo>
                    <a:pt x="2584337" y="39062"/>
                  </a:lnTo>
                  <a:lnTo>
                    <a:pt x="2503879" y="765"/>
                  </a:lnTo>
                  <a:lnTo>
                    <a:pt x="2422678" y="39062"/>
                  </a:lnTo>
                  <a:lnTo>
                    <a:pt x="2342086" y="1594"/>
                  </a:lnTo>
                  <a:lnTo>
                    <a:pt x="2262644" y="39062"/>
                  </a:lnTo>
                  <a:lnTo>
                    <a:pt x="2183810" y="2359"/>
                  </a:lnTo>
                  <a:lnTo>
                    <a:pt x="2105857" y="39062"/>
                  </a:lnTo>
                  <a:lnTo>
                    <a:pt x="2023776" y="382"/>
                  </a:lnTo>
                  <a:lnTo>
                    <a:pt x="1938176" y="39445"/>
                  </a:lnTo>
                  <a:lnTo>
                    <a:pt x="1858531" y="382"/>
                  </a:lnTo>
                  <a:lnTo>
                    <a:pt x="1775706" y="39445"/>
                  </a:lnTo>
                  <a:lnTo>
                    <a:pt x="1693489" y="765"/>
                  </a:lnTo>
                  <a:lnTo>
                    <a:pt x="1613032" y="39827"/>
                  </a:lnTo>
                  <a:lnTo>
                    <a:pt x="1532643" y="1977"/>
                  </a:lnTo>
                  <a:lnTo>
                    <a:pt x="1449614" y="39827"/>
                  </a:lnTo>
                </a:path>
                <a:path w="2900679" h="40004">
                  <a:moveTo>
                    <a:pt x="2900142" y="3188"/>
                  </a:moveTo>
                  <a:lnTo>
                    <a:pt x="2825572" y="39827"/>
                  </a:lnTo>
                  <a:lnTo>
                    <a:pt x="2743559" y="382"/>
                  </a:lnTo>
                  <a:lnTo>
                    <a:pt x="2663914" y="38233"/>
                  </a:lnTo>
                  <a:lnTo>
                    <a:pt x="2584337" y="382"/>
                  </a:lnTo>
                  <a:lnTo>
                    <a:pt x="2503879" y="38679"/>
                  </a:lnTo>
                  <a:lnTo>
                    <a:pt x="2422678" y="382"/>
                  </a:lnTo>
                  <a:lnTo>
                    <a:pt x="2343033" y="38233"/>
                  </a:lnTo>
                  <a:lnTo>
                    <a:pt x="2262644" y="382"/>
                  </a:lnTo>
                  <a:lnTo>
                    <a:pt x="2183810" y="37468"/>
                  </a:lnTo>
                  <a:lnTo>
                    <a:pt x="2105857" y="382"/>
                  </a:lnTo>
                  <a:lnTo>
                    <a:pt x="2023776" y="39445"/>
                  </a:lnTo>
                  <a:lnTo>
                    <a:pt x="1939123" y="382"/>
                  </a:lnTo>
                  <a:lnTo>
                    <a:pt x="1858531" y="39445"/>
                  </a:lnTo>
                  <a:lnTo>
                    <a:pt x="1775706" y="382"/>
                  </a:lnTo>
                  <a:lnTo>
                    <a:pt x="1694301" y="38679"/>
                  </a:lnTo>
                  <a:lnTo>
                    <a:pt x="1613032" y="0"/>
                  </a:lnTo>
                  <a:lnTo>
                    <a:pt x="1532643" y="37850"/>
                  </a:lnTo>
                  <a:lnTo>
                    <a:pt x="1450426" y="0"/>
                  </a:lnTo>
                </a:path>
              </a:pathLst>
            </a:custGeom>
            <a:ln w="5019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10161" y="5650738"/>
              <a:ext cx="95885" cy="39370"/>
            </a:xfrm>
            <a:custGeom>
              <a:avLst/>
              <a:gdLst/>
              <a:ahLst/>
              <a:cxnLst/>
              <a:rect l="l" t="t" r="r" b="b"/>
              <a:pathLst>
                <a:path w="95885" h="39370">
                  <a:moveTo>
                    <a:pt x="6819" y="0"/>
                  </a:moveTo>
                  <a:lnTo>
                    <a:pt x="0" y="0"/>
                  </a:lnTo>
                  <a:lnTo>
                    <a:pt x="0" y="39090"/>
                  </a:lnTo>
                  <a:lnTo>
                    <a:pt x="6819" y="39090"/>
                  </a:lnTo>
                  <a:lnTo>
                    <a:pt x="6819" y="0"/>
                  </a:lnTo>
                  <a:close/>
                </a:path>
                <a:path w="95885" h="39370">
                  <a:moveTo>
                    <a:pt x="22923" y="8356"/>
                  </a:moveTo>
                  <a:lnTo>
                    <a:pt x="16103" y="8356"/>
                  </a:lnTo>
                  <a:lnTo>
                    <a:pt x="16103" y="39090"/>
                  </a:lnTo>
                  <a:lnTo>
                    <a:pt x="22923" y="39090"/>
                  </a:lnTo>
                  <a:lnTo>
                    <a:pt x="22923" y="8356"/>
                  </a:lnTo>
                  <a:close/>
                </a:path>
                <a:path w="95885" h="39370">
                  <a:moveTo>
                    <a:pt x="37338" y="14719"/>
                  </a:moveTo>
                  <a:lnTo>
                    <a:pt x="30518" y="14719"/>
                  </a:lnTo>
                  <a:lnTo>
                    <a:pt x="30518" y="39090"/>
                  </a:lnTo>
                  <a:lnTo>
                    <a:pt x="37338" y="39090"/>
                  </a:lnTo>
                  <a:lnTo>
                    <a:pt x="37338" y="14719"/>
                  </a:lnTo>
                  <a:close/>
                </a:path>
                <a:path w="95885" h="39370">
                  <a:moveTo>
                    <a:pt x="51676" y="19939"/>
                  </a:moveTo>
                  <a:lnTo>
                    <a:pt x="44856" y="19939"/>
                  </a:lnTo>
                  <a:lnTo>
                    <a:pt x="44856" y="39090"/>
                  </a:lnTo>
                  <a:lnTo>
                    <a:pt x="51676" y="39090"/>
                  </a:lnTo>
                  <a:lnTo>
                    <a:pt x="51676" y="19939"/>
                  </a:lnTo>
                  <a:close/>
                </a:path>
                <a:path w="95885" h="39370">
                  <a:moveTo>
                    <a:pt x="66903" y="25069"/>
                  </a:moveTo>
                  <a:lnTo>
                    <a:pt x="60083" y="25069"/>
                  </a:lnTo>
                  <a:lnTo>
                    <a:pt x="60083" y="39090"/>
                  </a:lnTo>
                  <a:lnTo>
                    <a:pt x="66903" y="39090"/>
                  </a:lnTo>
                  <a:lnTo>
                    <a:pt x="66903" y="25069"/>
                  </a:lnTo>
                  <a:close/>
                </a:path>
                <a:path w="95885" h="39370">
                  <a:moveTo>
                    <a:pt x="81394" y="28676"/>
                  </a:moveTo>
                  <a:lnTo>
                    <a:pt x="74561" y="28676"/>
                  </a:lnTo>
                  <a:lnTo>
                    <a:pt x="74561" y="39090"/>
                  </a:lnTo>
                  <a:lnTo>
                    <a:pt x="81394" y="39090"/>
                  </a:lnTo>
                  <a:lnTo>
                    <a:pt x="81394" y="28676"/>
                  </a:lnTo>
                  <a:close/>
                </a:path>
                <a:path w="95885" h="39370">
                  <a:moveTo>
                    <a:pt x="95669" y="31508"/>
                  </a:moveTo>
                  <a:lnTo>
                    <a:pt x="88849" y="31508"/>
                  </a:lnTo>
                  <a:lnTo>
                    <a:pt x="88849" y="39090"/>
                  </a:lnTo>
                  <a:lnTo>
                    <a:pt x="95669" y="39090"/>
                  </a:lnTo>
                  <a:lnTo>
                    <a:pt x="95669" y="31508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17715" y="5681887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20">
                  <a:moveTo>
                    <a:pt x="0" y="0"/>
                  </a:moveTo>
                  <a:lnTo>
                    <a:pt x="0" y="7110"/>
                  </a:lnTo>
                </a:path>
              </a:pathLst>
            </a:custGeom>
            <a:ln w="6823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7560" y="5551411"/>
              <a:ext cx="2501900" cy="138430"/>
            </a:xfrm>
            <a:custGeom>
              <a:avLst/>
              <a:gdLst/>
              <a:ahLst/>
              <a:cxnLst/>
              <a:rect l="l" t="t" r="r" b="b"/>
              <a:pathLst>
                <a:path w="2501900" h="138429">
                  <a:moveTo>
                    <a:pt x="6832" y="130835"/>
                  </a:moveTo>
                  <a:lnTo>
                    <a:pt x="0" y="130835"/>
                  </a:lnTo>
                  <a:lnTo>
                    <a:pt x="0" y="138417"/>
                  </a:lnTo>
                  <a:lnTo>
                    <a:pt x="6832" y="138417"/>
                  </a:lnTo>
                  <a:lnTo>
                    <a:pt x="6832" y="130835"/>
                  </a:lnTo>
                  <a:close/>
                </a:path>
                <a:path w="2501900" h="138429">
                  <a:moveTo>
                    <a:pt x="21285" y="128003"/>
                  </a:moveTo>
                  <a:lnTo>
                    <a:pt x="14465" y="128003"/>
                  </a:lnTo>
                  <a:lnTo>
                    <a:pt x="14465" y="138417"/>
                  </a:lnTo>
                  <a:lnTo>
                    <a:pt x="21285" y="138417"/>
                  </a:lnTo>
                  <a:lnTo>
                    <a:pt x="21285" y="128003"/>
                  </a:lnTo>
                  <a:close/>
                </a:path>
                <a:path w="2501900" h="138429">
                  <a:moveTo>
                    <a:pt x="36537" y="124396"/>
                  </a:moveTo>
                  <a:lnTo>
                    <a:pt x="29718" y="124396"/>
                  </a:lnTo>
                  <a:lnTo>
                    <a:pt x="29718" y="138417"/>
                  </a:lnTo>
                  <a:lnTo>
                    <a:pt x="36537" y="138417"/>
                  </a:lnTo>
                  <a:lnTo>
                    <a:pt x="36537" y="124396"/>
                  </a:lnTo>
                  <a:close/>
                </a:path>
                <a:path w="2501900" h="138429">
                  <a:moveTo>
                    <a:pt x="50876" y="119265"/>
                  </a:moveTo>
                  <a:lnTo>
                    <a:pt x="44056" y="119265"/>
                  </a:lnTo>
                  <a:lnTo>
                    <a:pt x="44056" y="138417"/>
                  </a:lnTo>
                  <a:lnTo>
                    <a:pt x="50876" y="138417"/>
                  </a:lnTo>
                  <a:lnTo>
                    <a:pt x="50876" y="119265"/>
                  </a:lnTo>
                  <a:close/>
                </a:path>
                <a:path w="2501900" h="138429">
                  <a:moveTo>
                    <a:pt x="65290" y="114046"/>
                  </a:moveTo>
                  <a:lnTo>
                    <a:pt x="58470" y="114046"/>
                  </a:lnTo>
                  <a:lnTo>
                    <a:pt x="58470" y="138417"/>
                  </a:lnTo>
                  <a:lnTo>
                    <a:pt x="65290" y="138417"/>
                  </a:lnTo>
                  <a:lnTo>
                    <a:pt x="65290" y="114046"/>
                  </a:lnTo>
                  <a:close/>
                </a:path>
                <a:path w="2501900" h="138429">
                  <a:moveTo>
                    <a:pt x="79641" y="107683"/>
                  </a:moveTo>
                  <a:lnTo>
                    <a:pt x="72821" y="107683"/>
                  </a:lnTo>
                  <a:lnTo>
                    <a:pt x="72821" y="138417"/>
                  </a:lnTo>
                  <a:lnTo>
                    <a:pt x="79641" y="138417"/>
                  </a:lnTo>
                  <a:lnTo>
                    <a:pt x="79641" y="107683"/>
                  </a:lnTo>
                  <a:close/>
                </a:path>
                <a:path w="2501900" h="138429">
                  <a:moveTo>
                    <a:pt x="95681" y="99326"/>
                  </a:moveTo>
                  <a:lnTo>
                    <a:pt x="88849" y="99326"/>
                  </a:lnTo>
                  <a:lnTo>
                    <a:pt x="88849" y="138417"/>
                  </a:lnTo>
                  <a:lnTo>
                    <a:pt x="95681" y="138417"/>
                  </a:lnTo>
                  <a:lnTo>
                    <a:pt x="95681" y="99326"/>
                  </a:lnTo>
                  <a:close/>
                </a:path>
                <a:path w="2501900" h="138429">
                  <a:moveTo>
                    <a:pt x="123621" y="92506"/>
                  </a:moveTo>
                  <a:lnTo>
                    <a:pt x="116801" y="92506"/>
                  </a:lnTo>
                  <a:lnTo>
                    <a:pt x="116801" y="138417"/>
                  </a:lnTo>
                  <a:lnTo>
                    <a:pt x="123621" y="138417"/>
                  </a:lnTo>
                  <a:lnTo>
                    <a:pt x="123621" y="92506"/>
                  </a:lnTo>
                  <a:close/>
                </a:path>
                <a:path w="2501900" h="138429">
                  <a:moveTo>
                    <a:pt x="138099" y="93357"/>
                  </a:moveTo>
                  <a:lnTo>
                    <a:pt x="131279" y="93357"/>
                  </a:lnTo>
                  <a:lnTo>
                    <a:pt x="131279" y="138417"/>
                  </a:lnTo>
                  <a:lnTo>
                    <a:pt x="138099" y="138417"/>
                  </a:lnTo>
                  <a:lnTo>
                    <a:pt x="138099" y="93357"/>
                  </a:lnTo>
                  <a:close/>
                </a:path>
                <a:path w="2501900" h="138429">
                  <a:moveTo>
                    <a:pt x="153403" y="94119"/>
                  </a:moveTo>
                  <a:lnTo>
                    <a:pt x="146570" y="94119"/>
                  </a:lnTo>
                  <a:lnTo>
                    <a:pt x="146570" y="138417"/>
                  </a:lnTo>
                  <a:lnTo>
                    <a:pt x="153403" y="138417"/>
                  </a:lnTo>
                  <a:lnTo>
                    <a:pt x="153403" y="94119"/>
                  </a:lnTo>
                  <a:close/>
                </a:path>
                <a:path w="2501900" h="138429">
                  <a:moveTo>
                    <a:pt x="167678" y="94500"/>
                  </a:moveTo>
                  <a:lnTo>
                    <a:pt x="160858" y="94500"/>
                  </a:lnTo>
                  <a:lnTo>
                    <a:pt x="160858" y="138417"/>
                  </a:lnTo>
                  <a:lnTo>
                    <a:pt x="167678" y="138417"/>
                  </a:lnTo>
                  <a:lnTo>
                    <a:pt x="167678" y="94500"/>
                  </a:lnTo>
                  <a:close/>
                </a:path>
                <a:path w="2501900" h="138429">
                  <a:moveTo>
                    <a:pt x="182156" y="94500"/>
                  </a:moveTo>
                  <a:lnTo>
                    <a:pt x="175336" y="94500"/>
                  </a:lnTo>
                  <a:lnTo>
                    <a:pt x="175336" y="138417"/>
                  </a:lnTo>
                  <a:lnTo>
                    <a:pt x="182156" y="138417"/>
                  </a:lnTo>
                  <a:lnTo>
                    <a:pt x="182156" y="94500"/>
                  </a:lnTo>
                  <a:close/>
                </a:path>
                <a:path w="2501900" h="138429">
                  <a:moveTo>
                    <a:pt x="194805" y="94500"/>
                  </a:moveTo>
                  <a:lnTo>
                    <a:pt x="187985" y="94500"/>
                  </a:lnTo>
                  <a:lnTo>
                    <a:pt x="187985" y="138417"/>
                  </a:lnTo>
                  <a:lnTo>
                    <a:pt x="194805" y="138417"/>
                  </a:lnTo>
                  <a:lnTo>
                    <a:pt x="194805" y="94500"/>
                  </a:lnTo>
                  <a:close/>
                </a:path>
                <a:path w="2501900" h="138429">
                  <a:moveTo>
                    <a:pt x="210921" y="94881"/>
                  </a:moveTo>
                  <a:lnTo>
                    <a:pt x="204089" y="94881"/>
                  </a:lnTo>
                  <a:lnTo>
                    <a:pt x="204089" y="138417"/>
                  </a:lnTo>
                  <a:lnTo>
                    <a:pt x="210921" y="138417"/>
                  </a:lnTo>
                  <a:lnTo>
                    <a:pt x="210921" y="94881"/>
                  </a:lnTo>
                  <a:close/>
                </a:path>
                <a:path w="2501900" h="138429">
                  <a:moveTo>
                    <a:pt x="226136" y="93738"/>
                  </a:moveTo>
                  <a:lnTo>
                    <a:pt x="219316" y="93738"/>
                  </a:lnTo>
                  <a:lnTo>
                    <a:pt x="219316" y="138417"/>
                  </a:lnTo>
                  <a:lnTo>
                    <a:pt x="226136" y="138417"/>
                  </a:lnTo>
                  <a:lnTo>
                    <a:pt x="226136" y="93738"/>
                  </a:lnTo>
                  <a:close/>
                </a:path>
                <a:path w="2501900" h="138429">
                  <a:moveTo>
                    <a:pt x="240626" y="93357"/>
                  </a:moveTo>
                  <a:lnTo>
                    <a:pt x="233794" y="93357"/>
                  </a:lnTo>
                  <a:lnTo>
                    <a:pt x="233794" y="138417"/>
                  </a:lnTo>
                  <a:lnTo>
                    <a:pt x="240626" y="138417"/>
                  </a:lnTo>
                  <a:lnTo>
                    <a:pt x="240626" y="93357"/>
                  </a:lnTo>
                  <a:close/>
                </a:path>
                <a:path w="2501900" h="138429">
                  <a:moveTo>
                    <a:pt x="254901" y="92506"/>
                  </a:moveTo>
                  <a:lnTo>
                    <a:pt x="248081" y="92506"/>
                  </a:lnTo>
                  <a:lnTo>
                    <a:pt x="248081" y="138417"/>
                  </a:lnTo>
                  <a:lnTo>
                    <a:pt x="254901" y="138417"/>
                  </a:lnTo>
                  <a:lnTo>
                    <a:pt x="254901" y="92506"/>
                  </a:lnTo>
                  <a:close/>
                </a:path>
                <a:path w="2501900" h="138429">
                  <a:moveTo>
                    <a:pt x="270192" y="90512"/>
                  </a:moveTo>
                  <a:lnTo>
                    <a:pt x="263372" y="90512"/>
                  </a:lnTo>
                  <a:lnTo>
                    <a:pt x="263372" y="138417"/>
                  </a:lnTo>
                  <a:lnTo>
                    <a:pt x="270192" y="138417"/>
                  </a:lnTo>
                  <a:lnTo>
                    <a:pt x="270192" y="90512"/>
                  </a:lnTo>
                  <a:close/>
                </a:path>
                <a:path w="2501900" h="138429">
                  <a:moveTo>
                    <a:pt x="284670" y="88912"/>
                  </a:moveTo>
                  <a:lnTo>
                    <a:pt x="277850" y="88912"/>
                  </a:lnTo>
                  <a:lnTo>
                    <a:pt x="277850" y="138417"/>
                  </a:lnTo>
                  <a:lnTo>
                    <a:pt x="284670" y="138417"/>
                  </a:lnTo>
                  <a:lnTo>
                    <a:pt x="284670" y="88912"/>
                  </a:lnTo>
                  <a:close/>
                </a:path>
                <a:path w="2501900" h="138429">
                  <a:moveTo>
                    <a:pt x="299758" y="87376"/>
                  </a:moveTo>
                  <a:lnTo>
                    <a:pt x="292938" y="87376"/>
                  </a:lnTo>
                  <a:lnTo>
                    <a:pt x="292938" y="138417"/>
                  </a:lnTo>
                  <a:lnTo>
                    <a:pt x="299758" y="138417"/>
                  </a:lnTo>
                  <a:lnTo>
                    <a:pt x="299758" y="87376"/>
                  </a:lnTo>
                  <a:close/>
                </a:path>
                <a:path w="2501900" h="138429">
                  <a:moveTo>
                    <a:pt x="312623" y="85763"/>
                  </a:moveTo>
                  <a:lnTo>
                    <a:pt x="305803" y="85763"/>
                  </a:lnTo>
                  <a:lnTo>
                    <a:pt x="305803" y="138417"/>
                  </a:lnTo>
                  <a:lnTo>
                    <a:pt x="312623" y="138417"/>
                  </a:lnTo>
                  <a:lnTo>
                    <a:pt x="312623" y="85763"/>
                  </a:lnTo>
                  <a:close/>
                </a:path>
                <a:path w="2501900" h="138429">
                  <a:moveTo>
                    <a:pt x="327710" y="83388"/>
                  </a:moveTo>
                  <a:lnTo>
                    <a:pt x="320890" y="83388"/>
                  </a:lnTo>
                  <a:lnTo>
                    <a:pt x="320890" y="138417"/>
                  </a:lnTo>
                  <a:lnTo>
                    <a:pt x="327710" y="138417"/>
                  </a:lnTo>
                  <a:lnTo>
                    <a:pt x="327710" y="83388"/>
                  </a:lnTo>
                  <a:close/>
                </a:path>
                <a:path w="2501900" h="138429">
                  <a:moveTo>
                    <a:pt x="343814" y="79781"/>
                  </a:moveTo>
                  <a:lnTo>
                    <a:pt x="336994" y="79781"/>
                  </a:lnTo>
                  <a:lnTo>
                    <a:pt x="336994" y="138417"/>
                  </a:lnTo>
                  <a:lnTo>
                    <a:pt x="343814" y="138417"/>
                  </a:lnTo>
                  <a:lnTo>
                    <a:pt x="343814" y="79781"/>
                  </a:lnTo>
                  <a:close/>
                </a:path>
                <a:path w="2501900" h="138429">
                  <a:moveTo>
                    <a:pt x="357416" y="77330"/>
                  </a:moveTo>
                  <a:lnTo>
                    <a:pt x="350596" y="77330"/>
                  </a:lnTo>
                  <a:lnTo>
                    <a:pt x="350596" y="138417"/>
                  </a:lnTo>
                  <a:lnTo>
                    <a:pt x="357416" y="138417"/>
                  </a:lnTo>
                  <a:lnTo>
                    <a:pt x="357416" y="77330"/>
                  </a:lnTo>
                  <a:close/>
                </a:path>
                <a:path w="2501900" h="138429">
                  <a:moveTo>
                    <a:pt x="371767" y="74193"/>
                  </a:moveTo>
                  <a:lnTo>
                    <a:pt x="364934" y="74193"/>
                  </a:lnTo>
                  <a:lnTo>
                    <a:pt x="364934" y="138417"/>
                  </a:lnTo>
                  <a:lnTo>
                    <a:pt x="371767" y="138417"/>
                  </a:lnTo>
                  <a:lnTo>
                    <a:pt x="371767" y="74193"/>
                  </a:lnTo>
                  <a:close/>
                </a:path>
                <a:path w="2501900" h="138429">
                  <a:moveTo>
                    <a:pt x="386181" y="70586"/>
                  </a:moveTo>
                  <a:lnTo>
                    <a:pt x="379349" y="70586"/>
                  </a:lnTo>
                  <a:lnTo>
                    <a:pt x="379349" y="138417"/>
                  </a:lnTo>
                  <a:lnTo>
                    <a:pt x="386181" y="138417"/>
                  </a:lnTo>
                  <a:lnTo>
                    <a:pt x="386181" y="70586"/>
                  </a:lnTo>
                  <a:close/>
                </a:path>
                <a:path w="2501900" h="138429">
                  <a:moveTo>
                    <a:pt x="401472" y="67830"/>
                  </a:moveTo>
                  <a:lnTo>
                    <a:pt x="394639" y="67830"/>
                  </a:lnTo>
                  <a:lnTo>
                    <a:pt x="394639" y="138417"/>
                  </a:lnTo>
                  <a:lnTo>
                    <a:pt x="401472" y="138417"/>
                  </a:lnTo>
                  <a:lnTo>
                    <a:pt x="401472" y="67830"/>
                  </a:lnTo>
                  <a:close/>
                </a:path>
                <a:path w="2501900" h="138429">
                  <a:moveTo>
                    <a:pt x="414121" y="63004"/>
                  </a:moveTo>
                  <a:lnTo>
                    <a:pt x="407301" y="63004"/>
                  </a:lnTo>
                  <a:lnTo>
                    <a:pt x="407301" y="138417"/>
                  </a:lnTo>
                  <a:lnTo>
                    <a:pt x="414121" y="138417"/>
                  </a:lnTo>
                  <a:lnTo>
                    <a:pt x="414121" y="63004"/>
                  </a:lnTo>
                  <a:close/>
                </a:path>
                <a:path w="2501900" h="138429">
                  <a:moveTo>
                    <a:pt x="430225" y="59397"/>
                  </a:moveTo>
                  <a:lnTo>
                    <a:pt x="423405" y="59397"/>
                  </a:lnTo>
                  <a:lnTo>
                    <a:pt x="423405" y="138417"/>
                  </a:lnTo>
                  <a:lnTo>
                    <a:pt x="430225" y="138417"/>
                  </a:lnTo>
                  <a:lnTo>
                    <a:pt x="430225" y="59397"/>
                  </a:lnTo>
                  <a:close/>
                </a:path>
                <a:path w="2501900" h="138429">
                  <a:moveTo>
                    <a:pt x="444703" y="54648"/>
                  </a:moveTo>
                  <a:lnTo>
                    <a:pt x="437883" y="54648"/>
                  </a:lnTo>
                  <a:lnTo>
                    <a:pt x="437883" y="138417"/>
                  </a:lnTo>
                  <a:lnTo>
                    <a:pt x="444703" y="138417"/>
                  </a:lnTo>
                  <a:lnTo>
                    <a:pt x="444703" y="54648"/>
                  </a:lnTo>
                  <a:close/>
                </a:path>
                <a:path w="2501900" h="138429">
                  <a:moveTo>
                    <a:pt x="459803" y="49441"/>
                  </a:moveTo>
                  <a:lnTo>
                    <a:pt x="452970" y="49441"/>
                  </a:lnTo>
                  <a:lnTo>
                    <a:pt x="452970" y="138417"/>
                  </a:lnTo>
                  <a:lnTo>
                    <a:pt x="459803" y="138417"/>
                  </a:lnTo>
                  <a:lnTo>
                    <a:pt x="459803" y="49441"/>
                  </a:lnTo>
                  <a:close/>
                </a:path>
                <a:path w="2501900" h="138429">
                  <a:moveTo>
                    <a:pt x="474281" y="43840"/>
                  </a:moveTo>
                  <a:lnTo>
                    <a:pt x="467461" y="43840"/>
                  </a:lnTo>
                  <a:lnTo>
                    <a:pt x="467461" y="138417"/>
                  </a:lnTo>
                  <a:lnTo>
                    <a:pt x="474281" y="138417"/>
                  </a:lnTo>
                  <a:lnTo>
                    <a:pt x="474281" y="43840"/>
                  </a:lnTo>
                  <a:close/>
                </a:path>
                <a:path w="2501900" h="138429">
                  <a:moveTo>
                    <a:pt x="488759" y="37858"/>
                  </a:moveTo>
                  <a:lnTo>
                    <a:pt x="481939" y="37858"/>
                  </a:lnTo>
                  <a:lnTo>
                    <a:pt x="481939" y="138417"/>
                  </a:lnTo>
                  <a:lnTo>
                    <a:pt x="488759" y="138417"/>
                  </a:lnTo>
                  <a:lnTo>
                    <a:pt x="488759" y="37858"/>
                  </a:lnTo>
                  <a:close/>
                </a:path>
                <a:path w="2501900" h="138429">
                  <a:moveTo>
                    <a:pt x="503847" y="31877"/>
                  </a:moveTo>
                  <a:lnTo>
                    <a:pt x="497027" y="31877"/>
                  </a:lnTo>
                  <a:lnTo>
                    <a:pt x="497027" y="138417"/>
                  </a:lnTo>
                  <a:lnTo>
                    <a:pt x="503847" y="138417"/>
                  </a:lnTo>
                  <a:lnTo>
                    <a:pt x="503847" y="31877"/>
                  </a:lnTo>
                  <a:close/>
                </a:path>
                <a:path w="2501900" h="138429">
                  <a:moveTo>
                    <a:pt x="516712" y="24752"/>
                  </a:moveTo>
                  <a:lnTo>
                    <a:pt x="509879" y="24752"/>
                  </a:lnTo>
                  <a:lnTo>
                    <a:pt x="509879" y="138417"/>
                  </a:lnTo>
                  <a:lnTo>
                    <a:pt x="516712" y="138417"/>
                  </a:lnTo>
                  <a:lnTo>
                    <a:pt x="516712" y="24752"/>
                  </a:lnTo>
                  <a:close/>
                </a:path>
                <a:path w="2501900" h="138429">
                  <a:moveTo>
                    <a:pt x="532739" y="16789"/>
                  </a:moveTo>
                  <a:lnTo>
                    <a:pt x="525919" y="16789"/>
                  </a:lnTo>
                  <a:lnTo>
                    <a:pt x="525919" y="138417"/>
                  </a:lnTo>
                  <a:lnTo>
                    <a:pt x="532739" y="138417"/>
                  </a:lnTo>
                  <a:lnTo>
                    <a:pt x="532739" y="16789"/>
                  </a:lnTo>
                  <a:close/>
                </a:path>
                <a:path w="2501900" h="138429">
                  <a:moveTo>
                    <a:pt x="547090" y="8737"/>
                  </a:moveTo>
                  <a:lnTo>
                    <a:pt x="540270" y="8737"/>
                  </a:lnTo>
                  <a:lnTo>
                    <a:pt x="540270" y="138417"/>
                  </a:lnTo>
                  <a:lnTo>
                    <a:pt x="547090" y="138417"/>
                  </a:lnTo>
                  <a:lnTo>
                    <a:pt x="547090" y="8737"/>
                  </a:lnTo>
                  <a:close/>
                </a:path>
                <a:path w="2501900" h="138429">
                  <a:moveTo>
                    <a:pt x="562317" y="0"/>
                  </a:moveTo>
                  <a:lnTo>
                    <a:pt x="555485" y="0"/>
                  </a:lnTo>
                  <a:lnTo>
                    <a:pt x="555485" y="138417"/>
                  </a:lnTo>
                  <a:lnTo>
                    <a:pt x="562317" y="138417"/>
                  </a:lnTo>
                  <a:lnTo>
                    <a:pt x="562317" y="0"/>
                  </a:lnTo>
                  <a:close/>
                </a:path>
                <a:path w="2501900" h="138429">
                  <a:moveTo>
                    <a:pt x="2063724" y="0"/>
                  </a:moveTo>
                  <a:lnTo>
                    <a:pt x="2056904" y="0"/>
                  </a:lnTo>
                  <a:lnTo>
                    <a:pt x="2056904" y="138417"/>
                  </a:lnTo>
                  <a:lnTo>
                    <a:pt x="2063724" y="138417"/>
                  </a:lnTo>
                  <a:lnTo>
                    <a:pt x="2063724" y="0"/>
                  </a:lnTo>
                  <a:close/>
                </a:path>
                <a:path w="2501900" h="138429">
                  <a:moveTo>
                    <a:pt x="2078075" y="7975"/>
                  </a:moveTo>
                  <a:lnTo>
                    <a:pt x="2071255" y="7975"/>
                  </a:lnTo>
                  <a:lnTo>
                    <a:pt x="2071255" y="138417"/>
                  </a:lnTo>
                  <a:lnTo>
                    <a:pt x="2078075" y="138417"/>
                  </a:lnTo>
                  <a:lnTo>
                    <a:pt x="2078075" y="7975"/>
                  </a:lnTo>
                  <a:close/>
                </a:path>
                <a:path w="2501900" h="138429">
                  <a:moveTo>
                    <a:pt x="2092490" y="15557"/>
                  </a:moveTo>
                  <a:lnTo>
                    <a:pt x="2085670" y="15557"/>
                  </a:lnTo>
                  <a:lnTo>
                    <a:pt x="2085670" y="138417"/>
                  </a:lnTo>
                  <a:lnTo>
                    <a:pt x="2092490" y="138417"/>
                  </a:lnTo>
                  <a:lnTo>
                    <a:pt x="2092490" y="15557"/>
                  </a:lnTo>
                  <a:close/>
                </a:path>
                <a:path w="2501900" h="138429">
                  <a:moveTo>
                    <a:pt x="2108593" y="24752"/>
                  </a:moveTo>
                  <a:lnTo>
                    <a:pt x="2101773" y="24752"/>
                  </a:lnTo>
                  <a:lnTo>
                    <a:pt x="2101773" y="138417"/>
                  </a:lnTo>
                  <a:lnTo>
                    <a:pt x="2108593" y="138417"/>
                  </a:lnTo>
                  <a:lnTo>
                    <a:pt x="2108593" y="24752"/>
                  </a:lnTo>
                  <a:close/>
                </a:path>
                <a:path w="2501900" h="138429">
                  <a:moveTo>
                    <a:pt x="2122055" y="31877"/>
                  </a:moveTo>
                  <a:lnTo>
                    <a:pt x="2115235" y="31877"/>
                  </a:lnTo>
                  <a:lnTo>
                    <a:pt x="2115235" y="138417"/>
                  </a:lnTo>
                  <a:lnTo>
                    <a:pt x="2122055" y="138417"/>
                  </a:lnTo>
                  <a:lnTo>
                    <a:pt x="2122055" y="31877"/>
                  </a:lnTo>
                  <a:close/>
                </a:path>
                <a:path w="2501900" h="138429">
                  <a:moveTo>
                    <a:pt x="2136546" y="37858"/>
                  </a:moveTo>
                  <a:lnTo>
                    <a:pt x="2129713" y="37858"/>
                  </a:lnTo>
                  <a:lnTo>
                    <a:pt x="2129713" y="138417"/>
                  </a:lnTo>
                  <a:lnTo>
                    <a:pt x="2136546" y="138417"/>
                  </a:lnTo>
                  <a:lnTo>
                    <a:pt x="2136546" y="37858"/>
                  </a:lnTo>
                  <a:close/>
                </a:path>
                <a:path w="2501900" h="138429">
                  <a:moveTo>
                    <a:pt x="2150821" y="43840"/>
                  </a:moveTo>
                  <a:lnTo>
                    <a:pt x="2143988" y="43840"/>
                  </a:lnTo>
                  <a:lnTo>
                    <a:pt x="2143988" y="138417"/>
                  </a:lnTo>
                  <a:lnTo>
                    <a:pt x="2150821" y="138417"/>
                  </a:lnTo>
                  <a:lnTo>
                    <a:pt x="2150821" y="43840"/>
                  </a:lnTo>
                  <a:close/>
                </a:path>
                <a:path w="2501900" h="138429">
                  <a:moveTo>
                    <a:pt x="2166112" y="49441"/>
                  </a:moveTo>
                  <a:lnTo>
                    <a:pt x="2159292" y="49441"/>
                  </a:lnTo>
                  <a:lnTo>
                    <a:pt x="2159292" y="138417"/>
                  </a:lnTo>
                  <a:lnTo>
                    <a:pt x="2166112" y="138417"/>
                  </a:lnTo>
                  <a:lnTo>
                    <a:pt x="2166112" y="49441"/>
                  </a:lnTo>
                  <a:close/>
                </a:path>
                <a:path w="2501900" h="138429">
                  <a:moveTo>
                    <a:pt x="2180590" y="54648"/>
                  </a:moveTo>
                  <a:lnTo>
                    <a:pt x="2173770" y="54648"/>
                  </a:lnTo>
                  <a:lnTo>
                    <a:pt x="2173770" y="138417"/>
                  </a:lnTo>
                  <a:lnTo>
                    <a:pt x="2180590" y="138417"/>
                  </a:lnTo>
                  <a:lnTo>
                    <a:pt x="2180590" y="54648"/>
                  </a:lnTo>
                  <a:close/>
                </a:path>
                <a:path w="2501900" h="138429">
                  <a:moveTo>
                    <a:pt x="2194864" y="59397"/>
                  </a:moveTo>
                  <a:lnTo>
                    <a:pt x="2188045" y="59397"/>
                  </a:lnTo>
                  <a:lnTo>
                    <a:pt x="2188045" y="138417"/>
                  </a:lnTo>
                  <a:lnTo>
                    <a:pt x="2194864" y="138417"/>
                  </a:lnTo>
                  <a:lnTo>
                    <a:pt x="2194864" y="59397"/>
                  </a:lnTo>
                  <a:close/>
                </a:path>
                <a:path w="2501900" h="138429">
                  <a:moveTo>
                    <a:pt x="2210981" y="63004"/>
                  </a:moveTo>
                  <a:lnTo>
                    <a:pt x="2204148" y="63004"/>
                  </a:lnTo>
                  <a:lnTo>
                    <a:pt x="2204148" y="138417"/>
                  </a:lnTo>
                  <a:lnTo>
                    <a:pt x="2210981" y="138417"/>
                  </a:lnTo>
                  <a:lnTo>
                    <a:pt x="2210981" y="63004"/>
                  </a:lnTo>
                  <a:close/>
                </a:path>
                <a:path w="2501900" h="138429">
                  <a:moveTo>
                    <a:pt x="2224570" y="67830"/>
                  </a:moveTo>
                  <a:lnTo>
                    <a:pt x="2217750" y="67830"/>
                  </a:lnTo>
                  <a:lnTo>
                    <a:pt x="2217750" y="138417"/>
                  </a:lnTo>
                  <a:lnTo>
                    <a:pt x="2224570" y="138417"/>
                  </a:lnTo>
                  <a:lnTo>
                    <a:pt x="2224570" y="67830"/>
                  </a:lnTo>
                  <a:close/>
                </a:path>
                <a:path w="2501900" h="138429">
                  <a:moveTo>
                    <a:pt x="2238921" y="70586"/>
                  </a:moveTo>
                  <a:lnTo>
                    <a:pt x="2232101" y="70586"/>
                  </a:lnTo>
                  <a:lnTo>
                    <a:pt x="2232101" y="138417"/>
                  </a:lnTo>
                  <a:lnTo>
                    <a:pt x="2238921" y="138417"/>
                  </a:lnTo>
                  <a:lnTo>
                    <a:pt x="2238921" y="70586"/>
                  </a:lnTo>
                  <a:close/>
                </a:path>
                <a:path w="2501900" h="138429">
                  <a:moveTo>
                    <a:pt x="2253335" y="74193"/>
                  </a:moveTo>
                  <a:lnTo>
                    <a:pt x="2246515" y="74193"/>
                  </a:lnTo>
                  <a:lnTo>
                    <a:pt x="2246515" y="138417"/>
                  </a:lnTo>
                  <a:lnTo>
                    <a:pt x="2253335" y="138417"/>
                  </a:lnTo>
                  <a:lnTo>
                    <a:pt x="2253335" y="74193"/>
                  </a:lnTo>
                  <a:close/>
                </a:path>
                <a:path w="2501900" h="138429">
                  <a:moveTo>
                    <a:pt x="2268626" y="77330"/>
                  </a:moveTo>
                  <a:lnTo>
                    <a:pt x="2261806" y="77330"/>
                  </a:lnTo>
                  <a:lnTo>
                    <a:pt x="2261806" y="138417"/>
                  </a:lnTo>
                  <a:lnTo>
                    <a:pt x="2268626" y="138417"/>
                  </a:lnTo>
                  <a:lnTo>
                    <a:pt x="2268626" y="77330"/>
                  </a:lnTo>
                  <a:close/>
                </a:path>
                <a:path w="2501900" h="138429">
                  <a:moveTo>
                    <a:pt x="2282088" y="79781"/>
                  </a:moveTo>
                  <a:lnTo>
                    <a:pt x="2275268" y="79781"/>
                  </a:lnTo>
                  <a:lnTo>
                    <a:pt x="2275268" y="138417"/>
                  </a:lnTo>
                  <a:lnTo>
                    <a:pt x="2282088" y="138417"/>
                  </a:lnTo>
                  <a:lnTo>
                    <a:pt x="2282088" y="79781"/>
                  </a:lnTo>
                  <a:close/>
                </a:path>
                <a:path w="2501900" h="138429">
                  <a:moveTo>
                    <a:pt x="2297392" y="83388"/>
                  </a:moveTo>
                  <a:lnTo>
                    <a:pt x="2290559" y="83388"/>
                  </a:lnTo>
                  <a:lnTo>
                    <a:pt x="2290559" y="138417"/>
                  </a:lnTo>
                  <a:lnTo>
                    <a:pt x="2297392" y="138417"/>
                  </a:lnTo>
                  <a:lnTo>
                    <a:pt x="2297392" y="83388"/>
                  </a:lnTo>
                  <a:close/>
                </a:path>
                <a:path w="2501900" h="138429">
                  <a:moveTo>
                    <a:pt x="2312682" y="85763"/>
                  </a:moveTo>
                  <a:lnTo>
                    <a:pt x="2305850" y="85763"/>
                  </a:lnTo>
                  <a:lnTo>
                    <a:pt x="2305850" y="138417"/>
                  </a:lnTo>
                  <a:lnTo>
                    <a:pt x="2312682" y="138417"/>
                  </a:lnTo>
                  <a:lnTo>
                    <a:pt x="2312682" y="85763"/>
                  </a:lnTo>
                  <a:close/>
                </a:path>
                <a:path w="2501900" h="138429">
                  <a:moveTo>
                    <a:pt x="2326144" y="87376"/>
                  </a:moveTo>
                  <a:lnTo>
                    <a:pt x="2319324" y="87376"/>
                  </a:lnTo>
                  <a:lnTo>
                    <a:pt x="2319324" y="138417"/>
                  </a:lnTo>
                  <a:lnTo>
                    <a:pt x="2326144" y="138417"/>
                  </a:lnTo>
                  <a:lnTo>
                    <a:pt x="2326144" y="87376"/>
                  </a:lnTo>
                  <a:close/>
                </a:path>
                <a:path w="2501900" h="138429">
                  <a:moveTo>
                    <a:pt x="2340622" y="88912"/>
                  </a:moveTo>
                  <a:lnTo>
                    <a:pt x="2333802" y="88912"/>
                  </a:lnTo>
                  <a:lnTo>
                    <a:pt x="2333802" y="138417"/>
                  </a:lnTo>
                  <a:lnTo>
                    <a:pt x="2340622" y="138417"/>
                  </a:lnTo>
                  <a:lnTo>
                    <a:pt x="2340622" y="88912"/>
                  </a:lnTo>
                  <a:close/>
                </a:path>
                <a:path w="2501900" h="138429">
                  <a:moveTo>
                    <a:pt x="2354910" y="90512"/>
                  </a:moveTo>
                  <a:lnTo>
                    <a:pt x="2348077" y="90512"/>
                  </a:lnTo>
                  <a:lnTo>
                    <a:pt x="2348077" y="138417"/>
                  </a:lnTo>
                  <a:lnTo>
                    <a:pt x="2354910" y="138417"/>
                  </a:lnTo>
                  <a:lnTo>
                    <a:pt x="2354910" y="90512"/>
                  </a:lnTo>
                  <a:close/>
                </a:path>
                <a:path w="2501900" h="138429">
                  <a:moveTo>
                    <a:pt x="2370201" y="92506"/>
                  </a:moveTo>
                  <a:lnTo>
                    <a:pt x="2363368" y="92506"/>
                  </a:lnTo>
                  <a:lnTo>
                    <a:pt x="2363368" y="138417"/>
                  </a:lnTo>
                  <a:lnTo>
                    <a:pt x="2370201" y="138417"/>
                  </a:lnTo>
                  <a:lnTo>
                    <a:pt x="2370201" y="92506"/>
                  </a:lnTo>
                  <a:close/>
                </a:path>
                <a:path w="2501900" h="138429">
                  <a:moveTo>
                    <a:pt x="2384615" y="93357"/>
                  </a:moveTo>
                  <a:lnTo>
                    <a:pt x="2377783" y="93357"/>
                  </a:lnTo>
                  <a:lnTo>
                    <a:pt x="2377783" y="138417"/>
                  </a:lnTo>
                  <a:lnTo>
                    <a:pt x="2384615" y="138417"/>
                  </a:lnTo>
                  <a:lnTo>
                    <a:pt x="2384615" y="93357"/>
                  </a:lnTo>
                  <a:close/>
                </a:path>
                <a:path w="2501900" h="138429">
                  <a:moveTo>
                    <a:pt x="2398141" y="93738"/>
                  </a:moveTo>
                  <a:lnTo>
                    <a:pt x="2391321" y="93738"/>
                  </a:lnTo>
                  <a:lnTo>
                    <a:pt x="2391321" y="138417"/>
                  </a:lnTo>
                  <a:lnTo>
                    <a:pt x="2398141" y="138417"/>
                  </a:lnTo>
                  <a:lnTo>
                    <a:pt x="2398141" y="93738"/>
                  </a:lnTo>
                  <a:close/>
                </a:path>
                <a:path w="2501900" h="138429">
                  <a:moveTo>
                    <a:pt x="2414181" y="94881"/>
                  </a:moveTo>
                  <a:lnTo>
                    <a:pt x="2407361" y="94881"/>
                  </a:lnTo>
                  <a:lnTo>
                    <a:pt x="2407361" y="138417"/>
                  </a:lnTo>
                  <a:lnTo>
                    <a:pt x="2414181" y="138417"/>
                  </a:lnTo>
                  <a:lnTo>
                    <a:pt x="2414181" y="94881"/>
                  </a:lnTo>
                  <a:close/>
                </a:path>
                <a:path w="2501900" h="138429">
                  <a:moveTo>
                    <a:pt x="2429472" y="94500"/>
                  </a:moveTo>
                  <a:lnTo>
                    <a:pt x="2422652" y="94500"/>
                  </a:lnTo>
                  <a:lnTo>
                    <a:pt x="2422652" y="138417"/>
                  </a:lnTo>
                  <a:lnTo>
                    <a:pt x="2429472" y="138417"/>
                  </a:lnTo>
                  <a:lnTo>
                    <a:pt x="2429472" y="94500"/>
                  </a:lnTo>
                  <a:close/>
                </a:path>
                <a:path w="2501900" h="138429">
                  <a:moveTo>
                    <a:pt x="2442934" y="94500"/>
                  </a:moveTo>
                  <a:lnTo>
                    <a:pt x="2436114" y="94500"/>
                  </a:lnTo>
                  <a:lnTo>
                    <a:pt x="2436114" y="138417"/>
                  </a:lnTo>
                  <a:lnTo>
                    <a:pt x="2442934" y="138417"/>
                  </a:lnTo>
                  <a:lnTo>
                    <a:pt x="2442934" y="94500"/>
                  </a:lnTo>
                  <a:close/>
                </a:path>
                <a:path w="2501900" h="138429">
                  <a:moveTo>
                    <a:pt x="2457424" y="94500"/>
                  </a:moveTo>
                  <a:lnTo>
                    <a:pt x="2450592" y="94500"/>
                  </a:lnTo>
                  <a:lnTo>
                    <a:pt x="2450592" y="138417"/>
                  </a:lnTo>
                  <a:lnTo>
                    <a:pt x="2457424" y="138417"/>
                  </a:lnTo>
                  <a:lnTo>
                    <a:pt x="2457424" y="94500"/>
                  </a:lnTo>
                  <a:close/>
                </a:path>
                <a:path w="2501900" h="138429">
                  <a:moveTo>
                    <a:pt x="2472715" y="94119"/>
                  </a:moveTo>
                  <a:lnTo>
                    <a:pt x="2465895" y="94119"/>
                  </a:lnTo>
                  <a:lnTo>
                    <a:pt x="2465895" y="138417"/>
                  </a:lnTo>
                  <a:lnTo>
                    <a:pt x="2472715" y="138417"/>
                  </a:lnTo>
                  <a:lnTo>
                    <a:pt x="2472715" y="94119"/>
                  </a:lnTo>
                  <a:close/>
                </a:path>
                <a:path w="2501900" h="138429">
                  <a:moveTo>
                    <a:pt x="2486990" y="93357"/>
                  </a:moveTo>
                  <a:lnTo>
                    <a:pt x="2480170" y="93357"/>
                  </a:lnTo>
                  <a:lnTo>
                    <a:pt x="2480170" y="138417"/>
                  </a:lnTo>
                  <a:lnTo>
                    <a:pt x="2486990" y="138417"/>
                  </a:lnTo>
                  <a:lnTo>
                    <a:pt x="2486990" y="93357"/>
                  </a:lnTo>
                  <a:close/>
                </a:path>
                <a:path w="2501900" h="138429">
                  <a:moveTo>
                    <a:pt x="2501468" y="92506"/>
                  </a:moveTo>
                  <a:lnTo>
                    <a:pt x="2494648" y="92506"/>
                  </a:lnTo>
                  <a:lnTo>
                    <a:pt x="2494648" y="138417"/>
                  </a:lnTo>
                  <a:lnTo>
                    <a:pt x="2501468" y="138417"/>
                  </a:lnTo>
                  <a:lnTo>
                    <a:pt x="2501468" y="92506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76523" y="5681887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20">
                  <a:moveTo>
                    <a:pt x="0" y="0"/>
                  </a:moveTo>
                  <a:lnTo>
                    <a:pt x="0" y="7110"/>
                  </a:lnTo>
                </a:path>
              </a:pathLst>
            </a:custGeom>
            <a:ln w="6823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001579" y="5546204"/>
              <a:ext cx="1384935" cy="144145"/>
            </a:xfrm>
            <a:custGeom>
              <a:avLst/>
              <a:gdLst/>
              <a:ahLst/>
              <a:cxnLst/>
              <a:rect l="l" t="t" r="r" b="b"/>
              <a:pathLst>
                <a:path w="1384935" h="144145">
                  <a:moveTo>
                    <a:pt x="6832" y="0"/>
                  </a:moveTo>
                  <a:lnTo>
                    <a:pt x="0" y="0"/>
                  </a:lnTo>
                  <a:lnTo>
                    <a:pt x="0" y="143624"/>
                  </a:lnTo>
                  <a:lnTo>
                    <a:pt x="6832" y="143624"/>
                  </a:lnTo>
                  <a:lnTo>
                    <a:pt x="6832" y="0"/>
                  </a:lnTo>
                  <a:close/>
                </a:path>
                <a:path w="1384935" h="144145">
                  <a:moveTo>
                    <a:pt x="21107" y="5207"/>
                  </a:moveTo>
                  <a:lnTo>
                    <a:pt x="14287" y="5207"/>
                  </a:lnTo>
                  <a:lnTo>
                    <a:pt x="14287" y="143624"/>
                  </a:lnTo>
                  <a:lnTo>
                    <a:pt x="21107" y="143624"/>
                  </a:lnTo>
                  <a:lnTo>
                    <a:pt x="21107" y="5207"/>
                  </a:lnTo>
                  <a:close/>
                </a:path>
                <a:path w="1384935" h="144145">
                  <a:moveTo>
                    <a:pt x="35585" y="11188"/>
                  </a:moveTo>
                  <a:lnTo>
                    <a:pt x="28765" y="11188"/>
                  </a:lnTo>
                  <a:lnTo>
                    <a:pt x="28765" y="143624"/>
                  </a:lnTo>
                  <a:lnTo>
                    <a:pt x="35585" y="143624"/>
                  </a:lnTo>
                  <a:lnTo>
                    <a:pt x="35585" y="11188"/>
                  </a:lnTo>
                  <a:close/>
                </a:path>
                <a:path w="1384935" h="144145">
                  <a:moveTo>
                    <a:pt x="50812" y="16014"/>
                  </a:moveTo>
                  <a:lnTo>
                    <a:pt x="43992" y="16014"/>
                  </a:lnTo>
                  <a:lnTo>
                    <a:pt x="43992" y="143624"/>
                  </a:lnTo>
                  <a:lnTo>
                    <a:pt x="50812" y="143624"/>
                  </a:lnTo>
                  <a:lnTo>
                    <a:pt x="50812" y="16014"/>
                  </a:lnTo>
                  <a:close/>
                </a:path>
                <a:path w="1384935" h="144145">
                  <a:moveTo>
                    <a:pt x="65163" y="20383"/>
                  </a:moveTo>
                  <a:lnTo>
                    <a:pt x="58331" y="20383"/>
                  </a:lnTo>
                  <a:lnTo>
                    <a:pt x="58331" y="143624"/>
                  </a:lnTo>
                  <a:lnTo>
                    <a:pt x="65163" y="143624"/>
                  </a:lnTo>
                  <a:lnTo>
                    <a:pt x="65163" y="20383"/>
                  </a:lnTo>
                  <a:close/>
                </a:path>
                <a:path w="1384935" h="144145">
                  <a:moveTo>
                    <a:pt x="79565" y="24752"/>
                  </a:moveTo>
                  <a:lnTo>
                    <a:pt x="72745" y="24752"/>
                  </a:lnTo>
                  <a:lnTo>
                    <a:pt x="72745" y="143624"/>
                  </a:lnTo>
                  <a:lnTo>
                    <a:pt x="79565" y="143624"/>
                  </a:lnTo>
                  <a:lnTo>
                    <a:pt x="79565" y="24752"/>
                  </a:lnTo>
                  <a:close/>
                </a:path>
                <a:path w="1384935" h="144145">
                  <a:moveTo>
                    <a:pt x="94869" y="28346"/>
                  </a:moveTo>
                  <a:lnTo>
                    <a:pt x="88036" y="28346"/>
                  </a:lnTo>
                  <a:lnTo>
                    <a:pt x="88036" y="143624"/>
                  </a:lnTo>
                  <a:lnTo>
                    <a:pt x="94869" y="143624"/>
                  </a:lnTo>
                  <a:lnTo>
                    <a:pt x="94869" y="28346"/>
                  </a:lnTo>
                  <a:close/>
                </a:path>
                <a:path w="1384935" h="144145">
                  <a:moveTo>
                    <a:pt x="109143" y="32715"/>
                  </a:moveTo>
                  <a:lnTo>
                    <a:pt x="102323" y="32715"/>
                  </a:lnTo>
                  <a:lnTo>
                    <a:pt x="102323" y="143624"/>
                  </a:lnTo>
                  <a:lnTo>
                    <a:pt x="109143" y="143624"/>
                  </a:lnTo>
                  <a:lnTo>
                    <a:pt x="109143" y="32715"/>
                  </a:lnTo>
                  <a:close/>
                </a:path>
                <a:path w="1384935" h="144145">
                  <a:moveTo>
                    <a:pt x="123621" y="36322"/>
                  </a:moveTo>
                  <a:lnTo>
                    <a:pt x="116801" y="36322"/>
                  </a:lnTo>
                  <a:lnTo>
                    <a:pt x="116801" y="143624"/>
                  </a:lnTo>
                  <a:lnTo>
                    <a:pt x="123621" y="143624"/>
                  </a:lnTo>
                  <a:lnTo>
                    <a:pt x="123621" y="36322"/>
                  </a:lnTo>
                  <a:close/>
                </a:path>
                <a:path w="1384935" h="144145">
                  <a:moveTo>
                    <a:pt x="137083" y="39077"/>
                  </a:moveTo>
                  <a:lnTo>
                    <a:pt x="130263" y="39077"/>
                  </a:lnTo>
                  <a:lnTo>
                    <a:pt x="130263" y="143624"/>
                  </a:lnTo>
                  <a:lnTo>
                    <a:pt x="137083" y="143624"/>
                  </a:lnTo>
                  <a:lnTo>
                    <a:pt x="137083" y="39077"/>
                  </a:lnTo>
                  <a:close/>
                </a:path>
                <a:path w="1384935" h="144145">
                  <a:moveTo>
                    <a:pt x="152387" y="43065"/>
                  </a:moveTo>
                  <a:lnTo>
                    <a:pt x="145554" y="43065"/>
                  </a:lnTo>
                  <a:lnTo>
                    <a:pt x="145554" y="143624"/>
                  </a:lnTo>
                  <a:lnTo>
                    <a:pt x="152387" y="143624"/>
                  </a:lnTo>
                  <a:lnTo>
                    <a:pt x="152387" y="43065"/>
                  </a:lnTo>
                  <a:close/>
                </a:path>
                <a:path w="1384935" h="144145">
                  <a:moveTo>
                    <a:pt x="166865" y="45516"/>
                  </a:moveTo>
                  <a:lnTo>
                    <a:pt x="160045" y="45516"/>
                  </a:lnTo>
                  <a:lnTo>
                    <a:pt x="160045" y="143624"/>
                  </a:lnTo>
                  <a:lnTo>
                    <a:pt x="166865" y="143624"/>
                  </a:lnTo>
                  <a:lnTo>
                    <a:pt x="166865" y="45516"/>
                  </a:lnTo>
                  <a:close/>
                </a:path>
                <a:path w="1384935" h="144145">
                  <a:moveTo>
                    <a:pt x="181140" y="48285"/>
                  </a:moveTo>
                  <a:lnTo>
                    <a:pt x="174320" y="48285"/>
                  </a:lnTo>
                  <a:lnTo>
                    <a:pt x="174320" y="143624"/>
                  </a:lnTo>
                  <a:lnTo>
                    <a:pt x="181140" y="143624"/>
                  </a:lnTo>
                  <a:lnTo>
                    <a:pt x="181140" y="48285"/>
                  </a:lnTo>
                  <a:close/>
                </a:path>
                <a:path w="1384935" h="144145">
                  <a:moveTo>
                    <a:pt x="196430" y="51041"/>
                  </a:moveTo>
                  <a:lnTo>
                    <a:pt x="189611" y="51041"/>
                  </a:lnTo>
                  <a:lnTo>
                    <a:pt x="189611" y="143624"/>
                  </a:lnTo>
                  <a:lnTo>
                    <a:pt x="196430" y="143624"/>
                  </a:lnTo>
                  <a:lnTo>
                    <a:pt x="196430" y="51041"/>
                  </a:lnTo>
                  <a:close/>
                </a:path>
                <a:path w="1384935" h="144145">
                  <a:moveTo>
                    <a:pt x="210845" y="53873"/>
                  </a:moveTo>
                  <a:lnTo>
                    <a:pt x="204025" y="53873"/>
                  </a:lnTo>
                  <a:lnTo>
                    <a:pt x="204025" y="143624"/>
                  </a:lnTo>
                  <a:lnTo>
                    <a:pt x="210845" y="143624"/>
                  </a:lnTo>
                  <a:lnTo>
                    <a:pt x="210845" y="53873"/>
                  </a:lnTo>
                  <a:close/>
                </a:path>
                <a:path w="1384935" h="144145">
                  <a:moveTo>
                    <a:pt x="225196" y="56642"/>
                  </a:moveTo>
                  <a:lnTo>
                    <a:pt x="218363" y="56642"/>
                  </a:lnTo>
                  <a:lnTo>
                    <a:pt x="218363" y="143624"/>
                  </a:lnTo>
                  <a:lnTo>
                    <a:pt x="225196" y="143624"/>
                  </a:lnTo>
                  <a:lnTo>
                    <a:pt x="225196" y="56642"/>
                  </a:lnTo>
                  <a:close/>
                </a:path>
                <a:path w="1384935" h="144145">
                  <a:moveTo>
                    <a:pt x="240423" y="59016"/>
                  </a:moveTo>
                  <a:lnTo>
                    <a:pt x="233591" y="59016"/>
                  </a:lnTo>
                  <a:lnTo>
                    <a:pt x="233591" y="143624"/>
                  </a:lnTo>
                  <a:lnTo>
                    <a:pt x="240423" y="143624"/>
                  </a:lnTo>
                  <a:lnTo>
                    <a:pt x="240423" y="59016"/>
                  </a:lnTo>
                  <a:close/>
                </a:path>
                <a:path w="1384935" h="144145">
                  <a:moveTo>
                    <a:pt x="254901" y="61010"/>
                  </a:moveTo>
                  <a:lnTo>
                    <a:pt x="248069" y="61010"/>
                  </a:lnTo>
                  <a:lnTo>
                    <a:pt x="248069" y="143624"/>
                  </a:lnTo>
                  <a:lnTo>
                    <a:pt x="254901" y="143624"/>
                  </a:lnTo>
                  <a:lnTo>
                    <a:pt x="254901" y="61010"/>
                  </a:lnTo>
                  <a:close/>
                </a:path>
                <a:path w="1384935" h="144145">
                  <a:moveTo>
                    <a:pt x="269176" y="63080"/>
                  </a:moveTo>
                  <a:lnTo>
                    <a:pt x="262356" y="63080"/>
                  </a:lnTo>
                  <a:lnTo>
                    <a:pt x="262356" y="143624"/>
                  </a:lnTo>
                  <a:lnTo>
                    <a:pt x="269176" y="143624"/>
                  </a:lnTo>
                  <a:lnTo>
                    <a:pt x="269176" y="63080"/>
                  </a:lnTo>
                  <a:close/>
                </a:path>
                <a:path w="1384935" h="144145">
                  <a:moveTo>
                    <a:pt x="283654" y="65062"/>
                  </a:moveTo>
                  <a:lnTo>
                    <a:pt x="276834" y="65062"/>
                  </a:lnTo>
                  <a:lnTo>
                    <a:pt x="276834" y="143624"/>
                  </a:lnTo>
                  <a:lnTo>
                    <a:pt x="283654" y="143624"/>
                  </a:lnTo>
                  <a:lnTo>
                    <a:pt x="283654" y="65062"/>
                  </a:lnTo>
                  <a:close/>
                </a:path>
                <a:path w="1384935" h="144145">
                  <a:moveTo>
                    <a:pt x="298945" y="67056"/>
                  </a:moveTo>
                  <a:lnTo>
                    <a:pt x="292125" y="67056"/>
                  </a:lnTo>
                  <a:lnTo>
                    <a:pt x="292125" y="143624"/>
                  </a:lnTo>
                  <a:lnTo>
                    <a:pt x="298945" y="143624"/>
                  </a:lnTo>
                  <a:lnTo>
                    <a:pt x="298945" y="67056"/>
                  </a:lnTo>
                  <a:close/>
                </a:path>
                <a:path w="1384935" h="144145">
                  <a:moveTo>
                    <a:pt x="313232" y="69049"/>
                  </a:moveTo>
                  <a:lnTo>
                    <a:pt x="306400" y="69049"/>
                  </a:lnTo>
                  <a:lnTo>
                    <a:pt x="306400" y="143624"/>
                  </a:lnTo>
                  <a:lnTo>
                    <a:pt x="313232" y="143624"/>
                  </a:lnTo>
                  <a:lnTo>
                    <a:pt x="313232" y="69049"/>
                  </a:lnTo>
                  <a:close/>
                </a:path>
                <a:path w="1384935" h="144145">
                  <a:moveTo>
                    <a:pt x="327710" y="70205"/>
                  </a:moveTo>
                  <a:lnTo>
                    <a:pt x="320890" y="70205"/>
                  </a:lnTo>
                  <a:lnTo>
                    <a:pt x="320890" y="143624"/>
                  </a:lnTo>
                  <a:lnTo>
                    <a:pt x="327710" y="143624"/>
                  </a:lnTo>
                  <a:lnTo>
                    <a:pt x="327710" y="70205"/>
                  </a:lnTo>
                  <a:close/>
                </a:path>
                <a:path w="1384935" h="144145">
                  <a:moveTo>
                    <a:pt x="342938" y="72580"/>
                  </a:moveTo>
                  <a:lnTo>
                    <a:pt x="336105" y="72580"/>
                  </a:lnTo>
                  <a:lnTo>
                    <a:pt x="336105" y="143624"/>
                  </a:lnTo>
                  <a:lnTo>
                    <a:pt x="342938" y="143624"/>
                  </a:lnTo>
                  <a:lnTo>
                    <a:pt x="342938" y="72580"/>
                  </a:lnTo>
                  <a:close/>
                </a:path>
                <a:path w="1384935" h="144145">
                  <a:moveTo>
                    <a:pt x="357276" y="74193"/>
                  </a:moveTo>
                  <a:lnTo>
                    <a:pt x="350456" y="74193"/>
                  </a:lnTo>
                  <a:lnTo>
                    <a:pt x="350456" y="143624"/>
                  </a:lnTo>
                  <a:lnTo>
                    <a:pt x="357276" y="143624"/>
                  </a:lnTo>
                  <a:lnTo>
                    <a:pt x="357276" y="74193"/>
                  </a:lnTo>
                  <a:close/>
                </a:path>
                <a:path w="1384935" h="144145">
                  <a:moveTo>
                    <a:pt x="371690" y="75793"/>
                  </a:moveTo>
                  <a:lnTo>
                    <a:pt x="364871" y="75793"/>
                  </a:lnTo>
                  <a:lnTo>
                    <a:pt x="364871" y="143624"/>
                  </a:lnTo>
                  <a:lnTo>
                    <a:pt x="371690" y="143624"/>
                  </a:lnTo>
                  <a:lnTo>
                    <a:pt x="371690" y="75793"/>
                  </a:lnTo>
                  <a:close/>
                </a:path>
                <a:path w="1384935" h="144145">
                  <a:moveTo>
                    <a:pt x="386168" y="77025"/>
                  </a:moveTo>
                  <a:lnTo>
                    <a:pt x="379349" y="77025"/>
                  </a:lnTo>
                  <a:lnTo>
                    <a:pt x="379349" y="143624"/>
                  </a:lnTo>
                  <a:lnTo>
                    <a:pt x="386168" y="143624"/>
                  </a:lnTo>
                  <a:lnTo>
                    <a:pt x="386168" y="77025"/>
                  </a:lnTo>
                  <a:close/>
                </a:path>
                <a:path w="1384935" h="144145">
                  <a:moveTo>
                    <a:pt x="401269" y="78562"/>
                  </a:moveTo>
                  <a:lnTo>
                    <a:pt x="394436" y="78562"/>
                  </a:lnTo>
                  <a:lnTo>
                    <a:pt x="394436" y="143624"/>
                  </a:lnTo>
                  <a:lnTo>
                    <a:pt x="401269" y="143624"/>
                  </a:lnTo>
                  <a:lnTo>
                    <a:pt x="401269" y="78562"/>
                  </a:lnTo>
                  <a:close/>
                </a:path>
                <a:path w="1384935" h="144145">
                  <a:moveTo>
                    <a:pt x="415747" y="79781"/>
                  </a:moveTo>
                  <a:lnTo>
                    <a:pt x="408927" y="79781"/>
                  </a:lnTo>
                  <a:lnTo>
                    <a:pt x="408927" y="143624"/>
                  </a:lnTo>
                  <a:lnTo>
                    <a:pt x="415747" y="143624"/>
                  </a:lnTo>
                  <a:lnTo>
                    <a:pt x="415747" y="79781"/>
                  </a:lnTo>
                  <a:close/>
                </a:path>
                <a:path w="1384935" h="144145">
                  <a:moveTo>
                    <a:pt x="430225" y="81013"/>
                  </a:moveTo>
                  <a:lnTo>
                    <a:pt x="423405" y="81013"/>
                  </a:lnTo>
                  <a:lnTo>
                    <a:pt x="423405" y="143624"/>
                  </a:lnTo>
                  <a:lnTo>
                    <a:pt x="430225" y="143624"/>
                  </a:lnTo>
                  <a:lnTo>
                    <a:pt x="430225" y="81013"/>
                  </a:lnTo>
                  <a:close/>
                </a:path>
                <a:path w="1384935" h="144145">
                  <a:moveTo>
                    <a:pt x="445312" y="81394"/>
                  </a:moveTo>
                  <a:lnTo>
                    <a:pt x="438492" y="81394"/>
                  </a:lnTo>
                  <a:lnTo>
                    <a:pt x="438492" y="143624"/>
                  </a:lnTo>
                  <a:lnTo>
                    <a:pt x="445312" y="143624"/>
                  </a:lnTo>
                  <a:lnTo>
                    <a:pt x="445312" y="81394"/>
                  </a:lnTo>
                  <a:close/>
                </a:path>
                <a:path w="1384935" h="144145">
                  <a:moveTo>
                    <a:pt x="459790" y="83007"/>
                  </a:moveTo>
                  <a:lnTo>
                    <a:pt x="452970" y="83007"/>
                  </a:lnTo>
                  <a:lnTo>
                    <a:pt x="452970" y="143624"/>
                  </a:lnTo>
                  <a:lnTo>
                    <a:pt x="459790" y="143624"/>
                  </a:lnTo>
                  <a:lnTo>
                    <a:pt x="459790" y="83007"/>
                  </a:lnTo>
                  <a:close/>
                </a:path>
                <a:path w="1384935" h="144145">
                  <a:moveTo>
                    <a:pt x="474205" y="84150"/>
                  </a:moveTo>
                  <a:lnTo>
                    <a:pt x="467385" y="84150"/>
                  </a:lnTo>
                  <a:lnTo>
                    <a:pt x="467385" y="143624"/>
                  </a:lnTo>
                  <a:lnTo>
                    <a:pt x="474205" y="143624"/>
                  </a:lnTo>
                  <a:lnTo>
                    <a:pt x="474205" y="84150"/>
                  </a:lnTo>
                  <a:close/>
                </a:path>
                <a:path w="1384935" h="144145">
                  <a:moveTo>
                    <a:pt x="488556" y="85382"/>
                  </a:moveTo>
                  <a:lnTo>
                    <a:pt x="481736" y="85382"/>
                  </a:lnTo>
                  <a:lnTo>
                    <a:pt x="481736" y="143624"/>
                  </a:lnTo>
                  <a:lnTo>
                    <a:pt x="488556" y="143624"/>
                  </a:lnTo>
                  <a:lnTo>
                    <a:pt x="488556" y="85382"/>
                  </a:lnTo>
                  <a:close/>
                </a:path>
                <a:path w="1384935" h="144145">
                  <a:moveTo>
                    <a:pt x="503783" y="86982"/>
                  </a:moveTo>
                  <a:lnTo>
                    <a:pt x="496963" y="86982"/>
                  </a:lnTo>
                  <a:lnTo>
                    <a:pt x="496963" y="143624"/>
                  </a:lnTo>
                  <a:lnTo>
                    <a:pt x="503783" y="143624"/>
                  </a:lnTo>
                  <a:lnTo>
                    <a:pt x="503783" y="86982"/>
                  </a:lnTo>
                  <a:close/>
                </a:path>
                <a:path w="1384935" h="144145">
                  <a:moveTo>
                    <a:pt x="518261" y="86982"/>
                  </a:moveTo>
                  <a:lnTo>
                    <a:pt x="511441" y="86982"/>
                  </a:lnTo>
                  <a:lnTo>
                    <a:pt x="511441" y="143624"/>
                  </a:lnTo>
                  <a:lnTo>
                    <a:pt x="518261" y="143624"/>
                  </a:lnTo>
                  <a:lnTo>
                    <a:pt x="518261" y="86982"/>
                  </a:lnTo>
                  <a:close/>
                </a:path>
                <a:path w="1384935" h="144145">
                  <a:moveTo>
                    <a:pt x="532536" y="87757"/>
                  </a:moveTo>
                  <a:lnTo>
                    <a:pt x="525716" y="87757"/>
                  </a:lnTo>
                  <a:lnTo>
                    <a:pt x="525716" y="143624"/>
                  </a:lnTo>
                  <a:lnTo>
                    <a:pt x="532536" y="143624"/>
                  </a:lnTo>
                  <a:lnTo>
                    <a:pt x="532536" y="87757"/>
                  </a:lnTo>
                  <a:close/>
                </a:path>
                <a:path w="1384935" h="144145">
                  <a:moveTo>
                    <a:pt x="547827" y="88595"/>
                  </a:moveTo>
                  <a:lnTo>
                    <a:pt x="541007" y="88595"/>
                  </a:lnTo>
                  <a:lnTo>
                    <a:pt x="541007" y="143624"/>
                  </a:lnTo>
                  <a:lnTo>
                    <a:pt x="547827" y="143624"/>
                  </a:lnTo>
                  <a:lnTo>
                    <a:pt x="547827" y="88595"/>
                  </a:lnTo>
                  <a:close/>
                </a:path>
                <a:path w="1384935" h="144145">
                  <a:moveTo>
                    <a:pt x="562317" y="88976"/>
                  </a:moveTo>
                  <a:lnTo>
                    <a:pt x="555485" y="88976"/>
                  </a:lnTo>
                  <a:lnTo>
                    <a:pt x="555485" y="143624"/>
                  </a:lnTo>
                  <a:lnTo>
                    <a:pt x="562317" y="143624"/>
                  </a:lnTo>
                  <a:lnTo>
                    <a:pt x="562317" y="88976"/>
                  </a:lnTo>
                  <a:close/>
                </a:path>
                <a:path w="1384935" h="144145">
                  <a:moveTo>
                    <a:pt x="576592" y="88976"/>
                  </a:moveTo>
                  <a:lnTo>
                    <a:pt x="569772" y="88976"/>
                  </a:lnTo>
                  <a:lnTo>
                    <a:pt x="569772" y="143624"/>
                  </a:lnTo>
                  <a:lnTo>
                    <a:pt x="576592" y="143624"/>
                  </a:lnTo>
                  <a:lnTo>
                    <a:pt x="576592" y="88976"/>
                  </a:lnTo>
                  <a:close/>
                </a:path>
                <a:path w="1384935" h="144145">
                  <a:moveTo>
                    <a:pt x="591883" y="89357"/>
                  </a:moveTo>
                  <a:lnTo>
                    <a:pt x="585063" y="89357"/>
                  </a:lnTo>
                  <a:lnTo>
                    <a:pt x="585063" y="143624"/>
                  </a:lnTo>
                  <a:lnTo>
                    <a:pt x="591883" y="143624"/>
                  </a:lnTo>
                  <a:lnTo>
                    <a:pt x="591883" y="89357"/>
                  </a:lnTo>
                  <a:close/>
                </a:path>
                <a:path w="1384935" h="144145">
                  <a:moveTo>
                    <a:pt x="606361" y="90131"/>
                  </a:moveTo>
                  <a:lnTo>
                    <a:pt x="599541" y="90131"/>
                  </a:lnTo>
                  <a:lnTo>
                    <a:pt x="599541" y="143624"/>
                  </a:lnTo>
                  <a:lnTo>
                    <a:pt x="606361" y="143624"/>
                  </a:lnTo>
                  <a:lnTo>
                    <a:pt x="606361" y="90131"/>
                  </a:lnTo>
                  <a:close/>
                </a:path>
                <a:path w="1384935" h="144145">
                  <a:moveTo>
                    <a:pt x="620649" y="90589"/>
                  </a:moveTo>
                  <a:lnTo>
                    <a:pt x="613816" y="90589"/>
                  </a:lnTo>
                  <a:lnTo>
                    <a:pt x="613816" y="143624"/>
                  </a:lnTo>
                  <a:lnTo>
                    <a:pt x="620649" y="143624"/>
                  </a:lnTo>
                  <a:lnTo>
                    <a:pt x="620649" y="90589"/>
                  </a:lnTo>
                  <a:close/>
                </a:path>
                <a:path w="1384935" h="144145">
                  <a:moveTo>
                    <a:pt x="635050" y="90589"/>
                  </a:moveTo>
                  <a:lnTo>
                    <a:pt x="628230" y="90589"/>
                  </a:lnTo>
                  <a:lnTo>
                    <a:pt x="628230" y="143624"/>
                  </a:lnTo>
                  <a:lnTo>
                    <a:pt x="635050" y="143624"/>
                  </a:lnTo>
                  <a:lnTo>
                    <a:pt x="635050" y="90589"/>
                  </a:lnTo>
                  <a:close/>
                </a:path>
                <a:path w="1384935" h="144145">
                  <a:moveTo>
                    <a:pt x="650354" y="90589"/>
                  </a:moveTo>
                  <a:lnTo>
                    <a:pt x="643521" y="90589"/>
                  </a:lnTo>
                  <a:lnTo>
                    <a:pt x="643521" y="143624"/>
                  </a:lnTo>
                  <a:lnTo>
                    <a:pt x="650354" y="143624"/>
                  </a:lnTo>
                  <a:lnTo>
                    <a:pt x="650354" y="90589"/>
                  </a:lnTo>
                  <a:close/>
                </a:path>
                <a:path w="1384935" h="144145">
                  <a:moveTo>
                    <a:pt x="664629" y="91744"/>
                  </a:moveTo>
                  <a:lnTo>
                    <a:pt x="657809" y="91744"/>
                  </a:lnTo>
                  <a:lnTo>
                    <a:pt x="657809" y="143624"/>
                  </a:lnTo>
                  <a:lnTo>
                    <a:pt x="664629" y="143624"/>
                  </a:lnTo>
                  <a:lnTo>
                    <a:pt x="664629" y="91744"/>
                  </a:lnTo>
                  <a:close/>
                </a:path>
                <a:path w="1384935" h="144145">
                  <a:moveTo>
                    <a:pt x="678294" y="92125"/>
                  </a:moveTo>
                  <a:lnTo>
                    <a:pt x="671474" y="92125"/>
                  </a:lnTo>
                  <a:lnTo>
                    <a:pt x="671474" y="143624"/>
                  </a:lnTo>
                  <a:lnTo>
                    <a:pt x="678294" y="143624"/>
                  </a:lnTo>
                  <a:lnTo>
                    <a:pt x="678294" y="92125"/>
                  </a:lnTo>
                  <a:close/>
                </a:path>
                <a:path w="1384935" h="144145">
                  <a:moveTo>
                    <a:pt x="693381" y="91351"/>
                  </a:moveTo>
                  <a:lnTo>
                    <a:pt x="686562" y="91351"/>
                  </a:lnTo>
                  <a:lnTo>
                    <a:pt x="686562" y="143624"/>
                  </a:lnTo>
                  <a:lnTo>
                    <a:pt x="693381" y="143624"/>
                  </a:lnTo>
                  <a:lnTo>
                    <a:pt x="693381" y="91351"/>
                  </a:lnTo>
                  <a:close/>
                </a:path>
                <a:path w="1384935" h="144145">
                  <a:moveTo>
                    <a:pt x="707872" y="91351"/>
                  </a:moveTo>
                  <a:lnTo>
                    <a:pt x="701040" y="91351"/>
                  </a:lnTo>
                  <a:lnTo>
                    <a:pt x="701040" y="143624"/>
                  </a:lnTo>
                  <a:lnTo>
                    <a:pt x="707872" y="143624"/>
                  </a:lnTo>
                  <a:lnTo>
                    <a:pt x="707872" y="91351"/>
                  </a:lnTo>
                  <a:close/>
                </a:path>
                <a:path w="1384935" h="144145">
                  <a:moveTo>
                    <a:pt x="723163" y="91770"/>
                  </a:moveTo>
                  <a:lnTo>
                    <a:pt x="716330" y="91770"/>
                  </a:lnTo>
                  <a:lnTo>
                    <a:pt x="716330" y="144043"/>
                  </a:lnTo>
                  <a:lnTo>
                    <a:pt x="723163" y="144043"/>
                  </a:lnTo>
                  <a:lnTo>
                    <a:pt x="723163" y="91770"/>
                  </a:lnTo>
                  <a:close/>
                </a:path>
                <a:path w="1384935" h="144145">
                  <a:moveTo>
                    <a:pt x="739267" y="90589"/>
                  </a:moveTo>
                  <a:lnTo>
                    <a:pt x="732447" y="90589"/>
                  </a:lnTo>
                  <a:lnTo>
                    <a:pt x="732447" y="143624"/>
                  </a:lnTo>
                  <a:lnTo>
                    <a:pt x="739267" y="143624"/>
                  </a:lnTo>
                  <a:lnTo>
                    <a:pt x="739267" y="90589"/>
                  </a:lnTo>
                  <a:close/>
                </a:path>
                <a:path w="1384935" h="144145">
                  <a:moveTo>
                    <a:pt x="752729" y="91351"/>
                  </a:moveTo>
                  <a:lnTo>
                    <a:pt x="745909" y="91351"/>
                  </a:lnTo>
                  <a:lnTo>
                    <a:pt x="745909" y="143624"/>
                  </a:lnTo>
                  <a:lnTo>
                    <a:pt x="752729" y="143624"/>
                  </a:lnTo>
                  <a:lnTo>
                    <a:pt x="752729" y="91351"/>
                  </a:lnTo>
                  <a:close/>
                </a:path>
                <a:path w="1384935" h="144145">
                  <a:moveTo>
                    <a:pt x="768019" y="91744"/>
                  </a:moveTo>
                  <a:lnTo>
                    <a:pt x="761199" y="91744"/>
                  </a:lnTo>
                  <a:lnTo>
                    <a:pt x="761199" y="143624"/>
                  </a:lnTo>
                  <a:lnTo>
                    <a:pt x="768019" y="143624"/>
                  </a:lnTo>
                  <a:lnTo>
                    <a:pt x="768019" y="91744"/>
                  </a:lnTo>
                  <a:close/>
                </a:path>
                <a:path w="1384935" h="144145">
                  <a:moveTo>
                    <a:pt x="1136345" y="62611"/>
                  </a:moveTo>
                  <a:lnTo>
                    <a:pt x="1129512" y="62611"/>
                  </a:lnTo>
                  <a:lnTo>
                    <a:pt x="1129512" y="143624"/>
                  </a:lnTo>
                  <a:lnTo>
                    <a:pt x="1136345" y="143624"/>
                  </a:lnTo>
                  <a:lnTo>
                    <a:pt x="1136345" y="62611"/>
                  </a:lnTo>
                  <a:close/>
                </a:path>
                <a:path w="1384935" h="144145">
                  <a:moveTo>
                    <a:pt x="1150759" y="60236"/>
                  </a:moveTo>
                  <a:lnTo>
                    <a:pt x="1143927" y="60236"/>
                  </a:lnTo>
                  <a:lnTo>
                    <a:pt x="1143927" y="143624"/>
                  </a:lnTo>
                  <a:lnTo>
                    <a:pt x="1150759" y="143624"/>
                  </a:lnTo>
                  <a:lnTo>
                    <a:pt x="1150759" y="60236"/>
                  </a:lnTo>
                  <a:close/>
                </a:path>
                <a:path w="1384935" h="144145">
                  <a:moveTo>
                    <a:pt x="1165098" y="57861"/>
                  </a:moveTo>
                  <a:lnTo>
                    <a:pt x="1158278" y="57861"/>
                  </a:lnTo>
                  <a:lnTo>
                    <a:pt x="1158278" y="143624"/>
                  </a:lnTo>
                  <a:lnTo>
                    <a:pt x="1165098" y="143624"/>
                  </a:lnTo>
                  <a:lnTo>
                    <a:pt x="1165098" y="57861"/>
                  </a:lnTo>
                  <a:close/>
                </a:path>
                <a:path w="1384935" h="144145">
                  <a:moveTo>
                    <a:pt x="1179512" y="56248"/>
                  </a:moveTo>
                  <a:lnTo>
                    <a:pt x="1172692" y="56248"/>
                  </a:lnTo>
                  <a:lnTo>
                    <a:pt x="1172692" y="143624"/>
                  </a:lnTo>
                  <a:lnTo>
                    <a:pt x="1179512" y="143624"/>
                  </a:lnTo>
                  <a:lnTo>
                    <a:pt x="1179512" y="56248"/>
                  </a:lnTo>
                  <a:close/>
                </a:path>
                <a:path w="1384935" h="144145">
                  <a:moveTo>
                    <a:pt x="1194803" y="53492"/>
                  </a:moveTo>
                  <a:lnTo>
                    <a:pt x="1187983" y="53492"/>
                  </a:lnTo>
                  <a:lnTo>
                    <a:pt x="1187983" y="143624"/>
                  </a:lnTo>
                  <a:lnTo>
                    <a:pt x="1194803" y="143624"/>
                  </a:lnTo>
                  <a:lnTo>
                    <a:pt x="1194803" y="53492"/>
                  </a:lnTo>
                  <a:close/>
                </a:path>
                <a:path w="1384935" h="144145">
                  <a:moveTo>
                    <a:pt x="1209078" y="51041"/>
                  </a:moveTo>
                  <a:lnTo>
                    <a:pt x="1202258" y="51041"/>
                  </a:lnTo>
                  <a:lnTo>
                    <a:pt x="1202258" y="143624"/>
                  </a:lnTo>
                  <a:lnTo>
                    <a:pt x="1209078" y="143624"/>
                  </a:lnTo>
                  <a:lnTo>
                    <a:pt x="1209078" y="51041"/>
                  </a:lnTo>
                  <a:close/>
                </a:path>
                <a:path w="1384935" h="144145">
                  <a:moveTo>
                    <a:pt x="1223568" y="47053"/>
                  </a:moveTo>
                  <a:lnTo>
                    <a:pt x="1216736" y="47053"/>
                  </a:lnTo>
                  <a:lnTo>
                    <a:pt x="1216736" y="143624"/>
                  </a:lnTo>
                  <a:lnTo>
                    <a:pt x="1223568" y="143624"/>
                  </a:lnTo>
                  <a:lnTo>
                    <a:pt x="1223568" y="47053"/>
                  </a:lnTo>
                  <a:close/>
                </a:path>
                <a:path w="1384935" h="144145">
                  <a:moveTo>
                    <a:pt x="1238046" y="44678"/>
                  </a:moveTo>
                  <a:lnTo>
                    <a:pt x="1231226" y="44678"/>
                  </a:lnTo>
                  <a:lnTo>
                    <a:pt x="1231226" y="143624"/>
                  </a:lnTo>
                  <a:lnTo>
                    <a:pt x="1238046" y="143624"/>
                  </a:lnTo>
                  <a:lnTo>
                    <a:pt x="1238046" y="44678"/>
                  </a:lnTo>
                  <a:close/>
                </a:path>
                <a:path w="1384935" h="144145">
                  <a:moveTo>
                    <a:pt x="1252321" y="41529"/>
                  </a:moveTo>
                  <a:lnTo>
                    <a:pt x="1245501" y="41529"/>
                  </a:lnTo>
                  <a:lnTo>
                    <a:pt x="1245501" y="143624"/>
                  </a:lnTo>
                  <a:lnTo>
                    <a:pt x="1252321" y="143624"/>
                  </a:lnTo>
                  <a:lnTo>
                    <a:pt x="1252321" y="41529"/>
                  </a:lnTo>
                  <a:close/>
                </a:path>
                <a:path w="1384935" h="144145">
                  <a:moveTo>
                    <a:pt x="1266799" y="39077"/>
                  </a:moveTo>
                  <a:lnTo>
                    <a:pt x="1259979" y="39077"/>
                  </a:lnTo>
                  <a:lnTo>
                    <a:pt x="1259979" y="143624"/>
                  </a:lnTo>
                  <a:lnTo>
                    <a:pt x="1266799" y="143624"/>
                  </a:lnTo>
                  <a:lnTo>
                    <a:pt x="1266799" y="39077"/>
                  </a:lnTo>
                  <a:close/>
                </a:path>
                <a:path w="1384935" h="144145">
                  <a:moveTo>
                    <a:pt x="1281087" y="35483"/>
                  </a:moveTo>
                  <a:lnTo>
                    <a:pt x="1274254" y="35483"/>
                  </a:lnTo>
                  <a:lnTo>
                    <a:pt x="1274254" y="143624"/>
                  </a:lnTo>
                  <a:lnTo>
                    <a:pt x="1281087" y="143624"/>
                  </a:lnTo>
                  <a:lnTo>
                    <a:pt x="1281087" y="35483"/>
                  </a:lnTo>
                  <a:close/>
                </a:path>
                <a:path w="1384935" h="144145">
                  <a:moveTo>
                    <a:pt x="1296377" y="31953"/>
                  </a:moveTo>
                  <a:lnTo>
                    <a:pt x="1289545" y="31953"/>
                  </a:lnTo>
                  <a:lnTo>
                    <a:pt x="1289545" y="143624"/>
                  </a:lnTo>
                  <a:lnTo>
                    <a:pt x="1296377" y="143624"/>
                  </a:lnTo>
                  <a:lnTo>
                    <a:pt x="1296377" y="31953"/>
                  </a:lnTo>
                  <a:close/>
                </a:path>
                <a:path w="1384935" h="144145">
                  <a:moveTo>
                    <a:pt x="1310792" y="27508"/>
                  </a:moveTo>
                  <a:lnTo>
                    <a:pt x="1303959" y="27508"/>
                  </a:lnTo>
                  <a:lnTo>
                    <a:pt x="1303959" y="143624"/>
                  </a:lnTo>
                  <a:lnTo>
                    <a:pt x="1310792" y="143624"/>
                  </a:lnTo>
                  <a:lnTo>
                    <a:pt x="1310792" y="27508"/>
                  </a:lnTo>
                  <a:close/>
                </a:path>
                <a:path w="1384935" h="144145">
                  <a:moveTo>
                    <a:pt x="1325130" y="23139"/>
                  </a:moveTo>
                  <a:lnTo>
                    <a:pt x="1318310" y="23139"/>
                  </a:lnTo>
                  <a:lnTo>
                    <a:pt x="1318310" y="143624"/>
                  </a:lnTo>
                  <a:lnTo>
                    <a:pt x="1325130" y="143624"/>
                  </a:lnTo>
                  <a:lnTo>
                    <a:pt x="1325130" y="23139"/>
                  </a:lnTo>
                  <a:close/>
                </a:path>
                <a:path w="1384935" h="144145">
                  <a:moveTo>
                    <a:pt x="1340358" y="19532"/>
                  </a:moveTo>
                  <a:lnTo>
                    <a:pt x="1333538" y="19532"/>
                  </a:lnTo>
                  <a:lnTo>
                    <a:pt x="1333538" y="143624"/>
                  </a:lnTo>
                  <a:lnTo>
                    <a:pt x="1340358" y="143624"/>
                  </a:lnTo>
                  <a:lnTo>
                    <a:pt x="1340358" y="19532"/>
                  </a:lnTo>
                  <a:close/>
                </a:path>
                <a:path w="1384935" h="144145">
                  <a:moveTo>
                    <a:pt x="1354836" y="14782"/>
                  </a:moveTo>
                  <a:lnTo>
                    <a:pt x="1348016" y="14782"/>
                  </a:lnTo>
                  <a:lnTo>
                    <a:pt x="1348016" y="143624"/>
                  </a:lnTo>
                  <a:lnTo>
                    <a:pt x="1354836" y="143624"/>
                  </a:lnTo>
                  <a:lnTo>
                    <a:pt x="1354836" y="14782"/>
                  </a:lnTo>
                  <a:close/>
                </a:path>
                <a:path w="1384935" h="144145">
                  <a:moveTo>
                    <a:pt x="1369123" y="9956"/>
                  </a:moveTo>
                  <a:lnTo>
                    <a:pt x="1362290" y="9956"/>
                  </a:lnTo>
                  <a:lnTo>
                    <a:pt x="1362290" y="143624"/>
                  </a:lnTo>
                  <a:lnTo>
                    <a:pt x="1369123" y="143624"/>
                  </a:lnTo>
                  <a:lnTo>
                    <a:pt x="1369123" y="9956"/>
                  </a:lnTo>
                  <a:close/>
                </a:path>
                <a:path w="1384935" h="144145">
                  <a:moveTo>
                    <a:pt x="1384414" y="3594"/>
                  </a:moveTo>
                  <a:lnTo>
                    <a:pt x="1377581" y="3594"/>
                  </a:lnTo>
                  <a:lnTo>
                    <a:pt x="1377581" y="143624"/>
                  </a:lnTo>
                  <a:lnTo>
                    <a:pt x="1384414" y="143624"/>
                  </a:lnTo>
                  <a:lnTo>
                    <a:pt x="1384414" y="3594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779632" y="5545823"/>
              <a:ext cx="621030" cy="144145"/>
            </a:xfrm>
            <a:custGeom>
              <a:avLst/>
              <a:gdLst/>
              <a:ahLst/>
              <a:cxnLst/>
              <a:rect l="l" t="t" r="r" b="b"/>
              <a:pathLst>
                <a:path w="621029" h="144145">
                  <a:moveTo>
                    <a:pt x="6819" y="90512"/>
                  </a:moveTo>
                  <a:lnTo>
                    <a:pt x="0" y="90512"/>
                  </a:lnTo>
                  <a:lnTo>
                    <a:pt x="0" y="144005"/>
                  </a:lnTo>
                  <a:lnTo>
                    <a:pt x="6819" y="144005"/>
                  </a:lnTo>
                  <a:lnTo>
                    <a:pt x="6819" y="90512"/>
                  </a:lnTo>
                  <a:close/>
                </a:path>
                <a:path w="621029" h="144145">
                  <a:moveTo>
                    <a:pt x="21297" y="89738"/>
                  </a:moveTo>
                  <a:lnTo>
                    <a:pt x="14478" y="89738"/>
                  </a:lnTo>
                  <a:lnTo>
                    <a:pt x="14478" y="144005"/>
                  </a:lnTo>
                  <a:lnTo>
                    <a:pt x="21297" y="144005"/>
                  </a:lnTo>
                  <a:lnTo>
                    <a:pt x="21297" y="89738"/>
                  </a:lnTo>
                  <a:close/>
                </a:path>
                <a:path w="621029" h="144145">
                  <a:moveTo>
                    <a:pt x="35585" y="89357"/>
                  </a:moveTo>
                  <a:lnTo>
                    <a:pt x="28752" y="89357"/>
                  </a:lnTo>
                  <a:lnTo>
                    <a:pt x="28752" y="144005"/>
                  </a:lnTo>
                  <a:lnTo>
                    <a:pt x="35585" y="144005"/>
                  </a:lnTo>
                  <a:lnTo>
                    <a:pt x="35585" y="89357"/>
                  </a:lnTo>
                  <a:close/>
                </a:path>
                <a:path w="621029" h="144145">
                  <a:moveTo>
                    <a:pt x="50063" y="89357"/>
                  </a:moveTo>
                  <a:lnTo>
                    <a:pt x="43230" y="89357"/>
                  </a:lnTo>
                  <a:lnTo>
                    <a:pt x="43230" y="144005"/>
                  </a:lnTo>
                  <a:lnTo>
                    <a:pt x="50063" y="144005"/>
                  </a:lnTo>
                  <a:lnTo>
                    <a:pt x="50063" y="89357"/>
                  </a:lnTo>
                  <a:close/>
                </a:path>
                <a:path w="621029" h="144145">
                  <a:moveTo>
                    <a:pt x="65354" y="88976"/>
                  </a:moveTo>
                  <a:lnTo>
                    <a:pt x="58534" y="88976"/>
                  </a:lnTo>
                  <a:lnTo>
                    <a:pt x="58534" y="144005"/>
                  </a:lnTo>
                  <a:lnTo>
                    <a:pt x="65354" y="144005"/>
                  </a:lnTo>
                  <a:lnTo>
                    <a:pt x="65354" y="88976"/>
                  </a:lnTo>
                  <a:close/>
                </a:path>
                <a:path w="621029" h="144145">
                  <a:moveTo>
                    <a:pt x="79768" y="88138"/>
                  </a:moveTo>
                  <a:lnTo>
                    <a:pt x="72948" y="88138"/>
                  </a:lnTo>
                  <a:lnTo>
                    <a:pt x="72948" y="144005"/>
                  </a:lnTo>
                  <a:lnTo>
                    <a:pt x="79768" y="144005"/>
                  </a:lnTo>
                  <a:lnTo>
                    <a:pt x="79768" y="88138"/>
                  </a:lnTo>
                  <a:close/>
                </a:path>
                <a:path w="621029" h="144145">
                  <a:moveTo>
                    <a:pt x="94107" y="87363"/>
                  </a:moveTo>
                  <a:lnTo>
                    <a:pt x="87287" y="87363"/>
                  </a:lnTo>
                  <a:lnTo>
                    <a:pt x="87287" y="144005"/>
                  </a:lnTo>
                  <a:lnTo>
                    <a:pt x="94107" y="144005"/>
                  </a:lnTo>
                  <a:lnTo>
                    <a:pt x="94107" y="87363"/>
                  </a:lnTo>
                  <a:close/>
                </a:path>
                <a:path w="621029" h="144145">
                  <a:moveTo>
                    <a:pt x="109334" y="87363"/>
                  </a:moveTo>
                  <a:lnTo>
                    <a:pt x="102514" y="87363"/>
                  </a:lnTo>
                  <a:lnTo>
                    <a:pt x="102514" y="144005"/>
                  </a:lnTo>
                  <a:lnTo>
                    <a:pt x="109334" y="144005"/>
                  </a:lnTo>
                  <a:lnTo>
                    <a:pt x="109334" y="87363"/>
                  </a:lnTo>
                  <a:close/>
                </a:path>
                <a:path w="621029" h="144145">
                  <a:moveTo>
                    <a:pt x="123812" y="85763"/>
                  </a:moveTo>
                  <a:lnTo>
                    <a:pt x="116992" y="85763"/>
                  </a:lnTo>
                  <a:lnTo>
                    <a:pt x="116992" y="144005"/>
                  </a:lnTo>
                  <a:lnTo>
                    <a:pt x="123812" y="144005"/>
                  </a:lnTo>
                  <a:lnTo>
                    <a:pt x="123812" y="85763"/>
                  </a:lnTo>
                  <a:close/>
                </a:path>
                <a:path w="621029" h="144145">
                  <a:moveTo>
                    <a:pt x="138099" y="84531"/>
                  </a:moveTo>
                  <a:lnTo>
                    <a:pt x="131267" y="84531"/>
                  </a:lnTo>
                  <a:lnTo>
                    <a:pt x="131267" y="144005"/>
                  </a:lnTo>
                  <a:lnTo>
                    <a:pt x="138099" y="144005"/>
                  </a:lnTo>
                  <a:lnTo>
                    <a:pt x="138099" y="84531"/>
                  </a:lnTo>
                  <a:close/>
                </a:path>
                <a:path w="621029" h="144145">
                  <a:moveTo>
                    <a:pt x="153390" y="83388"/>
                  </a:moveTo>
                  <a:lnTo>
                    <a:pt x="146570" y="83388"/>
                  </a:lnTo>
                  <a:lnTo>
                    <a:pt x="146570" y="144005"/>
                  </a:lnTo>
                  <a:lnTo>
                    <a:pt x="153390" y="144005"/>
                  </a:lnTo>
                  <a:lnTo>
                    <a:pt x="153390" y="83388"/>
                  </a:lnTo>
                  <a:close/>
                </a:path>
                <a:path w="621029" h="144145">
                  <a:moveTo>
                    <a:pt x="167868" y="82918"/>
                  </a:moveTo>
                  <a:lnTo>
                    <a:pt x="161048" y="82918"/>
                  </a:lnTo>
                  <a:lnTo>
                    <a:pt x="161048" y="144005"/>
                  </a:lnTo>
                  <a:lnTo>
                    <a:pt x="167868" y="144005"/>
                  </a:lnTo>
                  <a:lnTo>
                    <a:pt x="167868" y="82918"/>
                  </a:lnTo>
                  <a:close/>
                </a:path>
                <a:path w="621029" h="144145">
                  <a:moveTo>
                    <a:pt x="182143" y="81394"/>
                  </a:moveTo>
                  <a:lnTo>
                    <a:pt x="175323" y="81394"/>
                  </a:lnTo>
                  <a:lnTo>
                    <a:pt x="175323" y="144005"/>
                  </a:lnTo>
                  <a:lnTo>
                    <a:pt x="182143" y="144005"/>
                  </a:lnTo>
                  <a:lnTo>
                    <a:pt x="182143" y="81394"/>
                  </a:lnTo>
                  <a:close/>
                </a:path>
                <a:path w="621029" h="144145">
                  <a:moveTo>
                    <a:pt x="196634" y="80162"/>
                  </a:moveTo>
                  <a:lnTo>
                    <a:pt x="189801" y="80162"/>
                  </a:lnTo>
                  <a:lnTo>
                    <a:pt x="189801" y="144005"/>
                  </a:lnTo>
                  <a:lnTo>
                    <a:pt x="196634" y="144005"/>
                  </a:lnTo>
                  <a:lnTo>
                    <a:pt x="196634" y="80162"/>
                  </a:lnTo>
                  <a:close/>
                </a:path>
                <a:path w="621029" h="144145">
                  <a:moveTo>
                    <a:pt x="211848" y="78943"/>
                  </a:moveTo>
                  <a:lnTo>
                    <a:pt x="205028" y="78943"/>
                  </a:lnTo>
                  <a:lnTo>
                    <a:pt x="205028" y="144005"/>
                  </a:lnTo>
                  <a:lnTo>
                    <a:pt x="211848" y="144005"/>
                  </a:lnTo>
                  <a:lnTo>
                    <a:pt x="211848" y="78943"/>
                  </a:lnTo>
                  <a:close/>
                </a:path>
                <a:path w="621029" h="144145">
                  <a:moveTo>
                    <a:pt x="226199" y="78168"/>
                  </a:moveTo>
                  <a:lnTo>
                    <a:pt x="219379" y="78168"/>
                  </a:lnTo>
                  <a:lnTo>
                    <a:pt x="219379" y="144005"/>
                  </a:lnTo>
                  <a:lnTo>
                    <a:pt x="226199" y="144005"/>
                  </a:lnTo>
                  <a:lnTo>
                    <a:pt x="226199" y="78168"/>
                  </a:lnTo>
                  <a:close/>
                </a:path>
                <a:path w="621029" h="144145">
                  <a:moveTo>
                    <a:pt x="240614" y="76568"/>
                  </a:moveTo>
                  <a:lnTo>
                    <a:pt x="233794" y="76568"/>
                  </a:lnTo>
                  <a:lnTo>
                    <a:pt x="233794" y="144005"/>
                  </a:lnTo>
                  <a:lnTo>
                    <a:pt x="240614" y="144005"/>
                  </a:lnTo>
                  <a:lnTo>
                    <a:pt x="240614" y="76568"/>
                  </a:lnTo>
                  <a:close/>
                </a:path>
                <a:path w="621029" h="144145">
                  <a:moveTo>
                    <a:pt x="255905" y="74574"/>
                  </a:moveTo>
                  <a:lnTo>
                    <a:pt x="249085" y="74574"/>
                  </a:lnTo>
                  <a:lnTo>
                    <a:pt x="249085" y="144005"/>
                  </a:lnTo>
                  <a:lnTo>
                    <a:pt x="255905" y="144005"/>
                  </a:lnTo>
                  <a:lnTo>
                    <a:pt x="255905" y="74574"/>
                  </a:lnTo>
                  <a:close/>
                </a:path>
                <a:path w="621029" h="144145">
                  <a:moveTo>
                    <a:pt x="270179" y="72961"/>
                  </a:moveTo>
                  <a:lnTo>
                    <a:pt x="263359" y="72961"/>
                  </a:lnTo>
                  <a:lnTo>
                    <a:pt x="263359" y="144005"/>
                  </a:lnTo>
                  <a:lnTo>
                    <a:pt x="270179" y="144005"/>
                  </a:lnTo>
                  <a:lnTo>
                    <a:pt x="270179" y="72961"/>
                  </a:lnTo>
                  <a:close/>
                </a:path>
                <a:path w="621029" h="144145">
                  <a:moveTo>
                    <a:pt x="284670" y="71805"/>
                  </a:moveTo>
                  <a:lnTo>
                    <a:pt x="277837" y="71805"/>
                  </a:lnTo>
                  <a:lnTo>
                    <a:pt x="277837" y="144005"/>
                  </a:lnTo>
                  <a:lnTo>
                    <a:pt x="284670" y="144005"/>
                  </a:lnTo>
                  <a:lnTo>
                    <a:pt x="284670" y="71805"/>
                  </a:lnTo>
                  <a:close/>
                </a:path>
                <a:path w="621029" h="144145">
                  <a:moveTo>
                    <a:pt x="298945" y="70586"/>
                  </a:moveTo>
                  <a:lnTo>
                    <a:pt x="292112" y="70586"/>
                  </a:lnTo>
                  <a:lnTo>
                    <a:pt x="292112" y="144005"/>
                  </a:lnTo>
                  <a:lnTo>
                    <a:pt x="298945" y="144005"/>
                  </a:lnTo>
                  <a:lnTo>
                    <a:pt x="298945" y="70586"/>
                  </a:lnTo>
                  <a:close/>
                </a:path>
                <a:path w="621029" h="144145">
                  <a:moveTo>
                    <a:pt x="314236" y="68592"/>
                  </a:moveTo>
                  <a:lnTo>
                    <a:pt x="307416" y="68592"/>
                  </a:lnTo>
                  <a:lnTo>
                    <a:pt x="307416" y="144005"/>
                  </a:lnTo>
                  <a:lnTo>
                    <a:pt x="314236" y="144005"/>
                  </a:lnTo>
                  <a:lnTo>
                    <a:pt x="314236" y="68592"/>
                  </a:lnTo>
                  <a:close/>
                </a:path>
                <a:path w="621029" h="144145">
                  <a:moveTo>
                    <a:pt x="328714" y="66598"/>
                  </a:moveTo>
                  <a:lnTo>
                    <a:pt x="321894" y="66598"/>
                  </a:lnTo>
                  <a:lnTo>
                    <a:pt x="321894" y="144005"/>
                  </a:lnTo>
                  <a:lnTo>
                    <a:pt x="328714" y="144005"/>
                  </a:lnTo>
                  <a:lnTo>
                    <a:pt x="328714" y="66598"/>
                  </a:lnTo>
                  <a:close/>
                </a:path>
                <a:path w="621029" h="144145">
                  <a:moveTo>
                    <a:pt x="342988" y="65443"/>
                  </a:moveTo>
                  <a:lnTo>
                    <a:pt x="336169" y="65443"/>
                  </a:lnTo>
                  <a:lnTo>
                    <a:pt x="336169" y="144005"/>
                  </a:lnTo>
                  <a:lnTo>
                    <a:pt x="342988" y="144005"/>
                  </a:lnTo>
                  <a:lnTo>
                    <a:pt x="342988" y="65443"/>
                  </a:lnTo>
                  <a:close/>
                </a:path>
                <a:path w="621029" h="144145">
                  <a:moveTo>
                    <a:pt x="358292" y="62992"/>
                  </a:moveTo>
                  <a:lnTo>
                    <a:pt x="351459" y="62992"/>
                  </a:lnTo>
                  <a:lnTo>
                    <a:pt x="351459" y="144005"/>
                  </a:lnTo>
                  <a:lnTo>
                    <a:pt x="358292" y="144005"/>
                  </a:lnTo>
                  <a:lnTo>
                    <a:pt x="358292" y="62992"/>
                  </a:lnTo>
                  <a:close/>
                </a:path>
                <a:path w="621029" h="144145">
                  <a:moveTo>
                    <a:pt x="620839" y="0"/>
                  </a:moveTo>
                  <a:lnTo>
                    <a:pt x="614019" y="0"/>
                  </a:lnTo>
                  <a:lnTo>
                    <a:pt x="614019" y="143560"/>
                  </a:lnTo>
                  <a:lnTo>
                    <a:pt x="620839" y="143560"/>
                  </a:lnTo>
                  <a:lnTo>
                    <a:pt x="620839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58002" y="5531505"/>
              <a:ext cx="2677795" cy="155575"/>
            </a:xfrm>
            <a:custGeom>
              <a:avLst/>
              <a:gdLst/>
              <a:ahLst/>
              <a:cxnLst/>
              <a:rect l="l" t="t" r="r" b="b"/>
              <a:pathLst>
                <a:path w="2677795" h="155575">
                  <a:moveTo>
                    <a:pt x="135498" y="111288"/>
                  </a:moveTo>
                  <a:lnTo>
                    <a:pt x="145580" y="112053"/>
                  </a:lnTo>
                  <a:lnTo>
                    <a:pt x="156610" y="112818"/>
                  </a:lnTo>
                  <a:lnTo>
                    <a:pt x="165068" y="113647"/>
                  </a:lnTo>
                  <a:lnTo>
                    <a:pt x="181985" y="114030"/>
                  </a:lnTo>
                  <a:lnTo>
                    <a:pt x="193827" y="114030"/>
                  </a:lnTo>
                  <a:lnTo>
                    <a:pt x="207496" y="114413"/>
                  </a:lnTo>
                  <a:lnTo>
                    <a:pt x="221774" y="114413"/>
                  </a:lnTo>
                  <a:lnTo>
                    <a:pt x="234428" y="114030"/>
                  </a:lnTo>
                  <a:lnTo>
                    <a:pt x="244714" y="113647"/>
                  </a:lnTo>
                  <a:lnTo>
                    <a:pt x="253104" y="113647"/>
                  </a:lnTo>
                  <a:lnTo>
                    <a:pt x="292961" y="110427"/>
                  </a:lnTo>
                  <a:lnTo>
                    <a:pt x="304803" y="108832"/>
                  </a:lnTo>
                  <a:lnTo>
                    <a:pt x="321720" y="107302"/>
                  </a:lnTo>
                  <a:lnTo>
                    <a:pt x="366719" y="100478"/>
                  </a:lnTo>
                  <a:lnTo>
                    <a:pt x="393650" y="94865"/>
                  </a:lnTo>
                  <a:lnTo>
                    <a:pt x="408943" y="91740"/>
                  </a:lnTo>
                  <a:lnTo>
                    <a:pt x="421597" y="88520"/>
                  </a:lnTo>
                  <a:lnTo>
                    <a:pt x="434319" y="84917"/>
                  </a:lnTo>
                  <a:lnTo>
                    <a:pt x="447108" y="81760"/>
                  </a:lnTo>
                  <a:lnTo>
                    <a:pt x="459018" y="78156"/>
                  </a:lnTo>
                  <a:lnTo>
                    <a:pt x="470860" y="74170"/>
                  </a:lnTo>
                  <a:lnTo>
                    <a:pt x="479318" y="71332"/>
                  </a:lnTo>
                  <a:lnTo>
                    <a:pt x="488588" y="67729"/>
                  </a:lnTo>
                  <a:lnTo>
                    <a:pt x="500430" y="63360"/>
                  </a:lnTo>
                  <a:lnTo>
                    <a:pt x="512272" y="58609"/>
                  </a:lnTo>
                  <a:lnTo>
                    <a:pt x="524114" y="53411"/>
                  </a:lnTo>
                  <a:lnTo>
                    <a:pt x="532573" y="49808"/>
                  </a:lnTo>
                  <a:lnTo>
                    <a:pt x="543670" y="44196"/>
                  </a:lnTo>
                  <a:lnTo>
                    <a:pt x="556324" y="37468"/>
                  </a:lnTo>
                  <a:lnTo>
                    <a:pt x="571617" y="29878"/>
                  </a:lnTo>
                  <a:lnTo>
                    <a:pt x="580008" y="24298"/>
                  </a:lnTo>
                  <a:lnTo>
                    <a:pt x="593541" y="15943"/>
                  </a:lnTo>
                  <a:lnTo>
                    <a:pt x="599564" y="11543"/>
                  </a:lnTo>
                  <a:lnTo>
                    <a:pt x="605383" y="7589"/>
                  </a:lnTo>
                  <a:lnTo>
                    <a:pt x="610594" y="3985"/>
                  </a:lnTo>
                  <a:lnTo>
                    <a:pt x="614789" y="382"/>
                  </a:lnTo>
                </a:path>
                <a:path w="2677795" h="155575">
                  <a:moveTo>
                    <a:pt x="0" y="155133"/>
                  </a:moveTo>
                  <a:lnTo>
                    <a:pt x="43219" y="148756"/>
                  </a:lnTo>
                  <a:lnTo>
                    <a:pt x="55893" y="145535"/>
                  </a:lnTo>
                  <a:lnTo>
                    <a:pt x="62687" y="143941"/>
                  </a:lnTo>
                  <a:lnTo>
                    <a:pt x="65935" y="142793"/>
                  </a:lnTo>
                  <a:lnTo>
                    <a:pt x="72770" y="141166"/>
                  </a:lnTo>
                  <a:lnTo>
                    <a:pt x="77845" y="139572"/>
                  </a:lnTo>
                  <a:lnTo>
                    <a:pt x="119393" y="121237"/>
                  </a:lnTo>
                  <a:lnTo>
                    <a:pt x="129475" y="115274"/>
                  </a:lnTo>
                  <a:lnTo>
                    <a:pt x="135498" y="111288"/>
                  </a:lnTo>
                </a:path>
                <a:path w="2677795" h="155575">
                  <a:moveTo>
                    <a:pt x="614789" y="382"/>
                  </a:moveTo>
                  <a:lnTo>
                    <a:pt x="654578" y="17920"/>
                  </a:lnTo>
                  <a:lnTo>
                    <a:pt x="686788" y="29113"/>
                  </a:lnTo>
                  <a:lnTo>
                    <a:pt x="703705" y="34693"/>
                  </a:lnTo>
                  <a:lnTo>
                    <a:pt x="718930" y="39062"/>
                  </a:lnTo>
                  <a:lnTo>
                    <a:pt x="737471" y="43813"/>
                  </a:lnTo>
                  <a:lnTo>
                    <a:pt x="755335" y="48660"/>
                  </a:lnTo>
                  <a:lnTo>
                    <a:pt x="772252" y="52646"/>
                  </a:lnTo>
                  <a:lnTo>
                    <a:pt x="794177" y="57780"/>
                  </a:lnTo>
                  <a:lnTo>
                    <a:pt x="813665" y="61383"/>
                  </a:lnTo>
                  <a:lnTo>
                    <a:pt x="831529" y="64987"/>
                  </a:lnTo>
                  <a:lnTo>
                    <a:pt x="875581" y="72576"/>
                  </a:lnTo>
                  <a:lnTo>
                    <a:pt x="927212" y="80548"/>
                  </a:lnTo>
                  <a:lnTo>
                    <a:pt x="950016" y="82908"/>
                  </a:lnTo>
                  <a:lnTo>
                    <a:pt x="971263" y="85299"/>
                  </a:lnTo>
                  <a:lnTo>
                    <a:pt x="991564" y="87755"/>
                  </a:lnTo>
                  <a:lnTo>
                    <a:pt x="1009293" y="89285"/>
                  </a:lnTo>
                  <a:lnTo>
                    <a:pt x="1027969" y="91262"/>
                  </a:lnTo>
                  <a:lnTo>
                    <a:pt x="1041435" y="92888"/>
                  </a:lnTo>
                  <a:lnTo>
                    <a:pt x="1058487" y="94100"/>
                  </a:lnTo>
                  <a:lnTo>
                    <a:pt x="1082239" y="96109"/>
                  </a:lnTo>
                  <a:lnTo>
                    <a:pt x="1100780" y="97703"/>
                  </a:lnTo>
                  <a:lnTo>
                    <a:pt x="1124463" y="98851"/>
                  </a:lnTo>
                  <a:lnTo>
                    <a:pt x="1143952" y="100095"/>
                  </a:lnTo>
                  <a:lnTo>
                    <a:pt x="1162696" y="101307"/>
                  </a:lnTo>
                  <a:lnTo>
                    <a:pt x="1177786" y="102072"/>
                  </a:lnTo>
                  <a:lnTo>
                    <a:pt x="1196462" y="102837"/>
                  </a:lnTo>
                  <a:lnTo>
                    <a:pt x="1215950" y="103316"/>
                  </a:lnTo>
                  <a:lnTo>
                    <a:pt x="1237063" y="104081"/>
                  </a:lnTo>
                  <a:lnTo>
                    <a:pt x="1258378" y="104846"/>
                  </a:lnTo>
                  <a:lnTo>
                    <a:pt x="1277731" y="104846"/>
                  </a:lnTo>
                  <a:lnTo>
                    <a:pt x="1292956" y="105293"/>
                  </a:lnTo>
                  <a:lnTo>
                    <a:pt x="1314272" y="105293"/>
                  </a:lnTo>
                  <a:lnTo>
                    <a:pt x="1330309" y="105675"/>
                  </a:lnTo>
                  <a:lnTo>
                    <a:pt x="1349662" y="105293"/>
                  </a:lnTo>
                  <a:lnTo>
                    <a:pt x="1366714" y="105293"/>
                  </a:lnTo>
                  <a:lnTo>
                    <a:pt x="1384443" y="105293"/>
                  </a:lnTo>
                  <a:lnTo>
                    <a:pt x="1403120" y="105293"/>
                  </a:lnTo>
                  <a:lnTo>
                    <a:pt x="1415773" y="104846"/>
                  </a:lnTo>
                  <a:lnTo>
                    <a:pt x="1428495" y="104464"/>
                  </a:lnTo>
                  <a:lnTo>
                    <a:pt x="1441149" y="104081"/>
                  </a:lnTo>
                  <a:lnTo>
                    <a:pt x="1454818" y="103698"/>
                  </a:lnTo>
                  <a:lnTo>
                    <a:pt x="1468284" y="103316"/>
                  </a:lnTo>
                  <a:lnTo>
                    <a:pt x="1475930" y="102837"/>
                  </a:lnTo>
                  <a:lnTo>
                    <a:pt x="1483577" y="102837"/>
                  </a:lnTo>
                  <a:lnTo>
                    <a:pt x="1494607" y="102072"/>
                  </a:lnTo>
                  <a:lnTo>
                    <a:pt x="1507260" y="101689"/>
                  </a:lnTo>
                  <a:lnTo>
                    <a:pt x="1522553" y="101307"/>
                  </a:lnTo>
                  <a:lnTo>
                    <a:pt x="1537643" y="100095"/>
                  </a:lnTo>
                  <a:lnTo>
                    <a:pt x="1553748" y="99234"/>
                  </a:lnTo>
                  <a:lnTo>
                    <a:pt x="1568229" y="98086"/>
                  </a:lnTo>
                  <a:lnTo>
                    <a:pt x="1581695" y="97257"/>
                  </a:lnTo>
                  <a:lnTo>
                    <a:pt x="1597800" y="96109"/>
                  </a:lnTo>
                  <a:lnTo>
                    <a:pt x="1608018" y="95248"/>
                  </a:lnTo>
                  <a:lnTo>
                    <a:pt x="1620672" y="94100"/>
                  </a:lnTo>
                  <a:lnTo>
                    <a:pt x="1633326" y="93271"/>
                  </a:lnTo>
                  <a:lnTo>
                    <a:pt x="1647807" y="92123"/>
                  </a:lnTo>
                  <a:lnTo>
                    <a:pt x="1662287" y="90497"/>
                  </a:lnTo>
                  <a:lnTo>
                    <a:pt x="1674941" y="89285"/>
                  </a:lnTo>
                  <a:lnTo>
                    <a:pt x="1685971" y="87755"/>
                  </a:lnTo>
                  <a:lnTo>
                    <a:pt x="1697678" y="86894"/>
                  </a:lnTo>
                  <a:lnTo>
                    <a:pt x="1705324" y="85746"/>
                  </a:lnTo>
                  <a:lnTo>
                    <a:pt x="1712159" y="85299"/>
                  </a:lnTo>
                  <a:lnTo>
                    <a:pt x="1723189" y="83769"/>
                  </a:lnTo>
                  <a:lnTo>
                    <a:pt x="1734218" y="82525"/>
                  </a:lnTo>
                  <a:lnTo>
                    <a:pt x="1745113" y="80931"/>
                  </a:lnTo>
                  <a:lnTo>
                    <a:pt x="1753571" y="80165"/>
                  </a:lnTo>
                  <a:lnTo>
                    <a:pt x="1765413" y="78539"/>
                  </a:lnTo>
                  <a:lnTo>
                    <a:pt x="1774075" y="77327"/>
                  </a:lnTo>
                  <a:lnTo>
                    <a:pt x="1784157" y="76179"/>
                  </a:lnTo>
                  <a:lnTo>
                    <a:pt x="1793360" y="74170"/>
                  </a:lnTo>
                  <a:lnTo>
                    <a:pt x="1803646" y="72959"/>
                  </a:lnTo>
                  <a:lnTo>
                    <a:pt x="1813863" y="70950"/>
                  </a:lnTo>
                  <a:lnTo>
                    <a:pt x="1824758" y="69355"/>
                  </a:lnTo>
                  <a:lnTo>
                    <a:pt x="1834164" y="67346"/>
                  </a:lnTo>
                  <a:lnTo>
                    <a:pt x="1844246" y="65752"/>
                  </a:lnTo>
                  <a:lnTo>
                    <a:pt x="1852705" y="64604"/>
                  </a:lnTo>
                  <a:lnTo>
                    <a:pt x="1861163" y="62595"/>
                  </a:lnTo>
                  <a:lnTo>
                    <a:pt x="1869622" y="61001"/>
                  </a:lnTo>
                  <a:lnTo>
                    <a:pt x="1879840" y="58609"/>
                  </a:lnTo>
                  <a:lnTo>
                    <a:pt x="1890057" y="56632"/>
                  </a:lnTo>
                  <a:lnTo>
                    <a:pt x="1897569" y="55006"/>
                  </a:lnTo>
                  <a:lnTo>
                    <a:pt x="1906162" y="53029"/>
                  </a:lnTo>
                  <a:lnTo>
                    <a:pt x="1916245" y="51020"/>
                  </a:lnTo>
                  <a:lnTo>
                    <a:pt x="1924703" y="48660"/>
                  </a:lnTo>
                  <a:lnTo>
                    <a:pt x="1934109" y="46205"/>
                  </a:lnTo>
                  <a:lnTo>
                    <a:pt x="1943380" y="44196"/>
                  </a:lnTo>
                  <a:lnTo>
                    <a:pt x="1950147" y="42219"/>
                  </a:lnTo>
                  <a:lnTo>
                    <a:pt x="1957793" y="40210"/>
                  </a:lnTo>
                  <a:lnTo>
                    <a:pt x="1965304" y="37850"/>
                  </a:lnTo>
                  <a:lnTo>
                    <a:pt x="1972139" y="36224"/>
                  </a:lnTo>
                  <a:lnTo>
                    <a:pt x="1979717" y="33864"/>
                  </a:lnTo>
                  <a:lnTo>
                    <a:pt x="1987364" y="31473"/>
                  </a:lnTo>
                  <a:lnTo>
                    <a:pt x="1994198" y="29113"/>
                  </a:lnTo>
                  <a:lnTo>
                    <a:pt x="2000085" y="27104"/>
                  </a:lnTo>
                  <a:lnTo>
                    <a:pt x="2006852" y="25127"/>
                  </a:lnTo>
                  <a:lnTo>
                    <a:pt x="2012739" y="22672"/>
                  </a:lnTo>
                  <a:lnTo>
                    <a:pt x="2017950" y="20695"/>
                  </a:lnTo>
                  <a:lnTo>
                    <a:pt x="2023769" y="18686"/>
                  </a:lnTo>
                  <a:lnTo>
                    <a:pt x="2029792" y="16326"/>
                  </a:lnTo>
                  <a:lnTo>
                    <a:pt x="2036423" y="13169"/>
                  </a:lnTo>
                  <a:lnTo>
                    <a:pt x="2042446" y="11160"/>
                  </a:lnTo>
                  <a:lnTo>
                    <a:pt x="2048333" y="8354"/>
                  </a:lnTo>
                  <a:lnTo>
                    <a:pt x="2053340" y="5963"/>
                  </a:lnTo>
                  <a:lnTo>
                    <a:pt x="2058550" y="3603"/>
                  </a:lnTo>
                  <a:lnTo>
                    <a:pt x="2063558" y="765"/>
                  </a:lnTo>
                </a:path>
                <a:path w="2677795" h="155575">
                  <a:moveTo>
                    <a:pt x="2542105" y="110427"/>
                  </a:moveTo>
                  <a:lnTo>
                    <a:pt x="2532631" y="111670"/>
                  </a:lnTo>
                  <a:lnTo>
                    <a:pt x="2520790" y="112436"/>
                  </a:lnTo>
                  <a:lnTo>
                    <a:pt x="2512331" y="113265"/>
                  </a:lnTo>
                  <a:lnTo>
                    <a:pt x="2496226" y="113647"/>
                  </a:lnTo>
                  <a:lnTo>
                    <a:pt x="2483572" y="113647"/>
                  </a:lnTo>
                  <a:lnTo>
                    <a:pt x="2470106" y="114030"/>
                  </a:lnTo>
                  <a:lnTo>
                    <a:pt x="2454813" y="114030"/>
                  </a:lnTo>
                  <a:lnTo>
                    <a:pt x="2442160" y="113647"/>
                  </a:lnTo>
                  <a:lnTo>
                    <a:pt x="2431942" y="113265"/>
                  </a:lnTo>
                  <a:lnTo>
                    <a:pt x="2423483" y="113265"/>
                  </a:lnTo>
                  <a:lnTo>
                    <a:pt x="2415025" y="112436"/>
                  </a:lnTo>
                  <a:lnTo>
                    <a:pt x="2404807" y="112053"/>
                  </a:lnTo>
                  <a:lnTo>
                    <a:pt x="2397160" y="111288"/>
                  </a:lnTo>
                  <a:lnTo>
                    <a:pt x="2384507" y="110044"/>
                  </a:lnTo>
                  <a:lnTo>
                    <a:pt x="2373612" y="108450"/>
                  </a:lnTo>
                  <a:lnTo>
                    <a:pt x="2355748" y="106823"/>
                  </a:lnTo>
                  <a:lnTo>
                    <a:pt x="2340455" y="104846"/>
                  </a:lnTo>
                  <a:lnTo>
                    <a:pt x="2326177" y="102455"/>
                  </a:lnTo>
                  <a:lnTo>
                    <a:pt x="2310884" y="100095"/>
                  </a:lnTo>
                  <a:lnTo>
                    <a:pt x="2297215" y="97257"/>
                  </a:lnTo>
                  <a:lnTo>
                    <a:pt x="2283749" y="94483"/>
                  </a:lnTo>
                  <a:lnTo>
                    <a:pt x="2269268" y="91262"/>
                  </a:lnTo>
                  <a:lnTo>
                    <a:pt x="2255802" y="87755"/>
                  </a:lnTo>
                  <a:lnTo>
                    <a:pt x="2243960" y="84534"/>
                  </a:lnTo>
                  <a:lnTo>
                    <a:pt x="2231239" y="81313"/>
                  </a:lnTo>
                  <a:lnTo>
                    <a:pt x="2219397" y="77774"/>
                  </a:lnTo>
                  <a:lnTo>
                    <a:pt x="2206743" y="73724"/>
                  </a:lnTo>
                  <a:lnTo>
                    <a:pt x="2198285" y="70950"/>
                  </a:lnTo>
                  <a:lnTo>
                    <a:pt x="2188879" y="67346"/>
                  </a:lnTo>
                  <a:lnTo>
                    <a:pt x="2176969" y="62978"/>
                  </a:lnTo>
                  <a:lnTo>
                    <a:pt x="2165127" y="58226"/>
                  </a:lnTo>
                  <a:lnTo>
                    <a:pt x="2153285" y="53029"/>
                  </a:lnTo>
                  <a:lnTo>
                    <a:pt x="2145774" y="49425"/>
                  </a:lnTo>
                  <a:lnTo>
                    <a:pt x="2133932" y="43813"/>
                  </a:lnTo>
                  <a:lnTo>
                    <a:pt x="2097392" y="23883"/>
                  </a:lnTo>
                  <a:lnTo>
                    <a:pt x="2078039" y="11160"/>
                  </a:lnTo>
                  <a:lnTo>
                    <a:pt x="2072016" y="7174"/>
                  </a:lnTo>
                  <a:lnTo>
                    <a:pt x="2067821" y="3603"/>
                  </a:lnTo>
                  <a:lnTo>
                    <a:pt x="2062746" y="0"/>
                  </a:lnTo>
                </a:path>
                <a:path w="2677795" h="155575">
                  <a:moveTo>
                    <a:pt x="2677576" y="154751"/>
                  </a:moveTo>
                  <a:lnTo>
                    <a:pt x="2666546" y="153507"/>
                  </a:lnTo>
                  <a:lnTo>
                    <a:pt x="2656261" y="152359"/>
                  </a:lnTo>
                  <a:lnTo>
                    <a:pt x="2646246" y="150382"/>
                  </a:lnTo>
                  <a:lnTo>
                    <a:pt x="2635148" y="148373"/>
                  </a:lnTo>
                  <a:lnTo>
                    <a:pt x="2629194" y="147161"/>
                  </a:lnTo>
                  <a:lnTo>
                    <a:pt x="2622494" y="145152"/>
                  </a:lnTo>
                  <a:lnTo>
                    <a:pt x="2614848" y="143558"/>
                  </a:lnTo>
                  <a:lnTo>
                    <a:pt x="2611465" y="142314"/>
                  </a:lnTo>
                  <a:lnTo>
                    <a:pt x="2604630" y="140337"/>
                  </a:lnTo>
                  <a:lnTo>
                    <a:pt x="2599623" y="139189"/>
                  </a:lnTo>
                  <a:lnTo>
                    <a:pt x="2588525" y="134821"/>
                  </a:lnTo>
                  <a:lnTo>
                    <a:pt x="2577631" y="130357"/>
                  </a:lnTo>
                  <a:lnTo>
                    <a:pt x="2566601" y="125223"/>
                  </a:lnTo>
                  <a:lnTo>
                    <a:pt x="2558142" y="120790"/>
                  </a:lnTo>
                  <a:lnTo>
                    <a:pt x="2547924" y="114795"/>
                  </a:lnTo>
                  <a:lnTo>
                    <a:pt x="2542105" y="110809"/>
                  </a:lnTo>
                </a:path>
              </a:pathLst>
            </a:custGeom>
            <a:ln w="501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46991" y="5809502"/>
              <a:ext cx="149225" cy="32384"/>
            </a:xfrm>
            <a:custGeom>
              <a:avLst/>
              <a:gdLst/>
              <a:ahLst/>
              <a:cxnLst/>
              <a:rect l="l" t="t" r="r" b="b"/>
              <a:pathLst>
                <a:path w="149225" h="32385">
                  <a:moveTo>
                    <a:pt x="147832" y="27487"/>
                  </a:moveTo>
                  <a:lnTo>
                    <a:pt x="75381" y="27487"/>
                  </a:lnTo>
                  <a:lnTo>
                    <a:pt x="89862" y="28284"/>
                  </a:lnTo>
                  <a:lnTo>
                    <a:pt x="99945" y="29049"/>
                  </a:lnTo>
                  <a:lnTo>
                    <a:pt x="108403" y="31026"/>
                  </a:lnTo>
                  <a:lnTo>
                    <a:pt x="120245" y="32270"/>
                  </a:lnTo>
                  <a:lnTo>
                    <a:pt x="133102" y="32270"/>
                  </a:lnTo>
                  <a:lnTo>
                    <a:pt x="140749" y="31026"/>
                  </a:lnTo>
                  <a:lnTo>
                    <a:pt x="147380" y="28284"/>
                  </a:lnTo>
                  <a:lnTo>
                    <a:pt x="147832" y="27487"/>
                  </a:lnTo>
                  <a:close/>
                </a:path>
                <a:path w="149225" h="32385">
                  <a:moveTo>
                    <a:pt x="71186" y="0"/>
                  </a:moveTo>
                  <a:lnTo>
                    <a:pt x="29773" y="2742"/>
                  </a:lnTo>
                  <a:lnTo>
                    <a:pt x="22939" y="3985"/>
                  </a:lnTo>
                  <a:lnTo>
                    <a:pt x="15292" y="5133"/>
                  </a:lnTo>
                  <a:lnTo>
                    <a:pt x="7646" y="7971"/>
                  </a:lnTo>
                  <a:lnTo>
                    <a:pt x="2639" y="11096"/>
                  </a:lnTo>
                  <a:lnTo>
                    <a:pt x="1015" y="14700"/>
                  </a:lnTo>
                  <a:lnTo>
                    <a:pt x="0" y="17920"/>
                  </a:lnTo>
                  <a:lnTo>
                    <a:pt x="1015" y="20695"/>
                  </a:lnTo>
                  <a:lnTo>
                    <a:pt x="4263" y="23501"/>
                  </a:lnTo>
                  <a:lnTo>
                    <a:pt x="11097" y="25892"/>
                  </a:lnTo>
                  <a:lnTo>
                    <a:pt x="18676" y="29049"/>
                  </a:lnTo>
                  <a:lnTo>
                    <a:pt x="27134" y="29878"/>
                  </a:lnTo>
                  <a:lnTo>
                    <a:pt x="37420" y="31026"/>
                  </a:lnTo>
                  <a:lnTo>
                    <a:pt x="46623" y="31473"/>
                  </a:lnTo>
                  <a:lnTo>
                    <a:pt x="54269" y="30261"/>
                  </a:lnTo>
                  <a:lnTo>
                    <a:pt x="64352" y="28284"/>
                  </a:lnTo>
                  <a:lnTo>
                    <a:pt x="75381" y="27487"/>
                  </a:lnTo>
                  <a:lnTo>
                    <a:pt x="147832" y="27487"/>
                  </a:lnTo>
                  <a:lnTo>
                    <a:pt x="149207" y="25063"/>
                  </a:lnTo>
                  <a:lnTo>
                    <a:pt x="129651" y="8737"/>
                  </a:lnTo>
                  <a:lnTo>
                    <a:pt x="122884" y="6345"/>
                  </a:lnTo>
                  <a:lnTo>
                    <a:pt x="112802" y="3985"/>
                  </a:lnTo>
                  <a:lnTo>
                    <a:pt x="71186" y="0"/>
                  </a:lnTo>
                  <a:close/>
                </a:path>
              </a:pathLst>
            </a:custGeom>
            <a:solidFill>
              <a:srgbClr val="00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346991" y="5809502"/>
              <a:ext cx="149225" cy="32384"/>
            </a:xfrm>
            <a:custGeom>
              <a:avLst/>
              <a:gdLst/>
              <a:ahLst/>
              <a:cxnLst/>
              <a:rect l="l" t="t" r="r" b="b"/>
              <a:pathLst>
                <a:path w="149225" h="32385">
                  <a:moveTo>
                    <a:pt x="147832" y="27487"/>
                  </a:moveTo>
                  <a:lnTo>
                    <a:pt x="147380" y="28284"/>
                  </a:lnTo>
                  <a:lnTo>
                    <a:pt x="140749" y="31026"/>
                  </a:lnTo>
                  <a:lnTo>
                    <a:pt x="133102" y="32270"/>
                  </a:lnTo>
                  <a:lnTo>
                    <a:pt x="120245" y="32270"/>
                  </a:lnTo>
                  <a:lnTo>
                    <a:pt x="108403" y="31026"/>
                  </a:lnTo>
                  <a:lnTo>
                    <a:pt x="99945" y="29049"/>
                  </a:lnTo>
                  <a:lnTo>
                    <a:pt x="89862" y="28284"/>
                  </a:lnTo>
                  <a:lnTo>
                    <a:pt x="75381" y="27487"/>
                  </a:lnTo>
                </a:path>
                <a:path w="149225" h="32385">
                  <a:moveTo>
                    <a:pt x="75381" y="27487"/>
                  </a:moveTo>
                  <a:lnTo>
                    <a:pt x="64352" y="28284"/>
                  </a:lnTo>
                  <a:lnTo>
                    <a:pt x="54269" y="30261"/>
                  </a:lnTo>
                  <a:lnTo>
                    <a:pt x="46623" y="31473"/>
                  </a:lnTo>
                  <a:lnTo>
                    <a:pt x="37420" y="31026"/>
                  </a:lnTo>
                  <a:lnTo>
                    <a:pt x="27134" y="29878"/>
                  </a:lnTo>
                  <a:lnTo>
                    <a:pt x="18676" y="29049"/>
                  </a:lnTo>
                  <a:lnTo>
                    <a:pt x="11097" y="25892"/>
                  </a:lnTo>
                  <a:lnTo>
                    <a:pt x="4263" y="23501"/>
                  </a:lnTo>
                  <a:lnTo>
                    <a:pt x="1015" y="20695"/>
                  </a:lnTo>
                  <a:lnTo>
                    <a:pt x="0" y="17920"/>
                  </a:lnTo>
                  <a:lnTo>
                    <a:pt x="1015" y="14700"/>
                  </a:lnTo>
                  <a:lnTo>
                    <a:pt x="2639" y="11096"/>
                  </a:lnTo>
                  <a:lnTo>
                    <a:pt x="7646" y="7971"/>
                  </a:lnTo>
                  <a:lnTo>
                    <a:pt x="15292" y="5133"/>
                  </a:lnTo>
                  <a:lnTo>
                    <a:pt x="22939" y="3985"/>
                  </a:lnTo>
                  <a:lnTo>
                    <a:pt x="29773" y="2742"/>
                  </a:lnTo>
                  <a:lnTo>
                    <a:pt x="71186" y="0"/>
                  </a:lnTo>
                  <a:lnTo>
                    <a:pt x="112802" y="3985"/>
                  </a:lnTo>
                  <a:lnTo>
                    <a:pt x="122884" y="6345"/>
                  </a:lnTo>
                  <a:lnTo>
                    <a:pt x="129651" y="8737"/>
                  </a:lnTo>
                  <a:lnTo>
                    <a:pt x="136350" y="10714"/>
                  </a:lnTo>
                  <a:lnTo>
                    <a:pt x="142373" y="12723"/>
                  </a:lnTo>
                  <a:lnTo>
                    <a:pt x="147380" y="16709"/>
                  </a:lnTo>
                  <a:lnTo>
                    <a:pt x="149207" y="20695"/>
                  </a:lnTo>
                  <a:lnTo>
                    <a:pt x="149207" y="25063"/>
                  </a:lnTo>
                  <a:lnTo>
                    <a:pt x="147832" y="27487"/>
                  </a:lnTo>
                </a:path>
              </a:pathLst>
            </a:custGeom>
            <a:ln w="10039">
              <a:solidFill>
                <a:srgbClr val="80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360660" y="5811479"/>
              <a:ext cx="116839" cy="23495"/>
            </a:xfrm>
            <a:custGeom>
              <a:avLst/>
              <a:gdLst/>
              <a:ahLst/>
              <a:cxnLst/>
              <a:rect l="l" t="t" r="r" b="b"/>
              <a:pathLst>
                <a:path w="116839" h="23495">
                  <a:moveTo>
                    <a:pt x="115434" y="19929"/>
                  </a:moveTo>
                  <a:lnTo>
                    <a:pt x="59277" y="19929"/>
                  </a:lnTo>
                  <a:lnTo>
                    <a:pt x="70171" y="20312"/>
                  </a:lnTo>
                  <a:lnTo>
                    <a:pt x="78630" y="21077"/>
                  </a:lnTo>
                  <a:lnTo>
                    <a:pt x="84652" y="22321"/>
                  </a:lnTo>
                  <a:lnTo>
                    <a:pt x="94735" y="23086"/>
                  </a:lnTo>
                  <a:lnTo>
                    <a:pt x="104140" y="23086"/>
                  </a:lnTo>
                  <a:lnTo>
                    <a:pt x="110027" y="22321"/>
                  </a:lnTo>
                  <a:lnTo>
                    <a:pt x="115170" y="20312"/>
                  </a:lnTo>
                  <a:lnTo>
                    <a:pt x="115434" y="19929"/>
                  </a:lnTo>
                  <a:close/>
                </a:path>
                <a:path w="116839" h="23495">
                  <a:moveTo>
                    <a:pt x="55893" y="0"/>
                  </a:moveTo>
                  <a:lnTo>
                    <a:pt x="23751" y="2008"/>
                  </a:lnTo>
                  <a:lnTo>
                    <a:pt x="18540" y="2774"/>
                  </a:lnTo>
                  <a:lnTo>
                    <a:pt x="11841" y="3539"/>
                  </a:lnTo>
                  <a:lnTo>
                    <a:pt x="2436" y="7971"/>
                  </a:lnTo>
                  <a:lnTo>
                    <a:pt x="812" y="10363"/>
                  </a:lnTo>
                  <a:lnTo>
                    <a:pt x="0" y="12723"/>
                  </a:lnTo>
                  <a:lnTo>
                    <a:pt x="812" y="14732"/>
                  </a:lnTo>
                  <a:lnTo>
                    <a:pt x="3383" y="16709"/>
                  </a:lnTo>
                  <a:lnTo>
                    <a:pt x="8458" y="18718"/>
                  </a:lnTo>
                  <a:lnTo>
                    <a:pt x="15292" y="21077"/>
                  </a:lnTo>
                  <a:lnTo>
                    <a:pt x="21924" y="21524"/>
                  </a:lnTo>
                  <a:lnTo>
                    <a:pt x="29570" y="22321"/>
                  </a:lnTo>
                  <a:lnTo>
                    <a:pt x="36405" y="22704"/>
                  </a:lnTo>
                  <a:lnTo>
                    <a:pt x="42224" y="21524"/>
                  </a:lnTo>
                  <a:lnTo>
                    <a:pt x="50683" y="20312"/>
                  </a:lnTo>
                  <a:lnTo>
                    <a:pt x="59277" y="19929"/>
                  </a:lnTo>
                  <a:lnTo>
                    <a:pt x="115434" y="19929"/>
                  </a:lnTo>
                  <a:lnTo>
                    <a:pt x="116794" y="17952"/>
                  </a:lnTo>
                  <a:lnTo>
                    <a:pt x="101569" y="6377"/>
                  </a:lnTo>
                  <a:lnTo>
                    <a:pt x="95682" y="4751"/>
                  </a:lnTo>
                  <a:lnTo>
                    <a:pt x="88035" y="2774"/>
                  </a:lnTo>
                  <a:lnTo>
                    <a:pt x="55893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60660" y="5811479"/>
              <a:ext cx="116839" cy="23495"/>
            </a:xfrm>
            <a:custGeom>
              <a:avLst/>
              <a:gdLst/>
              <a:ahLst/>
              <a:cxnLst/>
              <a:rect l="l" t="t" r="r" b="b"/>
              <a:pathLst>
                <a:path w="116839" h="23495">
                  <a:moveTo>
                    <a:pt x="115434" y="19929"/>
                  </a:moveTo>
                  <a:lnTo>
                    <a:pt x="115170" y="20312"/>
                  </a:lnTo>
                  <a:lnTo>
                    <a:pt x="110027" y="22321"/>
                  </a:lnTo>
                  <a:lnTo>
                    <a:pt x="104140" y="23086"/>
                  </a:lnTo>
                  <a:lnTo>
                    <a:pt x="94735" y="23086"/>
                  </a:lnTo>
                  <a:lnTo>
                    <a:pt x="84652" y="22321"/>
                  </a:lnTo>
                  <a:lnTo>
                    <a:pt x="78630" y="21077"/>
                  </a:lnTo>
                  <a:lnTo>
                    <a:pt x="70171" y="20312"/>
                  </a:lnTo>
                  <a:lnTo>
                    <a:pt x="59277" y="19929"/>
                  </a:lnTo>
                </a:path>
                <a:path w="116839" h="23495">
                  <a:moveTo>
                    <a:pt x="59277" y="19929"/>
                  </a:moveTo>
                  <a:lnTo>
                    <a:pt x="50683" y="20312"/>
                  </a:lnTo>
                  <a:lnTo>
                    <a:pt x="42224" y="21524"/>
                  </a:lnTo>
                  <a:lnTo>
                    <a:pt x="36405" y="22704"/>
                  </a:lnTo>
                  <a:lnTo>
                    <a:pt x="29570" y="22321"/>
                  </a:lnTo>
                  <a:lnTo>
                    <a:pt x="21924" y="21524"/>
                  </a:lnTo>
                  <a:lnTo>
                    <a:pt x="15292" y="21077"/>
                  </a:lnTo>
                  <a:lnTo>
                    <a:pt x="8458" y="18718"/>
                  </a:lnTo>
                  <a:lnTo>
                    <a:pt x="3383" y="16709"/>
                  </a:lnTo>
                  <a:lnTo>
                    <a:pt x="812" y="14732"/>
                  </a:lnTo>
                  <a:lnTo>
                    <a:pt x="0" y="12723"/>
                  </a:lnTo>
                  <a:lnTo>
                    <a:pt x="812" y="10363"/>
                  </a:lnTo>
                  <a:lnTo>
                    <a:pt x="2436" y="7971"/>
                  </a:lnTo>
                  <a:lnTo>
                    <a:pt x="6631" y="5994"/>
                  </a:lnTo>
                  <a:lnTo>
                    <a:pt x="11841" y="3539"/>
                  </a:lnTo>
                  <a:lnTo>
                    <a:pt x="18540" y="2774"/>
                  </a:lnTo>
                  <a:lnTo>
                    <a:pt x="23751" y="2008"/>
                  </a:lnTo>
                  <a:lnTo>
                    <a:pt x="55893" y="0"/>
                  </a:lnTo>
                  <a:lnTo>
                    <a:pt x="88035" y="2774"/>
                  </a:lnTo>
                  <a:lnTo>
                    <a:pt x="95682" y="4751"/>
                  </a:lnTo>
                  <a:lnTo>
                    <a:pt x="101569" y="6377"/>
                  </a:lnTo>
                  <a:lnTo>
                    <a:pt x="106576" y="7525"/>
                  </a:lnTo>
                  <a:lnTo>
                    <a:pt x="111787" y="9119"/>
                  </a:lnTo>
                  <a:lnTo>
                    <a:pt x="115170" y="11957"/>
                  </a:lnTo>
                  <a:lnTo>
                    <a:pt x="116794" y="15114"/>
                  </a:lnTo>
                  <a:lnTo>
                    <a:pt x="116794" y="17952"/>
                  </a:lnTo>
                  <a:lnTo>
                    <a:pt x="115434" y="19929"/>
                  </a:lnTo>
                </a:path>
              </a:pathLst>
            </a:custGeom>
            <a:ln w="10039">
              <a:solidFill>
                <a:srgbClr val="C0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97410" y="5808258"/>
              <a:ext cx="149860" cy="32384"/>
            </a:xfrm>
            <a:custGeom>
              <a:avLst/>
              <a:gdLst/>
              <a:ahLst/>
              <a:cxnLst/>
              <a:rect l="l" t="t" r="r" b="b"/>
              <a:pathLst>
                <a:path w="149860" h="32385">
                  <a:moveTo>
                    <a:pt x="78630" y="0"/>
                  </a:moveTo>
                  <a:lnTo>
                    <a:pt x="37217" y="3985"/>
                  </a:lnTo>
                  <a:lnTo>
                    <a:pt x="27134" y="6760"/>
                  </a:lnTo>
                  <a:lnTo>
                    <a:pt x="20300" y="8737"/>
                  </a:lnTo>
                  <a:lnTo>
                    <a:pt x="12653" y="10746"/>
                  </a:lnTo>
                  <a:lnTo>
                    <a:pt x="6699" y="13201"/>
                  </a:lnTo>
                  <a:lnTo>
                    <a:pt x="1624" y="16804"/>
                  </a:lnTo>
                  <a:lnTo>
                    <a:pt x="0" y="21173"/>
                  </a:lnTo>
                  <a:lnTo>
                    <a:pt x="0" y="25159"/>
                  </a:lnTo>
                  <a:lnTo>
                    <a:pt x="1624" y="28284"/>
                  </a:lnTo>
                  <a:lnTo>
                    <a:pt x="8458" y="31505"/>
                  </a:lnTo>
                  <a:lnTo>
                    <a:pt x="16104" y="32270"/>
                  </a:lnTo>
                  <a:lnTo>
                    <a:pt x="28758" y="32270"/>
                  </a:lnTo>
                  <a:lnTo>
                    <a:pt x="40600" y="31122"/>
                  </a:lnTo>
                  <a:lnTo>
                    <a:pt x="49871" y="29528"/>
                  </a:lnTo>
                  <a:lnTo>
                    <a:pt x="60156" y="28284"/>
                  </a:lnTo>
                  <a:lnTo>
                    <a:pt x="73622" y="27901"/>
                  </a:lnTo>
                  <a:lnTo>
                    <a:pt x="134599" y="27901"/>
                  </a:lnTo>
                  <a:lnTo>
                    <a:pt x="138786" y="26307"/>
                  </a:lnTo>
                  <a:lnTo>
                    <a:pt x="144741" y="23533"/>
                  </a:lnTo>
                  <a:lnTo>
                    <a:pt x="149004" y="20790"/>
                  </a:lnTo>
                  <a:lnTo>
                    <a:pt x="149816" y="17952"/>
                  </a:lnTo>
                  <a:lnTo>
                    <a:pt x="149004" y="14795"/>
                  </a:lnTo>
                  <a:lnTo>
                    <a:pt x="146365" y="11575"/>
                  </a:lnTo>
                  <a:lnTo>
                    <a:pt x="141358" y="8354"/>
                  </a:lnTo>
                  <a:lnTo>
                    <a:pt x="134523" y="5229"/>
                  </a:lnTo>
                  <a:lnTo>
                    <a:pt x="126065" y="3985"/>
                  </a:lnTo>
                  <a:lnTo>
                    <a:pt x="119433" y="2774"/>
                  </a:lnTo>
                  <a:lnTo>
                    <a:pt x="78630" y="0"/>
                  </a:lnTo>
                  <a:close/>
                </a:path>
                <a:path w="149860" h="32385">
                  <a:moveTo>
                    <a:pt x="134599" y="27901"/>
                  </a:moveTo>
                  <a:lnTo>
                    <a:pt x="73622" y="27901"/>
                  </a:lnTo>
                  <a:lnTo>
                    <a:pt x="84652" y="28284"/>
                  </a:lnTo>
                  <a:lnTo>
                    <a:pt x="94735" y="30293"/>
                  </a:lnTo>
                  <a:lnTo>
                    <a:pt x="103328" y="31887"/>
                  </a:lnTo>
                  <a:lnTo>
                    <a:pt x="130328" y="29528"/>
                  </a:lnTo>
                  <a:lnTo>
                    <a:pt x="134599" y="27901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97410" y="5808258"/>
              <a:ext cx="149860" cy="32384"/>
            </a:xfrm>
            <a:custGeom>
              <a:avLst/>
              <a:gdLst/>
              <a:ahLst/>
              <a:cxnLst/>
              <a:rect l="l" t="t" r="r" b="b"/>
              <a:pathLst>
                <a:path w="149860" h="32385">
                  <a:moveTo>
                    <a:pt x="134599" y="27901"/>
                  </a:moveTo>
                  <a:lnTo>
                    <a:pt x="138786" y="26307"/>
                  </a:lnTo>
                  <a:lnTo>
                    <a:pt x="144741" y="23533"/>
                  </a:lnTo>
                  <a:lnTo>
                    <a:pt x="149004" y="20790"/>
                  </a:lnTo>
                  <a:lnTo>
                    <a:pt x="149816" y="17952"/>
                  </a:lnTo>
                  <a:lnTo>
                    <a:pt x="149004" y="14795"/>
                  </a:lnTo>
                  <a:lnTo>
                    <a:pt x="146365" y="11575"/>
                  </a:lnTo>
                  <a:lnTo>
                    <a:pt x="141358" y="8354"/>
                  </a:lnTo>
                  <a:lnTo>
                    <a:pt x="134523" y="5229"/>
                  </a:lnTo>
                  <a:lnTo>
                    <a:pt x="126065" y="3985"/>
                  </a:lnTo>
                  <a:lnTo>
                    <a:pt x="119433" y="2774"/>
                  </a:lnTo>
                  <a:lnTo>
                    <a:pt x="78630" y="0"/>
                  </a:lnTo>
                  <a:lnTo>
                    <a:pt x="37217" y="3985"/>
                  </a:lnTo>
                  <a:lnTo>
                    <a:pt x="27134" y="6760"/>
                  </a:lnTo>
                  <a:lnTo>
                    <a:pt x="20300" y="8737"/>
                  </a:lnTo>
                  <a:lnTo>
                    <a:pt x="12653" y="10746"/>
                  </a:lnTo>
                  <a:lnTo>
                    <a:pt x="6699" y="13201"/>
                  </a:lnTo>
                  <a:lnTo>
                    <a:pt x="1624" y="16804"/>
                  </a:lnTo>
                  <a:lnTo>
                    <a:pt x="0" y="21173"/>
                  </a:lnTo>
                  <a:lnTo>
                    <a:pt x="0" y="25159"/>
                  </a:lnTo>
                  <a:lnTo>
                    <a:pt x="1624" y="28284"/>
                  </a:lnTo>
                  <a:lnTo>
                    <a:pt x="8458" y="31505"/>
                  </a:lnTo>
                  <a:lnTo>
                    <a:pt x="16104" y="32270"/>
                  </a:lnTo>
                  <a:lnTo>
                    <a:pt x="28758" y="32270"/>
                  </a:lnTo>
                  <a:lnTo>
                    <a:pt x="40600" y="31122"/>
                  </a:lnTo>
                  <a:lnTo>
                    <a:pt x="49871" y="29528"/>
                  </a:lnTo>
                  <a:lnTo>
                    <a:pt x="60156" y="28284"/>
                  </a:lnTo>
                  <a:lnTo>
                    <a:pt x="73622" y="27901"/>
                  </a:lnTo>
                </a:path>
                <a:path w="149860" h="32385">
                  <a:moveTo>
                    <a:pt x="73622" y="27901"/>
                  </a:moveTo>
                  <a:lnTo>
                    <a:pt x="84652" y="28284"/>
                  </a:lnTo>
                  <a:lnTo>
                    <a:pt x="94735" y="30293"/>
                  </a:lnTo>
                  <a:lnTo>
                    <a:pt x="103328" y="31887"/>
                  </a:lnTo>
                  <a:lnTo>
                    <a:pt x="112595" y="31077"/>
                  </a:lnTo>
                  <a:lnTo>
                    <a:pt x="121867" y="30267"/>
                  </a:lnTo>
                  <a:lnTo>
                    <a:pt x="130328" y="29528"/>
                  </a:lnTo>
                  <a:lnTo>
                    <a:pt x="134599" y="27901"/>
                  </a:lnTo>
                </a:path>
              </a:pathLst>
            </a:custGeom>
            <a:ln w="10039">
              <a:solidFill>
                <a:srgbClr val="C0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15951" y="5810267"/>
              <a:ext cx="117475" cy="23495"/>
            </a:xfrm>
            <a:custGeom>
              <a:avLst/>
              <a:gdLst/>
              <a:ahLst/>
              <a:cxnLst/>
              <a:rect l="l" t="t" r="r" b="b"/>
              <a:pathLst>
                <a:path w="117475" h="23495">
                  <a:moveTo>
                    <a:pt x="61104" y="0"/>
                  </a:moveTo>
                  <a:lnTo>
                    <a:pt x="28894" y="2742"/>
                  </a:lnTo>
                  <a:lnTo>
                    <a:pt x="15292" y="6345"/>
                  </a:lnTo>
                  <a:lnTo>
                    <a:pt x="10217" y="7589"/>
                  </a:lnTo>
                  <a:lnTo>
                    <a:pt x="6022" y="9183"/>
                  </a:lnTo>
                  <a:lnTo>
                    <a:pt x="1759" y="11957"/>
                  </a:lnTo>
                  <a:lnTo>
                    <a:pt x="0" y="15178"/>
                  </a:lnTo>
                  <a:lnTo>
                    <a:pt x="0" y="17920"/>
                  </a:lnTo>
                  <a:lnTo>
                    <a:pt x="1759" y="20312"/>
                  </a:lnTo>
                  <a:lnTo>
                    <a:pt x="6834" y="22289"/>
                  </a:lnTo>
                  <a:lnTo>
                    <a:pt x="12856" y="23150"/>
                  </a:lnTo>
                  <a:lnTo>
                    <a:pt x="22871" y="23150"/>
                  </a:lnTo>
                  <a:lnTo>
                    <a:pt x="32142" y="22289"/>
                  </a:lnTo>
                  <a:lnTo>
                    <a:pt x="38976" y="21141"/>
                  </a:lnTo>
                  <a:lnTo>
                    <a:pt x="47435" y="20312"/>
                  </a:lnTo>
                  <a:lnTo>
                    <a:pt x="57653" y="19929"/>
                  </a:lnTo>
                  <a:lnTo>
                    <a:pt x="105214" y="19929"/>
                  </a:lnTo>
                  <a:lnTo>
                    <a:pt x="108539" y="18781"/>
                  </a:lnTo>
                  <a:lnTo>
                    <a:pt x="113546" y="16772"/>
                  </a:lnTo>
                  <a:lnTo>
                    <a:pt x="115982" y="15178"/>
                  </a:lnTo>
                  <a:lnTo>
                    <a:pt x="116997" y="12786"/>
                  </a:lnTo>
                  <a:lnTo>
                    <a:pt x="115170" y="8354"/>
                  </a:lnTo>
                  <a:lnTo>
                    <a:pt x="110975" y="5963"/>
                  </a:lnTo>
                  <a:lnTo>
                    <a:pt x="105088" y="3603"/>
                  </a:lnTo>
                  <a:lnTo>
                    <a:pt x="98253" y="2742"/>
                  </a:lnTo>
                  <a:lnTo>
                    <a:pt x="94058" y="1977"/>
                  </a:lnTo>
                  <a:lnTo>
                    <a:pt x="61104" y="0"/>
                  </a:lnTo>
                  <a:close/>
                </a:path>
                <a:path w="117475" h="23495">
                  <a:moveTo>
                    <a:pt x="105214" y="19929"/>
                  </a:moveTo>
                  <a:lnTo>
                    <a:pt x="57653" y="19929"/>
                  </a:lnTo>
                  <a:lnTo>
                    <a:pt x="66111" y="20312"/>
                  </a:lnTo>
                  <a:lnTo>
                    <a:pt x="74569" y="21524"/>
                  </a:lnTo>
                  <a:lnTo>
                    <a:pt x="80592" y="22735"/>
                  </a:lnTo>
                  <a:lnTo>
                    <a:pt x="88035" y="22289"/>
                  </a:lnTo>
                  <a:lnTo>
                    <a:pt x="95682" y="21524"/>
                  </a:lnTo>
                  <a:lnTo>
                    <a:pt x="101704" y="21141"/>
                  </a:lnTo>
                  <a:lnTo>
                    <a:pt x="105214" y="19929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15951" y="5810267"/>
              <a:ext cx="117475" cy="23495"/>
            </a:xfrm>
            <a:custGeom>
              <a:avLst/>
              <a:gdLst/>
              <a:ahLst/>
              <a:cxnLst/>
              <a:rect l="l" t="t" r="r" b="b"/>
              <a:pathLst>
                <a:path w="117475" h="23495">
                  <a:moveTo>
                    <a:pt x="105214" y="19929"/>
                  </a:moveTo>
                  <a:lnTo>
                    <a:pt x="108539" y="18781"/>
                  </a:lnTo>
                  <a:lnTo>
                    <a:pt x="113546" y="16772"/>
                  </a:lnTo>
                  <a:lnTo>
                    <a:pt x="115982" y="15178"/>
                  </a:lnTo>
                  <a:lnTo>
                    <a:pt x="116997" y="12786"/>
                  </a:lnTo>
                  <a:lnTo>
                    <a:pt x="115985" y="10330"/>
                  </a:lnTo>
                  <a:lnTo>
                    <a:pt x="115170" y="8354"/>
                  </a:lnTo>
                  <a:lnTo>
                    <a:pt x="110975" y="5963"/>
                  </a:lnTo>
                  <a:lnTo>
                    <a:pt x="105088" y="3603"/>
                  </a:lnTo>
                  <a:lnTo>
                    <a:pt x="98253" y="2742"/>
                  </a:lnTo>
                  <a:lnTo>
                    <a:pt x="94058" y="1977"/>
                  </a:lnTo>
                  <a:lnTo>
                    <a:pt x="61104" y="0"/>
                  </a:lnTo>
                  <a:lnTo>
                    <a:pt x="28894" y="2742"/>
                  </a:lnTo>
                  <a:lnTo>
                    <a:pt x="21251" y="4766"/>
                  </a:lnTo>
                  <a:lnTo>
                    <a:pt x="15292" y="6345"/>
                  </a:lnTo>
                  <a:lnTo>
                    <a:pt x="10217" y="7589"/>
                  </a:lnTo>
                  <a:lnTo>
                    <a:pt x="6022" y="9183"/>
                  </a:lnTo>
                  <a:lnTo>
                    <a:pt x="1759" y="11957"/>
                  </a:lnTo>
                  <a:lnTo>
                    <a:pt x="0" y="15178"/>
                  </a:lnTo>
                  <a:lnTo>
                    <a:pt x="0" y="17920"/>
                  </a:lnTo>
                  <a:lnTo>
                    <a:pt x="1759" y="20312"/>
                  </a:lnTo>
                  <a:lnTo>
                    <a:pt x="6834" y="22289"/>
                  </a:lnTo>
                  <a:lnTo>
                    <a:pt x="12856" y="23150"/>
                  </a:lnTo>
                  <a:lnTo>
                    <a:pt x="22871" y="23150"/>
                  </a:lnTo>
                  <a:lnTo>
                    <a:pt x="32142" y="22289"/>
                  </a:lnTo>
                  <a:lnTo>
                    <a:pt x="38976" y="21141"/>
                  </a:lnTo>
                  <a:lnTo>
                    <a:pt x="47435" y="20312"/>
                  </a:lnTo>
                  <a:lnTo>
                    <a:pt x="57653" y="19929"/>
                  </a:lnTo>
                </a:path>
                <a:path w="117475" h="23495">
                  <a:moveTo>
                    <a:pt x="57653" y="19929"/>
                  </a:moveTo>
                  <a:lnTo>
                    <a:pt x="66111" y="20312"/>
                  </a:lnTo>
                  <a:lnTo>
                    <a:pt x="74569" y="21524"/>
                  </a:lnTo>
                  <a:lnTo>
                    <a:pt x="80592" y="22735"/>
                  </a:lnTo>
                  <a:lnTo>
                    <a:pt x="88035" y="22289"/>
                  </a:lnTo>
                  <a:lnTo>
                    <a:pt x="95682" y="21524"/>
                  </a:lnTo>
                  <a:lnTo>
                    <a:pt x="101704" y="21141"/>
                  </a:lnTo>
                  <a:lnTo>
                    <a:pt x="105214" y="19929"/>
                  </a:lnTo>
                </a:path>
              </a:pathLst>
            </a:custGeom>
            <a:ln w="10039">
              <a:solidFill>
                <a:srgbClr val="80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89441" y="5686623"/>
              <a:ext cx="2828290" cy="10795"/>
            </a:xfrm>
            <a:custGeom>
              <a:avLst/>
              <a:gdLst/>
              <a:ahLst/>
              <a:cxnLst/>
              <a:rect l="l" t="t" r="r" b="b"/>
              <a:pathLst>
                <a:path w="2828290" h="10795">
                  <a:moveTo>
                    <a:pt x="2828178" y="0"/>
                  </a:moveTo>
                  <a:lnTo>
                    <a:pt x="0" y="0"/>
                  </a:lnTo>
                  <a:lnTo>
                    <a:pt x="0" y="10730"/>
                  </a:lnTo>
                  <a:lnTo>
                    <a:pt x="2828178" y="10730"/>
                  </a:lnTo>
                  <a:lnTo>
                    <a:pt x="282817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89441" y="5686623"/>
              <a:ext cx="2828290" cy="10795"/>
            </a:xfrm>
            <a:custGeom>
              <a:avLst/>
              <a:gdLst/>
              <a:ahLst/>
              <a:cxnLst/>
              <a:rect l="l" t="t" r="r" b="b"/>
              <a:pathLst>
                <a:path w="2828290" h="10795">
                  <a:moveTo>
                    <a:pt x="0" y="10730"/>
                  </a:moveTo>
                  <a:lnTo>
                    <a:pt x="2828178" y="10730"/>
                  </a:lnTo>
                  <a:lnTo>
                    <a:pt x="2828178" y="0"/>
                  </a:lnTo>
                  <a:lnTo>
                    <a:pt x="0" y="0"/>
                  </a:lnTo>
                  <a:lnTo>
                    <a:pt x="0" y="10730"/>
                  </a:lnTo>
                  <a:close/>
                </a:path>
              </a:pathLst>
            </a:custGeom>
            <a:ln w="6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89441" y="5716520"/>
              <a:ext cx="2828290" cy="11430"/>
            </a:xfrm>
            <a:custGeom>
              <a:avLst/>
              <a:gdLst/>
              <a:ahLst/>
              <a:cxnLst/>
              <a:rect l="l" t="t" r="r" b="b"/>
              <a:pathLst>
                <a:path w="2828290" h="11429">
                  <a:moveTo>
                    <a:pt x="2828178" y="0"/>
                  </a:moveTo>
                  <a:lnTo>
                    <a:pt x="0" y="0"/>
                  </a:lnTo>
                  <a:lnTo>
                    <a:pt x="0" y="10807"/>
                  </a:lnTo>
                  <a:lnTo>
                    <a:pt x="2828178" y="10807"/>
                  </a:lnTo>
                  <a:lnTo>
                    <a:pt x="282817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89441" y="5716520"/>
              <a:ext cx="2828290" cy="11430"/>
            </a:xfrm>
            <a:custGeom>
              <a:avLst/>
              <a:gdLst/>
              <a:ahLst/>
              <a:cxnLst/>
              <a:rect l="l" t="t" r="r" b="b"/>
              <a:pathLst>
                <a:path w="2828290" h="11429">
                  <a:moveTo>
                    <a:pt x="0" y="10807"/>
                  </a:moveTo>
                  <a:lnTo>
                    <a:pt x="2828178" y="10807"/>
                  </a:lnTo>
                  <a:lnTo>
                    <a:pt x="2828178" y="0"/>
                  </a:lnTo>
                  <a:lnTo>
                    <a:pt x="0" y="0"/>
                  </a:lnTo>
                  <a:lnTo>
                    <a:pt x="0" y="10807"/>
                  </a:lnTo>
                  <a:close/>
                </a:path>
              </a:pathLst>
            </a:custGeom>
            <a:ln w="6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942274" y="5725701"/>
              <a:ext cx="68580" cy="102235"/>
            </a:xfrm>
            <a:custGeom>
              <a:avLst/>
              <a:gdLst/>
              <a:ahLst/>
              <a:cxnLst/>
              <a:rect l="l" t="t" r="r" b="b"/>
              <a:pathLst>
                <a:path w="68579" h="102235">
                  <a:moveTo>
                    <a:pt x="55893" y="0"/>
                  </a:moveTo>
                  <a:lnTo>
                    <a:pt x="12653" y="0"/>
                  </a:lnTo>
                  <a:lnTo>
                    <a:pt x="0" y="102104"/>
                  </a:lnTo>
                  <a:lnTo>
                    <a:pt x="68547" y="102104"/>
                  </a:lnTo>
                  <a:lnTo>
                    <a:pt x="5589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942274" y="5725701"/>
              <a:ext cx="68580" cy="102235"/>
            </a:xfrm>
            <a:custGeom>
              <a:avLst/>
              <a:gdLst/>
              <a:ahLst/>
              <a:cxnLst/>
              <a:rect l="l" t="t" r="r" b="b"/>
              <a:pathLst>
                <a:path w="68579" h="102235">
                  <a:moveTo>
                    <a:pt x="12653" y="0"/>
                  </a:moveTo>
                  <a:lnTo>
                    <a:pt x="0" y="102104"/>
                  </a:lnTo>
                  <a:lnTo>
                    <a:pt x="68547" y="102104"/>
                  </a:lnTo>
                  <a:lnTo>
                    <a:pt x="55893" y="0"/>
                  </a:lnTo>
                  <a:lnTo>
                    <a:pt x="12653" y="0"/>
                  </a:lnTo>
                </a:path>
              </a:pathLst>
            </a:custGeom>
            <a:ln w="11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86035" y="5725701"/>
              <a:ext cx="68580" cy="102235"/>
            </a:xfrm>
            <a:custGeom>
              <a:avLst/>
              <a:gdLst/>
              <a:ahLst/>
              <a:cxnLst/>
              <a:rect l="l" t="t" r="r" b="b"/>
              <a:pathLst>
                <a:path w="68579" h="102235">
                  <a:moveTo>
                    <a:pt x="55893" y="0"/>
                  </a:moveTo>
                  <a:lnTo>
                    <a:pt x="12653" y="0"/>
                  </a:lnTo>
                  <a:lnTo>
                    <a:pt x="0" y="102104"/>
                  </a:lnTo>
                  <a:lnTo>
                    <a:pt x="68547" y="102104"/>
                  </a:lnTo>
                  <a:lnTo>
                    <a:pt x="5589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86035" y="5725701"/>
              <a:ext cx="68580" cy="102235"/>
            </a:xfrm>
            <a:custGeom>
              <a:avLst/>
              <a:gdLst/>
              <a:ahLst/>
              <a:cxnLst/>
              <a:rect l="l" t="t" r="r" b="b"/>
              <a:pathLst>
                <a:path w="68579" h="102235">
                  <a:moveTo>
                    <a:pt x="12653" y="0"/>
                  </a:moveTo>
                  <a:lnTo>
                    <a:pt x="0" y="102104"/>
                  </a:lnTo>
                  <a:lnTo>
                    <a:pt x="68547" y="102104"/>
                  </a:lnTo>
                  <a:lnTo>
                    <a:pt x="55893" y="0"/>
                  </a:lnTo>
                  <a:lnTo>
                    <a:pt x="12653" y="0"/>
                  </a:lnTo>
                </a:path>
              </a:pathLst>
            </a:custGeom>
            <a:ln w="11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460343" y="5725701"/>
              <a:ext cx="69215" cy="102235"/>
            </a:xfrm>
            <a:custGeom>
              <a:avLst/>
              <a:gdLst/>
              <a:ahLst/>
              <a:cxnLst/>
              <a:rect l="l" t="t" r="r" b="b"/>
              <a:pathLst>
                <a:path w="69214" h="102235">
                  <a:moveTo>
                    <a:pt x="55893" y="0"/>
                  </a:moveTo>
                  <a:lnTo>
                    <a:pt x="12856" y="0"/>
                  </a:lnTo>
                  <a:lnTo>
                    <a:pt x="0" y="102104"/>
                  </a:lnTo>
                  <a:lnTo>
                    <a:pt x="68750" y="102104"/>
                  </a:lnTo>
                  <a:lnTo>
                    <a:pt x="5589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460343" y="5725701"/>
              <a:ext cx="69215" cy="102235"/>
            </a:xfrm>
            <a:custGeom>
              <a:avLst/>
              <a:gdLst/>
              <a:ahLst/>
              <a:cxnLst/>
              <a:rect l="l" t="t" r="r" b="b"/>
              <a:pathLst>
                <a:path w="69214" h="102235">
                  <a:moveTo>
                    <a:pt x="12856" y="0"/>
                  </a:moveTo>
                  <a:lnTo>
                    <a:pt x="0" y="102104"/>
                  </a:lnTo>
                  <a:lnTo>
                    <a:pt x="68750" y="102104"/>
                  </a:lnTo>
                  <a:lnTo>
                    <a:pt x="55893" y="0"/>
                  </a:lnTo>
                  <a:lnTo>
                    <a:pt x="12856" y="0"/>
                  </a:lnTo>
                </a:path>
              </a:pathLst>
            </a:custGeom>
            <a:ln w="11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868710" y="5725701"/>
              <a:ext cx="68580" cy="106680"/>
            </a:xfrm>
            <a:custGeom>
              <a:avLst/>
              <a:gdLst/>
              <a:ahLst/>
              <a:cxnLst/>
              <a:rect l="l" t="t" r="r" b="b"/>
              <a:pathLst>
                <a:path w="68579" h="106679">
                  <a:moveTo>
                    <a:pt x="55893" y="0"/>
                  </a:moveTo>
                  <a:lnTo>
                    <a:pt x="12653" y="0"/>
                  </a:lnTo>
                  <a:lnTo>
                    <a:pt x="0" y="106090"/>
                  </a:lnTo>
                  <a:lnTo>
                    <a:pt x="68547" y="106090"/>
                  </a:lnTo>
                  <a:lnTo>
                    <a:pt x="5589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868710" y="5725701"/>
              <a:ext cx="68580" cy="106680"/>
            </a:xfrm>
            <a:custGeom>
              <a:avLst/>
              <a:gdLst/>
              <a:ahLst/>
              <a:cxnLst/>
              <a:rect l="l" t="t" r="r" b="b"/>
              <a:pathLst>
                <a:path w="68579" h="106679">
                  <a:moveTo>
                    <a:pt x="12653" y="0"/>
                  </a:moveTo>
                  <a:lnTo>
                    <a:pt x="0" y="106090"/>
                  </a:lnTo>
                  <a:lnTo>
                    <a:pt x="68547" y="106090"/>
                  </a:lnTo>
                  <a:lnTo>
                    <a:pt x="55893" y="0"/>
                  </a:lnTo>
                  <a:lnTo>
                    <a:pt x="12653" y="0"/>
                  </a:lnTo>
                </a:path>
              </a:pathLst>
            </a:custGeom>
            <a:ln w="115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406336" y="5529113"/>
              <a:ext cx="31115" cy="201295"/>
            </a:xfrm>
            <a:custGeom>
              <a:avLst/>
              <a:gdLst/>
              <a:ahLst/>
              <a:cxnLst/>
              <a:rect l="l" t="t" r="r" b="b"/>
              <a:pathLst>
                <a:path w="31114" h="201295">
                  <a:moveTo>
                    <a:pt x="29706" y="0"/>
                  </a:moveTo>
                  <a:lnTo>
                    <a:pt x="0" y="0"/>
                  </a:lnTo>
                  <a:lnTo>
                    <a:pt x="0" y="200956"/>
                  </a:lnTo>
                  <a:lnTo>
                    <a:pt x="30518" y="200573"/>
                  </a:lnTo>
                  <a:lnTo>
                    <a:pt x="2970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406336" y="5529113"/>
              <a:ext cx="31115" cy="201295"/>
            </a:xfrm>
            <a:custGeom>
              <a:avLst/>
              <a:gdLst/>
              <a:ahLst/>
              <a:cxnLst/>
              <a:rect l="l" t="t" r="r" b="b"/>
              <a:pathLst>
                <a:path w="31114" h="201295">
                  <a:moveTo>
                    <a:pt x="29706" y="0"/>
                  </a:moveTo>
                  <a:lnTo>
                    <a:pt x="30518" y="200573"/>
                  </a:lnTo>
                  <a:lnTo>
                    <a:pt x="0" y="200956"/>
                  </a:lnTo>
                  <a:lnTo>
                    <a:pt x="0" y="0"/>
                  </a:lnTo>
                  <a:lnTo>
                    <a:pt x="29706" y="0"/>
                  </a:lnTo>
                </a:path>
              </a:pathLst>
            </a:custGeom>
            <a:ln w="13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960950" y="5529113"/>
              <a:ext cx="30480" cy="200660"/>
            </a:xfrm>
            <a:custGeom>
              <a:avLst/>
              <a:gdLst/>
              <a:ahLst/>
              <a:cxnLst/>
              <a:rect l="l" t="t" r="r" b="b"/>
              <a:pathLst>
                <a:path w="30479" h="200660">
                  <a:moveTo>
                    <a:pt x="30382" y="0"/>
                  </a:moveTo>
                  <a:lnTo>
                    <a:pt x="0" y="0"/>
                  </a:lnTo>
                  <a:lnTo>
                    <a:pt x="812" y="199808"/>
                  </a:lnTo>
                  <a:lnTo>
                    <a:pt x="30382" y="200191"/>
                  </a:lnTo>
                  <a:lnTo>
                    <a:pt x="3038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960950" y="5529113"/>
              <a:ext cx="30480" cy="200660"/>
            </a:xfrm>
            <a:custGeom>
              <a:avLst/>
              <a:gdLst/>
              <a:ahLst/>
              <a:cxnLst/>
              <a:rect l="l" t="t" r="r" b="b"/>
              <a:pathLst>
                <a:path w="30479" h="200660">
                  <a:moveTo>
                    <a:pt x="0" y="0"/>
                  </a:moveTo>
                  <a:lnTo>
                    <a:pt x="812" y="199808"/>
                  </a:lnTo>
                  <a:lnTo>
                    <a:pt x="30382" y="200191"/>
                  </a:lnTo>
                  <a:lnTo>
                    <a:pt x="30382" y="0"/>
                  </a:lnTo>
                  <a:lnTo>
                    <a:pt x="0" y="0"/>
                  </a:lnTo>
                </a:path>
              </a:pathLst>
            </a:custGeom>
            <a:ln w="13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87478" y="5642315"/>
              <a:ext cx="13970" cy="93980"/>
            </a:xfrm>
            <a:custGeom>
              <a:avLst/>
              <a:gdLst/>
              <a:ahLst/>
              <a:cxnLst/>
              <a:rect l="l" t="t" r="r" b="b"/>
              <a:pathLst>
                <a:path w="13970" h="93979">
                  <a:moveTo>
                    <a:pt x="13668" y="0"/>
                  </a:moveTo>
                  <a:lnTo>
                    <a:pt x="0" y="0"/>
                  </a:lnTo>
                  <a:lnTo>
                    <a:pt x="812" y="93367"/>
                  </a:lnTo>
                  <a:lnTo>
                    <a:pt x="13668" y="91740"/>
                  </a:lnTo>
                  <a:lnTo>
                    <a:pt x="1366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487478" y="5642315"/>
              <a:ext cx="13970" cy="93980"/>
            </a:xfrm>
            <a:custGeom>
              <a:avLst/>
              <a:gdLst/>
              <a:ahLst/>
              <a:cxnLst/>
              <a:rect l="l" t="t" r="r" b="b"/>
              <a:pathLst>
                <a:path w="13970" h="93979">
                  <a:moveTo>
                    <a:pt x="0" y="0"/>
                  </a:moveTo>
                  <a:lnTo>
                    <a:pt x="797" y="91740"/>
                  </a:lnTo>
                  <a:lnTo>
                    <a:pt x="812" y="93367"/>
                  </a:lnTo>
                  <a:lnTo>
                    <a:pt x="13668" y="91740"/>
                  </a:lnTo>
                  <a:lnTo>
                    <a:pt x="13668" y="0"/>
                  </a:lnTo>
                  <a:lnTo>
                    <a:pt x="0" y="0"/>
                  </a:lnTo>
                </a:path>
              </a:pathLst>
            </a:custGeom>
            <a:ln w="134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893274" y="5641932"/>
              <a:ext cx="13970" cy="88265"/>
            </a:xfrm>
            <a:custGeom>
              <a:avLst/>
              <a:gdLst/>
              <a:ahLst/>
              <a:cxnLst/>
              <a:rect l="l" t="t" r="r" b="b"/>
              <a:pathLst>
                <a:path w="13970" h="88264">
                  <a:moveTo>
                    <a:pt x="0" y="0"/>
                  </a:moveTo>
                  <a:lnTo>
                    <a:pt x="0" y="88137"/>
                  </a:lnTo>
                  <a:lnTo>
                    <a:pt x="12653" y="88137"/>
                  </a:lnTo>
                  <a:lnTo>
                    <a:pt x="13465" y="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893274" y="5641932"/>
              <a:ext cx="13970" cy="88265"/>
            </a:xfrm>
            <a:custGeom>
              <a:avLst/>
              <a:gdLst/>
              <a:ahLst/>
              <a:cxnLst/>
              <a:rect l="l" t="t" r="r" b="b"/>
              <a:pathLst>
                <a:path w="13970" h="88264">
                  <a:moveTo>
                    <a:pt x="13465" y="382"/>
                  </a:moveTo>
                  <a:lnTo>
                    <a:pt x="12653" y="88137"/>
                  </a:lnTo>
                  <a:lnTo>
                    <a:pt x="0" y="88137"/>
                  </a:lnTo>
                  <a:lnTo>
                    <a:pt x="0" y="0"/>
                  </a:lnTo>
                  <a:lnTo>
                    <a:pt x="13465" y="382"/>
                  </a:lnTo>
                </a:path>
              </a:pathLst>
            </a:custGeom>
            <a:ln w="134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753435" y="5429018"/>
              <a:ext cx="806450" cy="626745"/>
            </a:xfrm>
            <a:custGeom>
              <a:avLst/>
              <a:gdLst/>
              <a:ahLst/>
              <a:cxnLst/>
              <a:rect l="l" t="t" r="r" b="b"/>
              <a:pathLst>
                <a:path w="806450" h="626745">
                  <a:moveTo>
                    <a:pt x="0" y="0"/>
                  </a:moveTo>
                  <a:lnTo>
                    <a:pt x="0" y="626498"/>
                  </a:lnTo>
                  <a:lnTo>
                    <a:pt x="60118" y="609342"/>
                  </a:lnTo>
                  <a:lnTo>
                    <a:pt x="133713" y="586638"/>
                  </a:lnTo>
                  <a:lnTo>
                    <a:pt x="192205" y="577837"/>
                  </a:lnTo>
                  <a:lnTo>
                    <a:pt x="257356" y="549552"/>
                  </a:lnTo>
                  <a:lnTo>
                    <a:pt x="314874" y="535235"/>
                  </a:lnTo>
                  <a:lnTo>
                    <a:pt x="352247" y="515209"/>
                  </a:lnTo>
                  <a:lnTo>
                    <a:pt x="446968" y="501274"/>
                  </a:lnTo>
                  <a:lnTo>
                    <a:pt x="469062" y="481345"/>
                  </a:lnTo>
                  <a:lnTo>
                    <a:pt x="491000" y="469769"/>
                  </a:lnTo>
                  <a:lnTo>
                    <a:pt x="541852" y="452582"/>
                  </a:lnTo>
                  <a:lnTo>
                    <a:pt x="615617" y="449840"/>
                  </a:lnTo>
                  <a:lnTo>
                    <a:pt x="678924" y="449840"/>
                  </a:lnTo>
                  <a:lnTo>
                    <a:pt x="718005" y="441485"/>
                  </a:lnTo>
                  <a:lnTo>
                    <a:pt x="784116" y="435490"/>
                  </a:lnTo>
                  <a:lnTo>
                    <a:pt x="806041" y="427072"/>
                  </a:lnTo>
                  <a:lnTo>
                    <a:pt x="799342" y="415560"/>
                  </a:lnTo>
                  <a:lnTo>
                    <a:pt x="776470" y="407142"/>
                  </a:lnTo>
                  <a:lnTo>
                    <a:pt x="761989" y="401179"/>
                  </a:lnTo>
                  <a:lnTo>
                    <a:pt x="696013" y="386829"/>
                  </a:lnTo>
                  <a:lnTo>
                    <a:pt x="673953" y="375637"/>
                  </a:lnTo>
                  <a:lnTo>
                    <a:pt x="652820" y="358928"/>
                  </a:lnTo>
                  <a:lnTo>
                    <a:pt x="593516" y="335777"/>
                  </a:lnTo>
                  <a:lnTo>
                    <a:pt x="571585" y="315847"/>
                  </a:lnTo>
                  <a:lnTo>
                    <a:pt x="571585" y="290337"/>
                  </a:lnTo>
                  <a:lnTo>
                    <a:pt x="543638" y="272321"/>
                  </a:lnTo>
                  <a:lnTo>
                    <a:pt x="533400" y="250031"/>
                  </a:lnTo>
                  <a:lnTo>
                    <a:pt x="461429" y="224489"/>
                  </a:lnTo>
                  <a:lnTo>
                    <a:pt x="432670" y="213296"/>
                  </a:lnTo>
                  <a:lnTo>
                    <a:pt x="410570" y="176211"/>
                  </a:lnTo>
                  <a:lnTo>
                    <a:pt x="352247" y="141932"/>
                  </a:lnTo>
                  <a:lnTo>
                    <a:pt x="308215" y="133195"/>
                  </a:lnTo>
                  <a:lnTo>
                    <a:pt x="286115" y="107621"/>
                  </a:lnTo>
                  <a:lnTo>
                    <a:pt x="257356" y="87691"/>
                  </a:lnTo>
                  <a:lnTo>
                    <a:pt x="228604" y="78953"/>
                  </a:lnTo>
                  <a:lnTo>
                    <a:pt x="198871" y="70599"/>
                  </a:lnTo>
                  <a:lnTo>
                    <a:pt x="176933" y="59024"/>
                  </a:lnTo>
                  <a:lnTo>
                    <a:pt x="155814" y="41836"/>
                  </a:lnTo>
                  <a:lnTo>
                    <a:pt x="140541" y="41836"/>
                  </a:lnTo>
                  <a:lnTo>
                    <a:pt x="110808" y="36256"/>
                  </a:lnTo>
                  <a:lnTo>
                    <a:pt x="75228" y="16326"/>
                  </a:lnTo>
                  <a:lnTo>
                    <a:pt x="0" y="0"/>
                  </a:lnTo>
                  <a:close/>
                </a:path>
                <a:path w="806450" h="626745">
                  <a:moveTo>
                    <a:pt x="678924" y="449840"/>
                  </a:moveTo>
                  <a:lnTo>
                    <a:pt x="615617" y="449840"/>
                  </a:lnTo>
                  <a:lnTo>
                    <a:pt x="652820" y="455420"/>
                  </a:lnTo>
                  <a:lnTo>
                    <a:pt x="678924" y="449840"/>
                  </a:lnTo>
                  <a:close/>
                </a:path>
              </a:pathLst>
            </a:custGeom>
            <a:solidFill>
              <a:srgbClr val="9F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753435" y="5429018"/>
              <a:ext cx="806450" cy="626745"/>
            </a:xfrm>
            <a:custGeom>
              <a:avLst/>
              <a:gdLst/>
              <a:ahLst/>
              <a:cxnLst/>
              <a:rect l="l" t="t" r="r" b="b"/>
              <a:pathLst>
                <a:path w="806450" h="626745">
                  <a:moveTo>
                    <a:pt x="615617" y="449840"/>
                  </a:moveTo>
                  <a:lnTo>
                    <a:pt x="541852" y="452582"/>
                  </a:lnTo>
                  <a:lnTo>
                    <a:pt x="491000" y="469769"/>
                  </a:lnTo>
                  <a:lnTo>
                    <a:pt x="469062" y="481345"/>
                  </a:lnTo>
                  <a:lnTo>
                    <a:pt x="446968" y="501274"/>
                  </a:lnTo>
                  <a:lnTo>
                    <a:pt x="352247" y="515209"/>
                  </a:lnTo>
                  <a:lnTo>
                    <a:pt x="314874" y="535235"/>
                  </a:lnTo>
                  <a:lnTo>
                    <a:pt x="257356" y="549553"/>
                  </a:lnTo>
                  <a:lnTo>
                    <a:pt x="192205" y="577837"/>
                  </a:lnTo>
                  <a:lnTo>
                    <a:pt x="133713" y="586638"/>
                  </a:lnTo>
                  <a:lnTo>
                    <a:pt x="60118" y="609342"/>
                  </a:lnTo>
                  <a:lnTo>
                    <a:pt x="0" y="626498"/>
                  </a:lnTo>
                  <a:lnTo>
                    <a:pt x="0" y="0"/>
                  </a:lnTo>
                  <a:lnTo>
                    <a:pt x="75228" y="16326"/>
                  </a:lnTo>
                  <a:lnTo>
                    <a:pt x="110808" y="36256"/>
                  </a:lnTo>
                  <a:lnTo>
                    <a:pt x="140541" y="41836"/>
                  </a:lnTo>
                  <a:lnTo>
                    <a:pt x="155814" y="41836"/>
                  </a:lnTo>
                  <a:lnTo>
                    <a:pt x="176933" y="59024"/>
                  </a:lnTo>
                  <a:lnTo>
                    <a:pt x="198871" y="70599"/>
                  </a:lnTo>
                  <a:lnTo>
                    <a:pt x="228604" y="78954"/>
                  </a:lnTo>
                  <a:lnTo>
                    <a:pt x="257356" y="87691"/>
                  </a:lnTo>
                  <a:lnTo>
                    <a:pt x="286115" y="107621"/>
                  </a:lnTo>
                  <a:lnTo>
                    <a:pt x="308215" y="133195"/>
                  </a:lnTo>
                  <a:lnTo>
                    <a:pt x="352247" y="141932"/>
                  </a:lnTo>
                  <a:lnTo>
                    <a:pt x="410570" y="176211"/>
                  </a:lnTo>
                  <a:lnTo>
                    <a:pt x="432670" y="213296"/>
                  </a:lnTo>
                  <a:lnTo>
                    <a:pt x="461429" y="224489"/>
                  </a:lnTo>
                  <a:lnTo>
                    <a:pt x="533400" y="250031"/>
                  </a:lnTo>
                  <a:lnTo>
                    <a:pt x="543638" y="272321"/>
                  </a:lnTo>
                  <a:lnTo>
                    <a:pt x="571585" y="290337"/>
                  </a:lnTo>
                  <a:lnTo>
                    <a:pt x="571585" y="315847"/>
                  </a:lnTo>
                  <a:lnTo>
                    <a:pt x="593516" y="335777"/>
                  </a:lnTo>
                  <a:lnTo>
                    <a:pt x="652820" y="358928"/>
                  </a:lnTo>
                  <a:lnTo>
                    <a:pt x="673953" y="375637"/>
                  </a:lnTo>
                  <a:lnTo>
                    <a:pt x="696013" y="386829"/>
                  </a:lnTo>
                  <a:lnTo>
                    <a:pt x="761989" y="401179"/>
                  </a:lnTo>
                  <a:lnTo>
                    <a:pt x="776470" y="407142"/>
                  </a:lnTo>
                  <a:lnTo>
                    <a:pt x="799342" y="415560"/>
                  </a:lnTo>
                  <a:lnTo>
                    <a:pt x="806041" y="427072"/>
                  </a:lnTo>
                  <a:lnTo>
                    <a:pt x="784116" y="435490"/>
                  </a:lnTo>
                  <a:lnTo>
                    <a:pt x="718005" y="441485"/>
                  </a:lnTo>
                  <a:lnTo>
                    <a:pt x="678924" y="449840"/>
                  </a:lnTo>
                </a:path>
                <a:path w="806450" h="626745">
                  <a:moveTo>
                    <a:pt x="678924" y="449840"/>
                  </a:moveTo>
                  <a:lnTo>
                    <a:pt x="652820" y="455420"/>
                  </a:lnTo>
                  <a:lnTo>
                    <a:pt x="615617" y="449840"/>
                  </a:lnTo>
                </a:path>
              </a:pathLst>
            </a:custGeom>
            <a:ln w="100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794952" y="5461288"/>
              <a:ext cx="796290" cy="570865"/>
            </a:xfrm>
            <a:custGeom>
              <a:avLst/>
              <a:gdLst/>
              <a:ahLst/>
              <a:cxnLst/>
              <a:rect l="l" t="t" r="r" b="b"/>
              <a:pathLst>
                <a:path w="796290" h="570864">
                  <a:moveTo>
                    <a:pt x="795976" y="0"/>
                  </a:moveTo>
                  <a:lnTo>
                    <a:pt x="687573" y="18781"/>
                  </a:lnTo>
                  <a:lnTo>
                    <a:pt x="635942" y="36320"/>
                  </a:lnTo>
                  <a:lnTo>
                    <a:pt x="607183" y="60235"/>
                  </a:lnTo>
                  <a:lnTo>
                    <a:pt x="555485" y="80931"/>
                  </a:lnTo>
                  <a:lnTo>
                    <a:pt x="519892" y="87755"/>
                  </a:lnTo>
                  <a:lnTo>
                    <a:pt x="439502" y="115656"/>
                  </a:lnTo>
                  <a:lnTo>
                    <a:pt x="425224" y="139572"/>
                  </a:lnTo>
                  <a:lnTo>
                    <a:pt x="409931" y="159948"/>
                  </a:lnTo>
                  <a:lnTo>
                    <a:pt x="343820" y="205038"/>
                  </a:lnTo>
                  <a:lnTo>
                    <a:pt x="308227" y="222129"/>
                  </a:lnTo>
                  <a:lnTo>
                    <a:pt x="308227" y="246492"/>
                  </a:lnTo>
                  <a:lnTo>
                    <a:pt x="285490" y="266804"/>
                  </a:lnTo>
                  <a:lnTo>
                    <a:pt x="249085" y="308258"/>
                  </a:lnTo>
                  <a:lnTo>
                    <a:pt x="226957" y="319068"/>
                  </a:lnTo>
                  <a:lnTo>
                    <a:pt x="139734" y="364157"/>
                  </a:lnTo>
                  <a:lnTo>
                    <a:pt x="73757" y="370120"/>
                  </a:lnTo>
                  <a:lnTo>
                    <a:pt x="0" y="398022"/>
                  </a:lnTo>
                  <a:lnTo>
                    <a:pt x="58465" y="404846"/>
                  </a:lnTo>
                  <a:lnTo>
                    <a:pt x="124644" y="415178"/>
                  </a:lnTo>
                  <a:lnTo>
                    <a:pt x="146568" y="442697"/>
                  </a:lnTo>
                  <a:lnTo>
                    <a:pt x="197387" y="442697"/>
                  </a:lnTo>
                  <a:lnTo>
                    <a:pt x="308227" y="470599"/>
                  </a:lnTo>
                  <a:lnTo>
                    <a:pt x="308227" y="484183"/>
                  </a:lnTo>
                  <a:lnTo>
                    <a:pt x="432803" y="508481"/>
                  </a:lnTo>
                  <a:lnTo>
                    <a:pt x="483554" y="509693"/>
                  </a:lnTo>
                  <a:lnTo>
                    <a:pt x="509877" y="525637"/>
                  </a:lnTo>
                  <a:lnTo>
                    <a:pt x="572537" y="545184"/>
                  </a:lnTo>
                  <a:lnTo>
                    <a:pt x="661453" y="564731"/>
                  </a:lnTo>
                  <a:lnTo>
                    <a:pt x="795977" y="570311"/>
                  </a:lnTo>
                  <a:lnTo>
                    <a:pt x="795976" y="0"/>
                  </a:lnTo>
                  <a:close/>
                </a:path>
              </a:pathLst>
            </a:custGeom>
            <a:solidFill>
              <a:srgbClr val="9F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794952" y="5461288"/>
              <a:ext cx="796290" cy="570865"/>
            </a:xfrm>
            <a:custGeom>
              <a:avLst/>
              <a:gdLst/>
              <a:ahLst/>
              <a:cxnLst/>
              <a:rect l="l" t="t" r="r" b="b"/>
              <a:pathLst>
                <a:path w="796290" h="570864">
                  <a:moveTo>
                    <a:pt x="795976" y="0"/>
                  </a:moveTo>
                  <a:lnTo>
                    <a:pt x="687573" y="18781"/>
                  </a:lnTo>
                  <a:lnTo>
                    <a:pt x="635942" y="36320"/>
                  </a:lnTo>
                  <a:lnTo>
                    <a:pt x="607183" y="60235"/>
                  </a:lnTo>
                  <a:lnTo>
                    <a:pt x="555485" y="80931"/>
                  </a:lnTo>
                  <a:lnTo>
                    <a:pt x="519892" y="87755"/>
                  </a:lnTo>
                  <a:lnTo>
                    <a:pt x="469225" y="105340"/>
                  </a:lnTo>
                  <a:lnTo>
                    <a:pt x="439502" y="115656"/>
                  </a:lnTo>
                  <a:lnTo>
                    <a:pt x="425224" y="139572"/>
                  </a:lnTo>
                  <a:lnTo>
                    <a:pt x="409931" y="159948"/>
                  </a:lnTo>
                  <a:lnTo>
                    <a:pt x="343820" y="205038"/>
                  </a:lnTo>
                  <a:lnTo>
                    <a:pt x="308227" y="222129"/>
                  </a:lnTo>
                  <a:lnTo>
                    <a:pt x="308227" y="246492"/>
                  </a:lnTo>
                  <a:lnTo>
                    <a:pt x="285490" y="266804"/>
                  </a:lnTo>
                  <a:lnTo>
                    <a:pt x="249085" y="308258"/>
                  </a:lnTo>
                  <a:lnTo>
                    <a:pt x="226957" y="319068"/>
                  </a:lnTo>
                  <a:lnTo>
                    <a:pt x="139734" y="364157"/>
                  </a:lnTo>
                  <a:lnTo>
                    <a:pt x="73757" y="370120"/>
                  </a:lnTo>
                  <a:lnTo>
                    <a:pt x="0" y="398022"/>
                  </a:lnTo>
                  <a:lnTo>
                    <a:pt x="58465" y="404846"/>
                  </a:lnTo>
                  <a:lnTo>
                    <a:pt x="124644" y="415178"/>
                  </a:lnTo>
                  <a:lnTo>
                    <a:pt x="146568" y="442697"/>
                  </a:lnTo>
                  <a:lnTo>
                    <a:pt x="197387" y="442697"/>
                  </a:lnTo>
                  <a:lnTo>
                    <a:pt x="308227" y="470599"/>
                  </a:lnTo>
                  <a:lnTo>
                    <a:pt x="308227" y="484183"/>
                  </a:lnTo>
                  <a:lnTo>
                    <a:pt x="432803" y="508481"/>
                  </a:lnTo>
                  <a:lnTo>
                    <a:pt x="483554" y="509693"/>
                  </a:lnTo>
                  <a:lnTo>
                    <a:pt x="509877" y="525637"/>
                  </a:lnTo>
                  <a:lnTo>
                    <a:pt x="572537" y="545184"/>
                  </a:lnTo>
                  <a:lnTo>
                    <a:pt x="661453" y="564731"/>
                  </a:lnTo>
                  <a:lnTo>
                    <a:pt x="795977" y="570311"/>
                  </a:lnTo>
                  <a:lnTo>
                    <a:pt x="795976" y="0"/>
                  </a:lnTo>
                </a:path>
              </a:pathLst>
            </a:custGeom>
            <a:ln w="8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753435" y="5346843"/>
              <a:ext cx="3837940" cy="1068070"/>
            </a:xfrm>
            <a:custGeom>
              <a:avLst/>
              <a:gdLst/>
              <a:ahLst/>
              <a:cxnLst/>
              <a:rect l="l" t="t" r="r" b="b"/>
              <a:pathLst>
                <a:path w="3837940" h="1068070">
                  <a:moveTo>
                    <a:pt x="812" y="1068002"/>
                  </a:moveTo>
                  <a:lnTo>
                    <a:pt x="3837493" y="1068002"/>
                  </a:lnTo>
                  <a:lnTo>
                    <a:pt x="3837493" y="0"/>
                  </a:lnTo>
                  <a:lnTo>
                    <a:pt x="0" y="0"/>
                  </a:lnTo>
                  <a:lnTo>
                    <a:pt x="812" y="1068002"/>
                  </a:lnTo>
                </a:path>
              </a:pathLst>
            </a:custGeom>
            <a:ln w="3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4329429" y="5859271"/>
            <a:ext cx="632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Trebuchet MS"/>
                <a:cs typeface="Trebuchet MS"/>
              </a:rPr>
              <a:t>CF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87" name="object 8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75026" y="2961132"/>
            <a:ext cx="3741801" cy="2313558"/>
          </a:xfrm>
          <a:prstGeom prst="rect">
            <a:avLst/>
          </a:prstGeom>
        </p:spPr>
      </p:pic>
      <p:sp>
        <p:nvSpPr>
          <p:cNvPr id="88" name="object 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02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Outcomes</a:t>
            </a:r>
            <a:r>
              <a:rPr sz="3200" spc="-30" dirty="0"/>
              <a:t> </a:t>
            </a:r>
            <a:r>
              <a:rPr sz="3200" dirty="0"/>
              <a:t>of</a:t>
            </a:r>
            <a:r>
              <a:rPr sz="3200" spc="-15" dirty="0"/>
              <a:t> </a:t>
            </a:r>
            <a:r>
              <a:rPr sz="3200" dirty="0"/>
              <a:t>Financial</a:t>
            </a:r>
            <a:r>
              <a:rPr sz="3200" spc="-229" dirty="0"/>
              <a:t> </a:t>
            </a:r>
            <a:r>
              <a:rPr sz="3200" spc="-10" dirty="0"/>
              <a:t>Accounting</a:t>
            </a: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2233213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683568"/>
            <a:ext cx="773112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Tools</a:t>
            </a:r>
            <a:r>
              <a:rPr sz="2000" b="1" spc="4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Techniques</a:t>
            </a:r>
            <a:r>
              <a:rPr sz="2000" b="1" spc="-5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used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by</a:t>
            </a:r>
            <a:r>
              <a:rPr sz="2000" b="1" spc="-5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4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management</a:t>
            </a:r>
            <a:r>
              <a:rPr sz="2000" b="1" spc="-5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spc="-10" dirty="0">
                <a:latin typeface="Trebuchet MS"/>
                <a:cs typeface="Trebuchet MS"/>
              </a:rPr>
              <a:t>financial </a:t>
            </a:r>
            <a:r>
              <a:rPr sz="2000" b="1" dirty="0">
                <a:latin typeface="Trebuchet MS"/>
                <a:cs typeface="Trebuchet MS"/>
              </a:rPr>
              <a:t>decision</a:t>
            </a:r>
            <a:r>
              <a:rPr sz="2000" b="1" spc="-5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making,</a:t>
            </a:r>
            <a:r>
              <a:rPr sz="2000" b="1" spc="-5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budgetary</a:t>
            </a:r>
            <a:r>
              <a:rPr sz="2000" b="1" spc="4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control</a:t>
            </a:r>
            <a:r>
              <a:rPr sz="2000" b="1" spc="4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5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profitability</a:t>
            </a:r>
            <a:r>
              <a:rPr sz="2000" b="1" spc="49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analysis, </a:t>
            </a:r>
            <a:r>
              <a:rPr sz="2000" b="1" dirty="0">
                <a:latin typeface="Trebuchet MS"/>
                <a:cs typeface="Trebuchet MS"/>
              </a:rPr>
              <a:t>enterprise</a:t>
            </a:r>
            <a:r>
              <a:rPr sz="2000" b="1" spc="42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performance</a:t>
            </a:r>
            <a:r>
              <a:rPr sz="2000" b="1" spc="434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management,</a:t>
            </a:r>
            <a:r>
              <a:rPr sz="2000" b="1" spc="434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driving</a:t>
            </a:r>
            <a:r>
              <a:rPr sz="2000" b="1" spc="434" dirty="0">
                <a:latin typeface="Trebuchet MS"/>
                <a:cs typeface="Trebuchet MS"/>
              </a:rPr>
              <a:t>  </a:t>
            </a:r>
            <a:r>
              <a:rPr sz="2000" b="1" spc="-10" dirty="0">
                <a:latin typeface="Trebuchet MS"/>
                <a:cs typeface="Trebuchet MS"/>
              </a:rPr>
              <a:t>profitability </a:t>
            </a:r>
            <a:r>
              <a:rPr sz="2000" b="1" dirty="0">
                <a:latin typeface="Trebuchet MS"/>
                <a:cs typeface="Trebuchet MS"/>
              </a:rPr>
              <a:t>rather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than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just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analysing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it.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71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</a:rPr>
              <a:t>What is</a:t>
            </a:r>
            <a:r>
              <a:rPr sz="2400" spc="10" dirty="0">
                <a:solidFill>
                  <a:srgbClr val="0000CC"/>
                </a:solidFill>
              </a:rPr>
              <a:t> </a:t>
            </a:r>
            <a:r>
              <a:rPr sz="2400" spc="-10" dirty="0">
                <a:solidFill>
                  <a:srgbClr val="0000CC"/>
                </a:solidFill>
              </a:rPr>
              <a:t>Management</a:t>
            </a:r>
            <a:r>
              <a:rPr sz="2400" spc="-170" dirty="0">
                <a:solidFill>
                  <a:srgbClr val="0000CC"/>
                </a:solidFill>
              </a:rPr>
              <a:t> </a:t>
            </a:r>
            <a:r>
              <a:rPr sz="2400" spc="-10" dirty="0">
                <a:solidFill>
                  <a:srgbClr val="0000CC"/>
                </a:solidFill>
              </a:rPr>
              <a:t>Accounting?</a:t>
            </a:r>
            <a:endParaRPr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3110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</a:rPr>
              <a:t>Major</a:t>
            </a:r>
            <a:r>
              <a:rPr sz="2400" spc="-5" dirty="0">
                <a:solidFill>
                  <a:srgbClr val="C00000"/>
                </a:solidFill>
              </a:rPr>
              <a:t> </a:t>
            </a:r>
            <a:r>
              <a:rPr sz="2400" dirty="0">
                <a:solidFill>
                  <a:srgbClr val="C00000"/>
                </a:solidFill>
              </a:rPr>
              <a:t>Learnings</a:t>
            </a:r>
            <a:r>
              <a:rPr sz="2400" spc="-20" dirty="0">
                <a:solidFill>
                  <a:srgbClr val="C00000"/>
                </a:solidFill>
              </a:rPr>
              <a:t> </a:t>
            </a:r>
            <a:r>
              <a:rPr sz="2400" dirty="0">
                <a:solidFill>
                  <a:srgbClr val="C00000"/>
                </a:solidFill>
              </a:rPr>
              <a:t>from</a:t>
            </a:r>
            <a:r>
              <a:rPr sz="2400" spc="10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Management</a:t>
            </a:r>
            <a:r>
              <a:rPr sz="2400" spc="-160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Accounting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8295893" y="6284263"/>
            <a:ext cx="160020" cy="17272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25" dirty="0">
                <a:latin typeface="Trebuchet MS"/>
                <a:cs typeface="Trebuchet MS"/>
              </a:rPr>
              <a:t>21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529712"/>
            <a:ext cx="7960359" cy="448691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000" b="1" spc="-10" dirty="0">
                <a:latin typeface="Trebuchet MS"/>
                <a:cs typeface="Trebuchet MS"/>
              </a:rPr>
              <a:t>Management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helped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to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60"/>
              </a:spcBef>
              <a:buFont typeface="Wingdings"/>
              <a:buChar char=""/>
              <a:tabLst>
                <a:tab pos="299085" algn="l"/>
                <a:tab pos="1358265" algn="l"/>
                <a:tab pos="1903730" algn="l"/>
                <a:tab pos="3073400" algn="l"/>
                <a:tab pos="4169410" algn="l"/>
                <a:tab pos="4556125" algn="l"/>
                <a:tab pos="5100320" algn="l"/>
                <a:tab pos="6309360" algn="l"/>
                <a:tab pos="7391400" algn="l"/>
              </a:tabLst>
            </a:pPr>
            <a:r>
              <a:rPr sz="2000" b="1" spc="-10" dirty="0">
                <a:latin typeface="Trebuchet MS"/>
                <a:cs typeface="Trebuchet MS"/>
              </a:rPr>
              <a:t>analyze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financial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position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of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company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through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ratio</a:t>
            </a:r>
            <a:endParaRPr sz="20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sz="2000" b="1" spc="-10" dirty="0">
                <a:latin typeface="Trebuchet MS"/>
                <a:cs typeface="Trebuchet MS"/>
              </a:rPr>
              <a:t>analysis.</a:t>
            </a:r>
            <a:endParaRPr sz="2000">
              <a:latin typeface="Trebuchet MS"/>
              <a:cs typeface="Trebuchet MS"/>
            </a:endParaRPr>
          </a:p>
          <a:p>
            <a:pPr marL="299085" marR="5715" indent="-287020">
              <a:lnSpc>
                <a:spcPts val="3600"/>
              </a:lnSpc>
              <a:spcBef>
                <a:spcPts val="320"/>
              </a:spcBef>
              <a:buFont typeface="Wingdings"/>
              <a:buChar char=""/>
              <a:tabLst>
                <a:tab pos="299085" algn="l"/>
                <a:tab pos="1303655" algn="l"/>
                <a:tab pos="2560955" algn="l"/>
                <a:tab pos="3042920" algn="l"/>
                <a:tab pos="4365625" algn="l"/>
                <a:tab pos="4894580" algn="l"/>
                <a:tab pos="6048375" algn="l"/>
                <a:tab pos="7708265" algn="l"/>
              </a:tabLst>
            </a:pPr>
            <a:r>
              <a:rPr sz="2000" b="1" spc="-10" dirty="0">
                <a:latin typeface="Trebuchet MS"/>
                <a:cs typeface="Trebuchet MS"/>
              </a:rPr>
              <a:t>suggest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measures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for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improving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financial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performance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of </a:t>
            </a:r>
            <a:r>
              <a:rPr sz="2000" b="1" spc="-10" dirty="0">
                <a:latin typeface="Trebuchet MS"/>
                <a:cs typeface="Trebuchet MS"/>
              </a:rPr>
              <a:t>organization.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80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b="1" dirty="0">
                <a:latin typeface="Trebuchet MS"/>
                <a:cs typeface="Trebuchet MS"/>
              </a:rPr>
              <a:t>analyze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profitability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position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company.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b="1" dirty="0">
                <a:latin typeface="Trebuchet MS"/>
                <a:cs typeface="Trebuchet MS"/>
              </a:rPr>
              <a:t>analyze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assets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utilization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position.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b="1" dirty="0">
                <a:latin typeface="Trebuchet MS"/>
                <a:cs typeface="Trebuchet MS"/>
              </a:rPr>
              <a:t>determine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solvency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position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company.</a:t>
            </a:r>
            <a:endParaRPr sz="2000">
              <a:latin typeface="Trebuchet MS"/>
              <a:cs typeface="Trebuchet MS"/>
            </a:endParaRPr>
          </a:p>
          <a:p>
            <a:pPr marL="299085" marR="5080" indent="-287020">
              <a:lnSpc>
                <a:spcPct val="150000"/>
              </a:lnSpc>
              <a:buFont typeface="Wingdings"/>
              <a:buChar char=""/>
              <a:tabLst>
                <a:tab pos="299085" algn="l"/>
              </a:tabLst>
            </a:pPr>
            <a:r>
              <a:rPr sz="2000" b="1" dirty="0">
                <a:latin typeface="Trebuchet MS"/>
                <a:cs typeface="Trebuchet MS"/>
              </a:rPr>
              <a:t>suggest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measures</a:t>
            </a:r>
            <a:r>
              <a:rPr sz="2000" b="1" spc="3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effective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efficient</a:t>
            </a:r>
            <a:r>
              <a:rPr sz="2000" b="1" spc="3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usage</a:t>
            </a:r>
            <a:r>
              <a:rPr sz="2000" b="1" spc="3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35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current assets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569268"/>
            <a:ext cx="7844790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r>
              <a:rPr dirty="0"/>
              <a:t>Understanding</a:t>
            </a:r>
            <a:r>
              <a:rPr spc="380" dirty="0"/>
              <a:t> </a:t>
            </a:r>
            <a:r>
              <a:rPr dirty="0"/>
              <a:t>financial</a:t>
            </a:r>
            <a:r>
              <a:rPr spc="395" dirty="0"/>
              <a:t> </a:t>
            </a:r>
            <a:r>
              <a:rPr dirty="0"/>
              <a:t>and</a:t>
            </a:r>
            <a:r>
              <a:rPr spc="405" dirty="0"/>
              <a:t> </a:t>
            </a:r>
            <a:r>
              <a:rPr dirty="0"/>
              <a:t>management</a:t>
            </a:r>
            <a:r>
              <a:rPr spc="409" dirty="0"/>
              <a:t> </a:t>
            </a:r>
            <a:r>
              <a:rPr dirty="0"/>
              <a:t>accounting</a:t>
            </a:r>
            <a:r>
              <a:rPr spc="415" dirty="0"/>
              <a:t> </a:t>
            </a:r>
            <a:r>
              <a:rPr spc="-10" dirty="0"/>
              <a:t>concepts, </a:t>
            </a:r>
            <a:r>
              <a:rPr dirty="0"/>
              <a:t>application</a:t>
            </a:r>
            <a:r>
              <a:rPr spc="185" dirty="0"/>
              <a:t>  </a:t>
            </a:r>
            <a:r>
              <a:rPr dirty="0"/>
              <a:t>and</a:t>
            </a:r>
            <a:r>
              <a:rPr spc="204" dirty="0"/>
              <a:t>  </a:t>
            </a:r>
            <a:r>
              <a:rPr dirty="0"/>
              <a:t>outcomes</a:t>
            </a:r>
            <a:r>
              <a:rPr spc="200" dirty="0"/>
              <a:t>  </a:t>
            </a:r>
            <a:r>
              <a:rPr dirty="0"/>
              <a:t>will</a:t>
            </a:r>
            <a:r>
              <a:rPr spc="200" dirty="0"/>
              <a:t>  </a:t>
            </a:r>
            <a:r>
              <a:rPr dirty="0"/>
              <a:t>enable</a:t>
            </a:r>
            <a:r>
              <a:rPr spc="200" dirty="0"/>
              <a:t>  </a:t>
            </a:r>
            <a:r>
              <a:rPr dirty="0">
                <a:solidFill>
                  <a:srgbClr val="000099"/>
                </a:solidFill>
              </a:rPr>
              <a:t>Business</a:t>
            </a:r>
            <a:r>
              <a:rPr spc="204" dirty="0">
                <a:solidFill>
                  <a:srgbClr val="000099"/>
                </a:solidFill>
              </a:rPr>
              <a:t>  </a:t>
            </a:r>
            <a:r>
              <a:rPr dirty="0">
                <a:solidFill>
                  <a:srgbClr val="000099"/>
                </a:solidFill>
              </a:rPr>
              <a:t>Manager</a:t>
            </a:r>
            <a:r>
              <a:rPr spc="200" dirty="0">
                <a:solidFill>
                  <a:srgbClr val="000099"/>
                </a:solidFill>
              </a:rPr>
              <a:t>  </a:t>
            </a:r>
            <a:r>
              <a:rPr spc="-25" dirty="0">
                <a:solidFill>
                  <a:srgbClr val="000099"/>
                </a:solidFill>
              </a:rPr>
              <a:t>to </a:t>
            </a:r>
            <a:r>
              <a:rPr dirty="0">
                <a:solidFill>
                  <a:srgbClr val="000099"/>
                </a:solidFill>
              </a:rPr>
              <a:t>analyse</a:t>
            </a:r>
            <a:r>
              <a:rPr spc="20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204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interpret</a:t>
            </a:r>
            <a:r>
              <a:rPr spc="21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financial</a:t>
            </a:r>
            <a:r>
              <a:rPr spc="21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health</a:t>
            </a:r>
            <a:r>
              <a:rPr spc="20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of</a:t>
            </a:r>
            <a:r>
              <a:rPr spc="21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</a:t>
            </a:r>
            <a:r>
              <a:rPr spc="21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organization</a:t>
            </a:r>
            <a:r>
              <a:rPr spc="21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204" dirty="0">
                <a:solidFill>
                  <a:srgbClr val="000099"/>
                </a:solidFill>
              </a:rPr>
              <a:t> </a:t>
            </a:r>
            <a:r>
              <a:rPr spc="-25" dirty="0">
                <a:solidFill>
                  <a:srgbClr val="000099"/>
                </a:solidFill>
              </a:rPr>
              <a:t>to </a:t>
            </a:r>
            <a:r>
              <a:rPr dirty="0">
                <a:solidFill>
                  <a:srgbClr val="000099"/>
                </a:solidFill>
              </a:rPr>
              <a:t>take</a:t>
            </a:r>
            <a:r>
              <a:rPr spc="-2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informed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decisions.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741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Accounting</a:t>
            </a:r>
            <a:r>
              <a:rPr sz="2400" spc="5" dirty="0"/>
              <a:t> </a:t>
            </a:r>
            <a:r>
              <a:rPr sz="2400" dirty="0"/>
              <a:t>Definition</a:t>
            </a:r>
            <a:r>
              <a:rPr sz="2400" b="0" dirty="0">
                <a:latin typeface="Trebuchet MS"/>
                <a:cs typeface="Trebuchet MS"/>
              </a:rPr>
              <a:t>-</a:t>
            </a:r>
            <a:r>
              <a:rPr sz="2400" b="0" spc="-25" dirty="0"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Management</a:t>
            </a:r>
            <a:r>
              <a:rPr sz="2400" spc="-155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Accounting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35861"/>
            <a:ext cx="784542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b="1" dirty="0">
                <a:latin typeface="Trebuchet MS"/>
                <a:cs typeface="Trebuchet MS"/>
              </a:rPr>
              <a:t>Management</a:t>
            </a:r>
            <a:r>
              <a:rPr sz="2000" b="1" spc="1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deals</a:t>
            </a:r>
            <a:r>
              <a:rPr sz="2000" b="1" spc="1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with</a:t>
            </a:r>
            <a:r>
              <a:rPr sz="2000" b="1" spc="1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tools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techniques</a:t>
            </a:r>
            <a:r>
              <a:rPr sz="2000" b="1" spc="13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used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Wingdings"/>
              <a:buChar char=""/>
            </a:pPr>
            <a:endParaRPr sz="2000">
              <a:latin typeface="Trebuchet MS"/>
              <a:cs typeface="Trebuchet MS"/>
            </a:endParaRPr>
          </a:p>
          <a:p>
            <a:pPr marL="355600" algn="just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analyze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interpret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health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organization.</a:t>
            </a:r>
            <a:endParaRPr sz="2000">
              <a:latin typeface="Trebuchet MS"/>
              <a:cs typeface="Trebuchet MS"/>
            </a:endParaRPr>
          </a:p>
          <a:p>
            <a:pPr marL="354330" marR="5080" indent="-342265" algn="just">
              <a:lnSpc>
                <a:spcPct val="2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b="1" dirty="0">
                <a:latin typeface="Trebuchet MS"/>
                <a:cs typeface="Trebuchet MS"/>
              </a:rPr>
              <a:t>Management</a:t>
            </a:r>
            <a:r>
              <a:rPr sz="2000" b="1" spc="204" dirty="0">
                <a:latin typeface="Trebuchet MS"/>
                <a:cs typeface="Trebuchet MS"/>
              </a:rPr>
              <a:t>  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204" dirty="0">
                <a:latin typeface="Trebuchet MS"/>
                <a:cs typeface="Trebuchet MS"/>
              </a:rPr>
              <a:t>   </a:t>
            </a:r>
            <a:r>
              <a:rPr sz="2000" b="1" dirty="0">
                <a:latin typeface="Trebuchet MS"/>
                <a:cs typeface="Trebuchet MS"/>
              </a:rPr>
              <a:t>(Ratios)</a:t>
            </a:r>
            <a:r>
              <a:rPr sz="2000" b="1" spc="215" dirty="0">
                <a:latin typeface="Trebuchet MS"/>
                <a:cs typeface="Trebuchet MS"/>
              </a:rPr>
              <a:t>  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210" dirty="0">
                <a:latin typeface="Trebuchet MS"/>
                <a:cs typeface="Trebuchet MS"/>
              </a:rPr>
              <a:t>   </a:t>
            </a:r>
            <a:r>
              <a:rPr sz="2000" b="1" dirty="0">
                <a:latin typeface="Trebuchet MS"/>
                <a:cs typeface="Trebuchet MS"/>
              </a:rPr>
              <a:t>“the</a:t>
            </a:r>
            <a:r>
              <a:rPr sz="2000" b="1" spc="210" dirty="0">
                <a:latin typeface="Trebuchet MS"/>
                <a:cs typeface="Trebuchet MS"/>
              </a:rPr>
              <a:t>   </a:t>
            </a:r>
            <a:r>
              <a:rPr sz="2000" b="1" dirty="0">
                <a:latin typeface="Trebuchet MS"/>
                <a:cs typeface="Trebuchet MS"/>
              </a:rPr>
              <a:t>process</a:t>
            </a:r>
            <a:r>
              <a:rPr sz="2000" b="1" spc="210" dirty="0">
                <a:latin typeface="Trebuchet MS"/>
                <a:cs typeface="Trebuchet MS"/>
              </a:rPr>
              <a:t>   </a:t>
            </a:r>
            <a:r>
              <a:rPr sz="2000" b="1" spc="-25" dirty="0">
                <a:latin typeface="Trebuchet MS"/>
                <a:cs typeface="Trebuchet MS"/>
              </a:rPr>
              <a:t>of 	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identification</a:t>
            </a:r>
            <a:r>
              <a:rPr sz="2000" b="1" dirty="0">
                <a:latin typeface="Trebuchet MS"/>
                <a:cs typeface="Trebuchet MS"/>
              </a:rPr>
              <a:t>,</a:t>
            </a:r>
            <a:r>
              <a:rPr sz="2000" b="1" spc="90" dirty="0">
                <a:latin typeface="Trebuchet MS"/>
                <a:cs typeface="Trebuchet MS"/>
              </a:rPr>
              <a:t> 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measurement</a:t>
            </a:r>
            <a:r>
              <a:rPr sz="2000" b="1" dirty="0">
                <a:latin typeface="Trebuchet MS"/>
                <a:cs typeface="Trebuchet MS"/>
              </a:rPr>
              <a:t>,</a:t>
            </a:r>
            <a:r>
              <a:rPr sz="2000" b="1" spc="320" dirty="0">
                <a:latin typeface="Trebuchet MS"/>
                <a:cs typeface="Trebuchet MS"/>
              </a:rPr>
              <a:t>  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analysis,</a:t>
            </a:r>
            <a:r>
              <a:rPr sz="2000" b="1" u="sng" spc="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interpretation</a:t>
            </a:r>
            <a:r>
              <a:rPr sz="2000" b="1" u="sng" spc="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 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and</a:t>
            </a:r>
            <a:r>
              <a:rPr sz="2000" b="1" spc="-25" dirty="0">
                <a:latin typeface="Trebuchet MS"/>
                <a:cs typeface="Trebuchet MS"/>
              </a:rPr>
              <a:t> 	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communication</a:t>
            </a:r>
            <a:r>
              <a:rPr sz="2000" b="1" u="sng" spc="25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of</a:t>
            </a:r>
            <a:r>
              <a:rPr sz="2000" b="1" u="sng" spc="2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information</a:t>
            </a:r>
            <a:r>
              <a:rPr sz="2000" b="1" u="sng" spc="25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used</a:t>
            </a:r>
            <a:r>
              <a:rPr sz="2000" b="1" spc="2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by</a:t>
            </a:r>
            <a:r>
              <a:rPr sz="2000" b="1" spc="2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management</a:t>
            </a:r>
            <a:r>
              <a:rPr sz="2000" b="1" spc="2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plan,</a:t>
            </a:r>
            <a:endParaRPr sz="2000">
              <a:latin typeface="Trebuchet MS"/>
              <a:cs typeface="Trebuchet MS"/>
            </a:endParaRPr>
          </a:p>
          <a:p>
            <a:pPr marL="355600" marR="7620" algn="just">
              <a:lnSpc>
                <a:spcPct val="200000"/>
              </a:lnSpc>
              <a:spcBef>
                <a:spcPts val="5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evaluate</a:t>
            </a:r>
            <a:r>
              <a:rPr sz="2000" b="1" u="sng" spc="3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and</a:t>
            </a:r>
            <a:r>
              <a:rPr sz="2000" b="1" u="sng" spc="3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control</a:t>
            </a:r>
            <a:r>
              <a:rPr sz="2000" b="1" u="sng" spc="3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within</a:t>
            </a:r>
            <a:r>
              <a:rPr sz="2000" b="1" spc="37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an</a:t>
            </a:r>
            <a:r>
              <a:rPr sz="2000" b="1" spc="36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entity</a:t>
            </a:r>
            <a:r>
              <a:rPr sz="2000" b="1" spc="36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6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370" dirty="0">
                <a:latin typeface="Trebuchet MS"/>
                <a:cs typeface="Trebuchet MS"/>
              </a:rPr>
              <a:t>  </a:t>
            </a:r>
            <a:r>
              <a:rPr sz="2000" b="1" spc="-10" dirty="0">
                <a:latin typeface="Trebuchet MS"/>
                <a:cs typeface="Trebuchet MS"/>
              </a:rPr>
              <a:t>assure </a:t>
            </a:r>
            <a:r>
              <a:rPr sz="2000" b="1" dirty="0">
                <a:latin typeface="Trebuchet MS"/>
                <a:cs typeface="Trebuchet MS"/>
              </a:rPr>
              <a:t>appropriate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accountability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its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resources.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45948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714347"/>
            <a:ext cx="8531225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Management</a:t>
            </a:r>
            <a:r>
              <a:rPr sz="2000" b="1" spc="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1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1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concerned</a:t>
            </a:r>
            <a:r>
              <a:rPr sz="2000" b="1" spc="1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with</a:t>
            </a:r>
            <a:r>
              <a:rPr sz="2000" b="1" spc="1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how</a:t>
            </a:r>
            <a:r>
              <a:rPr sz="2000" b="1" spc="1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an</a:t>
            </a:r>
            <a:r>
              <a:rPr sz="2000" b="1" spc="15" dirty="0">
                <a:latin typeface="Trebuchet MS"/>
                <a:cs typeface="Trebuchet MS"/>
              </a:rPr>
              <a:t>  </a:t>
            </a:r>
            <a:r>
              <a:rPr sz="2000" b="1" spc="-10" dirty="0">
                <a:latin typeface="Trebuchet MS"/>
                <a:cs typeface="Trebuchet MS"/>
              </a:rPr>
              <a:t>organization </a:t>
            </a:r>
            <a:r>
              <a:rPr sz="2000" b="1" dirty="0">
                <a:latin typeface="Trebuchet MS"/>
                <a:cs typeface="Trebuchet MS"/>
              </a:rPr>
              <a:t>prepares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reports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like</a:t>
            </a:r>
            <a:r>
              <a:rPr sz="2000" b="1" spc="-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budgets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internal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users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i.e.</a:t>
            </a:r>
            <a:r>
              <a:rPr sz="2000" b="1" spc="-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management.</a:t>
            </a:r>
            <a:endParaRPr sz="2000">
              <a:latin typeface="Trebuchet MS"/>
              <a:cs typeface="Trebuchet MS"/>
            </a:endParaRPr>
          </a:p>
          <a:p>
            <a:pPr marL="354965" marR="5080" indent="-342900" algn="just">
              <a:lnSpc>
                <a:spcPct val="15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Management</a:t>
            </a:r>
            <a:r>
              <a:rPr sz="2000" b="1" spc="25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2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reports</a:t>
            </a:r>
            <a:r>
              <a:rPr sz="2000" b="1" spc="2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2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intended</a:t>
            </a:r>
            <a:r>
              <a:rPr sz="2000" b="1" spc="2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2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future</a:t>
            </a:r>
            <a:r>
              <a:rPr sz="2000" b="1" spc="2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265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what </a:t>
            </a:r>
            <a:r>
              <a:rPr sz="2000" b="1" dirty="0">
                <a:latin typeface="Trebuchet MS"/>
                <a:cs typeface="Trebuchet MS"/>
              </a:rPr>
              <a:t>may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happen.</a:t>
            </a:r>
            <a:endParaRPr sz="2000">
              <a:latin typeface="Trebuchet MS"/>
              <a:cs typeface="Trebuchet MS"/>
            </a:endParaRPr>
          </a:p>
          <a:p>
            <a:pPr marL="354965" marR="5715" indent="-342900" algn="just">
              <a:lnSpc>
                <a:spcPct val="15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Management</a:t>
            </a:r>
            <a:r>
              <a:rPr sz="2000" b="1" spc="4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4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reports</a:t>
            </a:r>
            <a:r>
              <a:rPr sz="2000" b="1" spc="434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4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only</a:t>
            </a:r>
            <a:r>
              <a:rPr sz="2000" b="1" spc="4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used</a:t>
            </a:r>
            <a:r>
              <a:rPr sz="2000" b="1" spc="4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within</a:t>
            </a:r>
            <a:r>
              <a:rPr sz="2000" b="1" spc="445" dirty="0">
                <a:latin typeface="Trebuchet MS"/>
                <a:cs typeface="Trebuchet MS"/>
              </a:rPr>
              <a:t>  </a:t>
            </a:r>
            <a:r>
              <a:rPr sz="2000" b="1" spc="-25" dirty="0">
                <a:latin typeface="Trebuchet MS"/>
                <a:cs typeface="Trebuchet MS"/>
              </a:rPr>
              <a:t>the </a:t>
            </a:r>
            <a:r>
              <a:rPr sz="2000" b="1" dirty="0">
                <a:latin typeface="Trebuchet MS"/>
                <a:cs typeface="Trebuchet MS"/>
              </a:rPr>
              <a:t>organization,</a:t>
            </a:r>
            <a:r>
              <a:rPr sz="2000" b="1" spc="3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</a:t>
            </a:r>
            <a:r>
              <a:rPr sz="2000" b="1" spc="3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3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organization</a:t>
            </a:r>
            <a:r>
              <a:rPr sz="2000" b="1" spc="3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its</a:t>
            </a:r>
            <a:r>
              <a:rPr sz="2000" b="1" spc="3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management</a:t>
            </a:r>
            <a:r>
              <a:rPr sz="2000" b="1" spc="3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3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free</a:t>
            </a:r>
            <a:r>
              <a:rPr sz="2000" b="1" spc="30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to </a:t>
            </a:r>
            <a:r>
              <a:rPr sz="2000" b="1" dirty="0">
                <a:latin typeface="Trebuchet MS"/>
                <a:cs typeface="Trebuchet MS"/>
              </a:rPr>
              <a:t>choose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how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they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construct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these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reports.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43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741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Accounting</a:t>
            </a:r>
            <a:r>
              <a:rPr sz="2400" spc="5" dirty="0"/>
              <a:t> </a:t>
            </a:r>
            <a:r>
              <a:rPr sz="2400" dirty="0"/>
              <a:t>Definition</a:t>
            </a:r>
            <a:r>
              <a:rPr sz="2400" b="0" dirty="0">
                <a:latin typeface="Trebuchet MS"/>
                <a:cs typeface="Trebuchet MS"/>
              </a:rPr>
              <a:t>-</a:t>
            </a:r>
            <a:r>
              <a:rPr sz="2400" b="0" spc="-25" dirty="0"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Management</a:t>
            </a:r>
            <a:r>
              <a:rPr sz="2400" spc="-155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Accounting</a:t>
            </a:r>
            <a:endParaRPr sz="24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9541646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819658"/>
            <a:ext cx="3848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3800" algn="l"/>
              </a:tabLst>
            </a:pPr>
            <a:r>
              <a:rPr sz="2400" dirty="0">
                <a:solidFill>
                  <a:srgbClr val="C00000"/>
                </a:solidFill>
              </a:rPr>
              <a:t>Cost</a:t>
            </a:r>
            <a:r>
              <a:rPr sz="2400" spc="-180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Accounting</a:t>
            </a:r>
            <a:r>
              <a:rPr sz="2400" dirty="0">
                <a:solidFill>
                  <a:srgbClr val="C00000"/>
                </a:solidFill>
              </a:rPr>
              <a:t>	-</a:t>
            </a:r>
            <a:r>
              <a:rPr sz="2400" spc="-10" dirty="0">
                <a:solidFill>
                  <a:srgbClr val="C00000"/>
                </a:solidFill>
              </a:rPr>
              <a:t> </a:t>
            </a:r>
            <a:r>
              <a:rPr sz="2400" spc="-10" dirty="0"/>
              <a:t>Concept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44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268"/>
            <a:ext cx="8187690" cy="27705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theme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Cost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Accountancy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could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be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defined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as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application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of</a:t>
            </a:r>
            <a:endParaRPr sz="2000">
              <a:latin typeface="Trebuchet MS"/>
              <a:cs typeface="Trebuchet MS"/>
            </a:endParaRPr>
          </a:p>
          <a:p>
            <a:pPr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cost</a:t>
            </a: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accounting</a:t>
            </a:r>
            <a:r>
              <a:rPr sz="2000" b="1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principles,</a:t>
            </a:r>
            <a:r>
              <a:rPr sz="2000" b="1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methods</a:t>
            </a:r>
            <a:r>
              <a:rPr sz="2000" b="1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200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techniques</a:t>
            </a:r>
            <a:r>
              <a:rPr sz="2000"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Trebuchet MS"/>
                <a:cs typeface="Trebuchet MS"/>
              </a:rPr>
              <a:t>for</a:t>
            </a:r>
            <a:endParaRPr sz="2000">
              <a:latin typeface="Trebuchet MS"/>
              <a:cs typeface="Trebuchet MS"/>
            </a:endParaRPr>
          </a:p>
          <a:p>
            <a:pPr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812800" algn="l"/>
                <a:tab pos="5485765" algn="l"/>
              </a:tabLst>
            </a:pPr>
            <a:r>
              <a:rPr sz="2000" b="1" dirty="0">
                <a:latin typeface="Trebuchet MS"/>
                <a:cs typeface="Trebuchet MS"/>
              </a:rPr>
              <a:t>ascertaining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controlling/managing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cost,</a:t>
            </a:r>
            <a:endParaRPr sz="2000">
              <a:latin typeface="Trebuchet MS"/>
              <a:cs typeface="Trebuchet MS"/>
            </a:endParaRPr>
          </a:p>
          <a:p>
            <a:pPr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812800" algn="l"/>
              </a:tabLst>
            </a:pPr>
            <a:r>
              <a:rPr sz="2000" b="1" dirty="0">
                <a:latin typeface="Trebuchet MS"/>
                <a:cs typeface="Trebuchet MS"/>
              </a:rPr>
              <a:t>ascertaining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profit;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L="812800" marR="5080" indent="-342900">
              <a:lnSpc>
                <a:spcPct val="150000"/>
              </a:lnSpc>
              <a:spcBef>
                <a:spcPts val="5"/>
              </a:spcBef>
              <a:buFont typeface="Wingdings"/>
              <a:buChar char=""/>
              <a:tabLst>
                <a:tab pos="812800" algn="l"/>
                <a:tab pos="2315845" algn="l"/>
                <a:tab pos="3955415" algn="l"/>
                <a:tab pos="4547235" algn="l"/>
                <a:tab pos="5187315" algn="l"/>
                <a:tab pos="6386830" algn="l"/>
                <a:tab pos="6868795" algn="l"/>
              </a:tabLst>
            </a:pPr>
            <a:r>
              <a:rPr sz="2000" b="1" spc="-10" dirty="0">
                <a:latin typeface="Trebuchet MS"/>
                <a:cs typeface="Trebuchet MS"/>
              </a:rPr>
              <a:t>presenting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information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for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the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purpose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of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managerial decision-making.”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61712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38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Significance</a:t>
            </a:r>
            <a:r>
              <a:rPr sz="2400" spc="-75" dirty="0"/>
              <a:t> </a:t>
            </a:r>
            <a:r>
              <a:rPr sz="2400" dirty="0"/>
              <a:t>of</a:t>
            </a:r>
            <a:r>
              <a:rPr sz="2400" spc="-20" dirty="0"/>
              <a:t> </a:t>
            </a:r>
            <a:r>
              <a:rPr sz="2400" dirty="0">
                <a:solidFill>
                  <a:srgbClr val="C00000"/>
                </a:solidFill>
              </a:rPr>
              <a:t>Cost</a:t>
            </a:r>
            <a:r>
              <a:rPr sz="2400" spc="-155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Accounting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45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268"/>
            <a:ext cx="8073390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Cost</a:t>
            </a:r>
            <a:r>
              <a:rPr sz="2000" b="1" spc="3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3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frequently</a:t>
            </a:r>
            <a:r>
              <a:rPr sz="2000" b="1" spc="3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used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facilitate</a:t>
            </a:r>
            <a:r>
              <a:rPr sz="2000" b="1" spc="3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internal</a:t>
            </a:r>
            <a:r>
              <a:rPr sz="2000" b="1" spc="3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decision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making</a:t>
            </a:r>
            <a:r>
              <a:rPr sz="2000" b="1" spc="3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provides</a:t>
            </a:r>
            <a:r>
              <a:rPr sz="2000" b="1" spc="36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tools</a:t>
            </a:r>
            <a:r>
              <a:rPr sz="2000" b="1" spc="35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with</a:t>
            </a:r>
            <a:r>
              <a:rPr sz="2000" b="1" spc="35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which</a:t>
            </a:r>
            <a:r>
              <a:rPr sz="2000" b="1" spc="35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management</a:t>
            </a:r>
            <a:r>
              <a:rPr sz="2000" b="1" spc="37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can</a:t>
            </a:r>
            <a:r>
              <a:rPr sz="2000" b="1" spc="36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Trebuchet MS"/>
                <a:cs typeface="Trebuchet MS"/>
              </a:rPr>
              <a:t>appraise </a:t>
            </a:r>
            <a:r>
              <a:rPr sz="2000" b="1" dirty="0">
                <a:solidFill>
                  <a:srgbClr val="006600"/>
                </a:solidFill>
                <a:latin typeface="Trebuchet MS"/>
                <a:cs typeface="Trebuchet MS"/>
              </a:rPr>
              <a:t>performance</a:t>
            </a:r>
            <a:r>
              <a:rPr sz="2000" b="1" spc="-4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control</a:t>
            </a:r>
            <a:r>
              <a:rPr sz="2000" b="1" spc="-4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costs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of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doing</a:t>
            </a:r>
            <a:r>
              <a:rPr sz="2000" b="1" spc="-4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business.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715" algn="just">
              <a:lnSpc>
                <a:spcPct val="150000"/>
              </a:lnSpc>
            </a:pP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3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primarily</a:t>
            </a:r>
            <a:r>
              <a:rPr sz="2000" b="1" spc="3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involves</a:t>
            </a:r>
            <a:r>
              <a:rPr sz="2000" b="1" spc="4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relating</a:t>
            </a:r>
            <a:r>
              <a:rPr sz="2000" b="1" spc="4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4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costs</a:t>
            </a:r>
            <a:r>
              <a:rPr sz="2000" b="1" spc="3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4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3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different</a:t>
            </a:r>
            <a:r>
              <a:rPr sz="2000" b="1" spc="40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products </a:t>
            </a:r>
            <a:r>
              <a:rPr sz="2000" b="1" dirty="0">
                <a:latin typeface="Trebuchet MS"/>
                <a:cs typeface="Trebuchet MS"/>
              </a:rPr>
              <a:t>produced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sold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or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services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rendered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by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business.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69255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38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Financial</a:t>
            </a:r>
            <a:r>
              <a:rPr sz="2400" spc="-150" dirty="0"/>
              <a:t> </a:t>
            </a:r>
            <a:r>
              <a:rPr sz="2400" dirty="0"/>
              <a:t>Accounting</a:t>
            </a:r>
            <a:r>
              <a:rPr sz="2400" spc="5" dirty="0"/>
              <a:t> </a:t>
            </a:r>
            <a:r>
              <a:rPr sz="2400" spc="-10" dirty="0">
                <a:solidFill>
                  <a:srgbClr val="C00000"/>
                </a:solidFill>
              </a:rPr>
              <a:t>vs.</a:t>
            </a:r>
            <a:r>
              <a:rPr sz="2400" spc="-10" dirty="0"/>
              <a:t>Cost</a:t>
            </a:r>
            <a:r>
              <a:rPr sz="2400" spc="-90" dirty="0"/>
              <a:t> </a:t>
            </a:r>
            <a:r>
              <a:rPr sz="2400" spc="-10" dirty="0"/>
              <a:t>Accounting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46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23745"/>
            <a:ext cx="8187055" cy="27692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latin typeface="Trebuchet MS"/>
                <a:cs typeface="Trebuchet MS"/>
              </a:rPr>
              <a:t>While</a:t>
            </a:r>
            <a:r>
              <a:rPr sz="2000" b="1" spc="2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30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3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deals</a:t>
            </a:r>
            <a:r>
              <a:rPr sz="2000" b="1" spc="29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with</a:t>
            </a:r>
            <a:r>
              <a:rPr sz="2000" b="1" spc="30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(1)</a:t>
            </a:r>
            <a:r>
              <a:rPr sz="2000" b="1" spc="30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recording</a:t>
            </a:r>
            <a:r>
              <a:rPr sz="2000" b="1" spc="29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rebuchet MS"/>
                <a:cs typeface="Trebuchet MS"/>
              </a:rPr>
              <a:t>and</a:t>
            </a:r>
            <a:r>
              <a:rPr sz="2000" b="1" spc="31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Trebuchet MS"/>
                <a:cs typeface="Trebuchet MS"/>
              </a:rPr>
              <a:t>reporting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6970395" algn="l"/>
              </a:tabLst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(2)</a:t>
            </a:r>
            <a:r>
              <a:rPr sz="2000" b="1" spc="20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monetary</a:t>
            </a:r>
            <a:r>
              <a:rPr sz="2000" b="1" spc="2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business</a:t>
            </a:r>
            <a:r>
              <a:rPr sz="2000" b="1" spc="204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transactions</a:t>
            </a:r>
            <a:r>
              <a:rPr sz="2000" b="1" spc="21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(</a:t>
            </a:r>
            <a:r>
              <a:rPr sz="2000" b="1" dirty="0">
                <a:latin typeface="Trebuchet MS"/>
                <a:cs typeface="Trebuchet MS"/>
              </a:rPr>
              <a:t>at</a:t>
            </a:r>
            <a:r>
              <a:rPr sz="2000" b="1" spc="20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204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broader</a:t>
            </a:r>
            <a:r>
              <a:rPr sz="2000" b="1" spc="19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level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)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	as</a:t>
            </a:r>
            <a:r>
              <a:rPr sz="2000" b="1" spc="2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per</a:t>
            </a:r>
            <a:r>
              <a:rPr sz="2000" b="1" spc="2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(3)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statutory</a:t>
            </a:r>
            <a:r>
              <a:rPr sz="2000" b="1" spc="-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requirements</a:t>
            </a:r>
            <a:r>
              <a:rPr sz="2000" b="1" spc="-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(GAAP)</a:t>
            </a:r>
            <a:r>
              <a:rPr sz="2000" b="1" spc="-10" dirty="0">
                <a:latin typeface="Trebuchet MS"/>
                <a:cs typeface="Trebuchet MS"/>
              </a:rPr>
              <a:t>,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Cost</a:t>
            </a:r>
            <a:r>
              <a:rPr sz="2000" b="1" spc="229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Accounting</a:t>
            </a:r>
            <a:r>
              <a:rPr sz="2000" b="1" spc="2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aims</a:t>
            </a:r>
            <a:r>
              <a:rPr sz="2000" b="1" spc="2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at</a:t>
            </a:r>
            <a:r>
              <a:rPr sz="2000" b="1" spc="2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further</a:t>
            </a:r>
            <a:r>
              <a:rPr sz="2000" b="1" spc="2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breaking</a:t>
            </a:r>
            <a:r>
              <a:rPr sz="2000" b="1" spc="2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2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up</a:t>
            </a:r>
            <a:r>
              <a:rPr sz="2000" b="1" spc="2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2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2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last</a:t>
            </a:r>
            <a:r>
              <a:rPr sz="2000" b="1" spc="2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possible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rebuchet MS"/>
                <a:cs typeface="Trebuchet MS"/>
              </a:rPr>
              <a:t>level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identify</a:t>
            </a:r>
            <a:r>
              <a:rPr sz="2000" b="1" spc="-4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costs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with</a:t>
            </a: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products</a:t>
            </a:r>
            <a:r>
              <a:rPr sz="2000" b="1" spc="-3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and</a:t>
            </a:r>
            <a:r>
              <a:rPr sz="2000" b="1" spc="-2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services.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539985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9144" y="1839192"/>
            <a:ext cx="7272655" cy="3313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algn="just">
              <a:lnSpc>
                <a:spcPct val="150000"/>
              </a:lnSpc>
              <a:spcBef>
                <a:spcPts val="95"/>
              </a:spcBef>
            </a:pPr>
            <a:r>
              <a:rPr sz="1800" b="1" dirty="0">
                <a:latin typeface="Trebuchet MS"/>
                <a:cs typeface="Trebuchet MS"/>
              </a:rPr>
              <a:t>The</a:t>
            </a:r>
            <a:r>
              <a:rPr sz="1800" b="1" spc="1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goal</a:t>
            </a:r>
            <a:r>
              <a:rPr sz="1800" b="1" spc="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of</a:t>
            </a:r>
            <a:r>
              <a:rPr sz="1800" b="1" spc="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financial</a:t>
            </a:r>
            <a:r>
              <a:rPr sz="1800" b="1" spc="1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analytics,</a:t>
            </a:r>
            <a:r>
              <a:rPr sz="1800" b="1" spc="1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</a:t>
            </a:r>
            <a:r>
              <a:rPr sz="1800" b="1" spc="11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component</a:t>
            </a:r>
            <a:r>
              <a:rPr sz="1800" b="1" spc="114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of</a:t>
            </a:r>
            <a:r>
              <a:rPr sz="1800" b="1" spc="10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business</a:t>
            </a:r>
            <a:r>
              <a:rPr sz="1800" b="1" spc="12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analytics, </a:t>
            </a:r>
            <a:r>
              <a:rPr sz="1800" b="1" dirty="0">
                <a:latin typeface="Trebuchet MS"/>
                <a:cs typeface="Trebuchet MS"/>
              </a:rPr>
              <a:t>is</a:t>
            </a:r>
            <a:r>
              <a:rPr sz="1800" b="1" spc="1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to</a:t>
            </a:r>
            <a:r>
              <a:rPr sz="1800" b="1" spc="1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shape</a:t>
            </a:r>
            <a:r>
              <a:rPr sz="1800" b="1" spc="1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business</a:t>
            </a:r>
            <a:r>
              <a:rPr sz="1800" b="1" spc="1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strategy</a:t>
            </a:r>
            <a:r>
              <a:rPr sz="1800" b="1" spc="1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through</a:t>
            </a:r>
            <a:r>
              <a:rPr sz="1800" b="1" spc="1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reliable</a:t>
            </a:r>
            <a:r>
              <a:rPr sz="1800" b="1" spc="1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data,</a:t>
            </a:r>
            <a:r>
              <a:rPr sz="1800" b="1" spc="1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factual</a:t>
            </a:r>
            <a:r>
              <a:rPr sz="1800" b="1" spc="13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insight </a:t>
            </a:r>
            <a:r>
              <a:rPr sz="1800" b="1" dirty="0">
                <a:latin typeface="Trebuchet MS"/>
                <a:cs typeface="Trebuchet MS"/>
              </a:rPr>
              <a:t>rather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than</a:t>
            </a:r>
            <a:r>
              <a:rPr sz="1800" b="1" spc="-8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intuition.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Financial</a:t>
            </a:r>
            <a:r>
              <a:rPr sz="1800" b="1" spc="2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analytics</a:t>
            </a:r>
            <a:r>
              <a:rPr sz="1800" b="1" spc="3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offers</a:t>
            </a:r>
            <a:r>
              <a:rPr sz="1800" b="1" spc="1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insight</a:t>
            </a:r>
            <a:r>
              <a:rPr sz="1800" b="1" spc="1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into</a:t>
            </a:r>
            <a:r>
              <a:rPr sz="1800" b="1" spc="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organizations'</a:t>
            </a:r>
            <a:r>
              <a:rPr sz="1800" b="1" spc="2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financial</a:t>
            </a:r>
            <a:r>
              <a:rPr sz="1800" b="1" spc="1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000099"/>
                </a:solidFill>
                <a:latin typeface="Trebuchet MS"/>
                <a:cs typeface="Trebuchet MS"/>
              </a:rPr>
              <a:t>status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and</a:t>
            </a:r>
            <a:r>
              <a:rPr sz="1800" b="1" spc="-2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improves</a:t>
            </a:r>
            <a:r>
              <a:rPr sz="1800" b="1" spc="-2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the</a:t>
            </a:r>
            <a:r>
              <a:rPr sz="1800" b="1" spc="-1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000099"/>
                </a:solidFill>
                <a:latin typeface="Trebuchet MS"/>
                <a:cs typeface="Trebuchet MS"/>
              </a:rPr>
              <a:t>profitability,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cash</a:t>
            </a:r>
            <a:r>
              <a:rPr sz="1800" b="1" spc="-2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flow</a:t>
            </a:r>
            <a:r>
              <a:rPr sz="1800" b="1" spc="-3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and</a:t>
            </a:r>
            <a:r>
              <a:rPr sz="1800" b="1" spc="-2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value</a:t>
            </a:r>
            <a:r>
              <a:rPr sz="1800" b="1" spc="-4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of</a:t>
            </a:r>
            <a:r>
              <a:rPr sz="1800" b="1" spc="-3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99"/>
                </a:solidFill>
                <a:latin typeface="Trebuchet MS"/>
                <a:cs typeface="Trebuchet MS"/>
              </a:rPr>
              <a:t>the</a:t>
            </a:r>
            <a:r>
              <a:rPr sz="1800" b="1" spc="-2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000099"/>
                </a:solidFill>
                <a:latin typeface="Trebuchet MS"/>
                <a:cs typeface="Trebuchet MS"/>
              </a:rPr>
              <a:t>business. </a:t>
            </a:r>
            <a:r>
              <a:rPr sz="1800" b="1" dirty="0">
                <a:latin typeface="Trebuchet MS"/>
                <a:cs typeface="Trebuchet MS"/>
              </a:rPr>
              <a:t>Financial</a:t>
            </a:r>
            <a:r>
              <a:rPr sz="1800" b="1" spc="450" dirty="0">
                <a:latin typeface="Trebuchet MS"/>
                <a:cs typeface="Trebuchet MS"/>
              </a:rPr>
              <a:t>  </a:t>
            </a:r>
            <a:r>
              <a:rPr sz="1800" b="1" dirty="0">
                <a:latin typeface="Trebuchet MS"/>
                <a:cs typeface="Trebuchet MS"/>
              </a:rPr>
              <a:t>analytics</a:t>
            </a:r>
            <a:r>
              <a:rPr sz="1800" b="1" spc="450" dirty="0">
                <a:latin typeface="Trebuchet MS"/>
                <a:cs typeface="Trebuchet MS"/>
              </a:rPr>
              <a:t>  </a:t>
            </a:r>
            <a:r>
              <a:rPr sz="1800" b="1" dirty="0">
                <a:latin typeface="Trebuchet MS"/>
                <a:cs typeface="Trebuchet MS"/>
              </a:rPr>
              <a:t>also</a:t>
            </a:r>
            <a:r>
              <a:rPr sz="1800" b="1" spc="445" dirty="0">
                <a:latin typeface="Trebuchet MS"/>
                <a:cs typeface="Trebuchet MS"/>
              </a:rPr>
              <a:t>  </a:t>
            </a:r>
            <a:r>
              <a:rPr sz="1800" b="1" dirty="0">
                <a:latin typeface="Trebuchet MS"/>
                <a:cs typeface="Trebuchet MS"/>
              </a:rPr>
              <a:t>helps</a:t>
            </a:r>
            <a:r>
              <a:rPr sz="1800" b="1" spc="455" dirty="0">
                <a:latin typeface="Trebuchet MS"/>
                <a:cs typeface="Trebuchet MS"/>
              </a:rPr>
              <a:t>  </a:t>
            </a:r>
            <a:r>
              <a:rPr sz="1800" b="1" dirty="0">
                <a:latin typeface="Trebuchet MS"/>
                <a:cs typeface="Trebuchet MS"/>
              </a:rPr>
              <a:t>companies</a:t>
            </a:r>
            <a:r>
              <a:rPr sz="1800" b="1" spc="450" dirty="0">
                <a:latin typeface="Trebuchet MS"/>
                <a:cs typeface="Trebuchet MS"/>
              </a:rPr>
              <a:t>  </a:t>
            </a:r>
            <a:r>
              <a:rPr sz="1800" b="1" dirty="0">
                <a:latin typeface="Trebuchet MS"/>
                <a:cs typeface="Trebuchet MS"/>
              </a:rPr>
              <a:t>improve</a:t>
            </a:r>
            <a:r>
              <a:rPr sz="1800" b="1" spc="450" dirty="0">
                <a:latin typeface="Trebuchet MS"/>
                <a:cs typeface="Trebuchet MS"/>
              </a:rPr>
              <a:t>  </a:t>
            </a:r>
            <a:r>
              <a:rPr sz="1800" b="1" spc="-10" dirty="0">
                <a:latin typeface="Trebuchet MS"/>
                <a:cs typeface="Trebuchet MS"/>
              </a:rPr>
              <a:t>income </a:t>
            </a:r>
            <a:r>
              <a:rPr sz="1800" b="1" dirty="0">
                <a:latin typeface="Trebuchet MS"/>
                <a:cs typeface="Trebuchet MS"/>
              </a:rPr>
              <a:t>statements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business</a:t>
            </a:r>
            <a:r>
              <a:rPr sz="1800" b="1" spc="-8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processes.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1408" y="481329"/>
            <a:ext cx="51974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280920" algn="l"/>
              </a:tabLst>
            </a:pPr>
            <a:r>
              <a:rPr sz="2400" spc="-10" dirty="0">
                <a:solidFill>
                  <a:srgbClr val="C00000"/>
                </a:solidFill>
              </a:rPr>
              <a:t>FMA</a:t>
            </a:r>
            <a:r>
              <a:rPr sz="2400" spc="-155" dirty="0">
                <a:solidFill>
                  <a:srgbClr val="C00000"/>
                </a:solidFill>
              </a:rPr>
              <a:t> </a:t>
            </a:r>
            <a:r>
              <a:rPr sz="2400" dirty="0"/>
              <a:t>leading</a:t>
            </a:r>
            <a:r>
              <a:rPr sz="2400" spc="-65" dirty="0"/>
              <a:t> </a:t>
            </a:r>
            <a:r>
              <a:rPr sz="2400" spc="-25" dirty="0"/>
              <a:t>to</a:t>
            </a:r>
            <a:r>
              <a:rPr sz="2400" dirty="0"/>
              <a:t>	Financial</a:t>
            </a:r>
            <a:r>
              <a:rPr sz="2400" spc="-165" dirty="0"/>
              <a:t> </a:t>
            </a:r>
            <a:r>
              <a:rPr sz="2400" dirty="0"/>
              <a:t>Analytics</a:t>
            </a:r>
            <a:r>
              <a:rPr sz="2400" spc="-10" dirty="0"/>
              <a:t> </a:t>
            </a:r>
            <a:r>
              <a:rPr sz="2400" spc="-50" dirty="0"/>
              <a:t>a </a:t>
            </a:r>
            <a:r>
              <a:rPr sz="2400" dirty="0"/>
              <a:t>component</a:t>
            </a:r>
            <a:r>
              <a:rPr sz="2400" spc="-40" dirty="0"/>
              <a:t> </a:t>
            </a:r>
            <a:r>
              <a:rPr sz="2400" dirty="0"/>
              <a:t>of</a:t>
            </a:r>
            <a:r>
              <a:rPr sz="2400" spc="-15" dirty="0"/>
              <a:t> </a:t>
            </a:r>
            <a:r>
              <a:rPr sz="2400" dirty="0">
                <a:solidFill>
                  <a:srgbClr val="C00000"/>
                </a:solidFill>
              </a:rPr>
              <a:t>Business</a:t>
            </a:r>
            <a:r>
              <a:rPr sz="2400" spc="-165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Analytics</a:t>
            </a:r>
            <a:endParaRPr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739849"/>
            <a:ext cx="7959725" cy="3702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3495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Financial</a:t>
            </a:r>
            <a:r>
              <a:rPr sz="2000" b="1" spc="6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analytics</a:t>
            </a:r>
            <a:r>
              <a:rPr sz="2000" b="1" spc="7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offers</a:t>
            </a:r>
            <a:r>
              <a:rPr sz="2000" b="1" spc="6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various</a:t>
            </a:r>
            <a:r>
              <a:rPr sz="2000" b="1" spc="7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views</a:t>
            </a:r>
            <a:r>
              <a:rPr sz="2000" b="1" spc="6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7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companies'</a:t>
            </a:r>
            <a:r>
              <a:rPr sz="2000" b="1" spc="65" dirty="0">
                <a:latin typeface="Trebuchet MS"/>
                <a:cs typeface="Trebuchet MS"/>
              </a:rPr>
              <a:t>  </a:t>
            </a:r>
            <a:r>
              <a:rPr sz="2000" b="1" spc="-10" dirty="0">
                <a:latin typeface="Trebuchet MS"/>
                <a:cs typeface="Trebuchet MS"/>
              </a:rPr>
              <a:t>past, </a:t>
            </a:r>
            <a:r>
              <a:rPr sz="2000" b="1" dirty="0">
                <a:latin typeface="Trebuchet MS"/>
                <a:cs typeface="Trebuchet MS"/>
              </a:rPr>
              <a:t>present</a:t>
            </a:r>
            <a:r>
              <a:rPr sz="2000" b="1" spc="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future</a:t>
            </a:r>
            <a:r>
              <a:rPr sz="2000" b="1" spc="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performance.</a:t>
            </a:r>
            <a:r>
              <a:rPr sz="2000" b="1" spc="35" dirty="0"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</a:t>
            </a:r>
            <a:r>
              <a:rPr sz="2000" b="1" u="sng" spc="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following</a:t>
            </a:r>
            <a:r>
              <a:rPr sz="2000" b="1" spc="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are</a:t>
            </a:r>
            <a:r>
              <a:rPr sz="2000" b="1" spc="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key</a:t>
            </a:r>
            <a:r>
              <a:rPr sz="2000" b="1" spc="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types</a:t>
            </a:r>
            <a:r>
              <a:rPr sz="2000" b="1" spc="3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of </a:t>
            </a:r>
            <a:r>
              <a:rPr sz="2000" b="1" dirty="0">
                <a:latin typeface="Trebuchet MS"/>
                <a:cs typeface="Trebuchet MS"/>
              </a:rPr>
              <a:t>analytics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that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can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help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companies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different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sizes: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000">
              <a:latin typeface="Trebuchet MS"/>
              <a:cs typeface="Trebuchet MS"/>
            </a:endParaRPr>
          </a:p>
          <a:p>
            <a:pPr marL="469900" marR="8890" indent="-343535">
              <a:lnSpc>
                <a:spcPct val="100000"/>
              </a:lnSpc>
              <a:buFont typeface="Wingdings"/>
              <a:buChar char=""/>
              <a:tabLst>
                <a:tab pos="469900" algn="l"/>
                <a:tab pos="1724025" algn="l"/>
                <a:tab pos="2402840" algn="l"/>
                <a:tab pos="3505835" algn="l"/>
                <a:tab pos="3749675" algn="l"/>
                <a:tab pos="4834890" algn="l"/>
                <a:tab pos="6307455" algn="l"/>
                <a:tab pos="7433945" algn="l"/>
              </a:tabLst>
            </a:pPr>
            <a:r>
              <a:rPr sz="1800" b="1" spc="-10" dirty="0">
                <a:solidFill>
                  <a:srgbClr val="0000CC"/>
                </a:solidFill>
                <a:latin typeface="Trebuchet MS"/>
                <a:cs typeface="Trebuchet MS"/>
              </a:rPr>
              <a:t>Predictive</a:t>
            </a: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1800" b="1" spc="-10" dirty="0">
                <a:solidFill>
                  <a:srgbClr val="0000CC"/>
                </a:solidFill>
                <a:latin typeface="Trebuchet MS"/>
                <a:cs typeface="Trebuchet MS"/>
              </a:rPr>
              <a:t>sales</a:t>
            </a: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1800" b="1" spc="-10" dirty="0">
                <a:solidFill>
                  <a:srgbClr val="0000CC"/>
                </a:solidFill>
                <a:latin typeface="Trebuchet MS"/>
                <a:cs typeface="Trebuchet MS"/>
              </a:rPr>
              <a:t>analytics</a:t>
            </a: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1800" b="1" spc="-50" dirty="0">
                <a:latin typeface="Trebuchet MS"/>
                <a:cs typeface="Trebuchet MS"/>
              </a:rPr>
              <a:t>(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Revenue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Forecasting: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Variables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0" dirty="0">
                <a:latin typeface="Trebuchet MS"/>
                <a:cs typeface="Trebuchet MS"/>
              </a:rPr>
              <a:t>from </a:t>
            </a:r>
            <a:r>
              <a:rPr sz="1800" b="1" dirty="0">
                <a:latin typeface="Trebuchet MS"/>
                <a:cs typeface="Trebuchet MS"/>
              </a:rPr>
              <a:t>Financial</a:t>
            </a:r>
            <a:r>
              <a:rPr sz="1800" b="1" spc="-8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Statement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–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Financial</a:t>
            </a:r>
            <a:r>
              <a:rPr sz="1800" b="1" spc="-1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Accounting</a:t>
            </a:r>
            <a:r>
              <a:rPr sz="1800" b="1" spc="-1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Clr>
                <a:srgbClr val="0000CC"/>
              </a:buClr>
              <a:buFont typeface="Wingdings"/>
              <a:buChar char=""/>
            </a:pPr>
            <a:endParaRPr sz="1800">
              <a:latin typeface="Trebuchet MS"/>
              <a:cs typeface="Trebuchet MS"/>
            </a:endParaRPr>
          </a:p>
          <a:p>
            <a:pPr marL="469900" indent="-3429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Client</a:t>
            </a:r>
            <a:r>
              <a:rPr sz="1800" b="1" spc="31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profitability</a:t>
            </a:r>
            <a:r>
              <a:rPr sz="1800" b="1" spc="30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analytics</a:t>
            </a:r>
            <a:r>
              <a:rPr sz="1800" b="1" spc="33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(Profitable</a:t>
            </a:r>
            <a:r>
              <a:rPr sz="1800" b="1" spc="3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clients:</a:t>
            </a:r>
            <a:r>
              <a:rPr sz="1800" b="1" spc="31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Internal</a:t>
            </a:r>
            <a:r>
              <a:rPr sz="1800" b="1" spc="30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variables</a:t>
            </a:r>
            <a:r>
              <a:rPr sz="1800" b="1" spc="32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–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Management</a:t>
            </a:r>
            <a:r>
              <a:rPr sz="1800" b="1" spc="-9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Accounting</a:t>
            </a:r>
            <a:r>
              <a:rPr sz="1800" b="1" spc="-1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00">
              <a:latin typeface="Trebuchet MS"/>
              <a:cs typeface="Trebuchet MS"/>
            </a:endParaRPr>
          </a:p>
          <a:p>
            <a:pPr marL="584200" marR="6985" lvl="1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584200" algn="l"/>
              </a:tabLst>
            </a:pP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Product</a:t>
            </a:r>
            <a:r>
              <a:rPr sz="1800" b="1" spc="12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profitability</a:t>
            </a:r>
            <a:r>
              <a:rPr sz="1800" b="1" spc="114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CC"/>
                </a:solidFill>
                <a:latin typeface="Trebuchet MS"/>
                <a:cs typeface="Trebuchet MS"/>
              </a:rPr>
              <a:t>analytics</a:t>
            </a:r>
            <a:r>
              <a:rPr sz="1800" b="1" spc="12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(Profitable</a:t>
            </a:r>
            <a:r>
              <a:rPr sz="1800" b="1" spc="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products</a:t>
            </a:r>
            <a:r>
              <a:rPr sz="1800" b="1" spc="114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/</a:t>
            </a:r>
            <a:r>
              <a:rPr sz="1800" b="1" spc="1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services</a:t>
            </a:r>
            <a:r>
              <a:rPr sz="1800" b="1" spc="1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–</a:t>
            </a:r>
            <a:r>
              <a:rPr sz="1800" b="1" spc="105" dirty="0"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Trebuchet MS"/>
                <a:cs typeface="Trebuchet MS"/>
              </a:rPr>
              <a:t>Cost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Accounting</a:t>
            </a:r>
            <a:r>
              <a:rPr sz="1800" b="1" spc="-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/</a:t>
            </a:r>
            <a:r>
              <a:rPr sz="1800" b="1" spc="-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management</a:t>
            </a:r>
            <a:r>
              <a:rPr sz="180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accounting</a:t>
            </a:r>
            <a:r>
              <a:rPr sz="1800" b="1" spc="-1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741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C00000"/>
                </a:solidFill>
              </a:rPr>
              <a:t>Financial</a:t>
            </a:r>
            <a:r>
              <a:rPr sz="2400" spc="-165" dirty="0">
                <a:solidFill>
                  <a:srgbClr val="C00000"/>
                </a:solidFill>
              </a:rPr>
              <a:t> </a:t>
            </a:r>
            <a:r>
              <a:rPr sz="2400" dirty="0">
                <a:solidFill>
                  <a:srgbClr val="C00000"/>
                </a:solidFill>
              </a:rPr>
              <a:t>Analytics</a:t>
            </a:r>
            <a:r>
              <a:rPr sz="2400" spc="-45" dirty="0">
                <a:solidFill>
                  <a:srgbClr val="C00000"/>
                </a:solidFill>
              </a:rPr>
              <a:t> </a:t>
            </a:r>
            <a:r>
              <a:rPr sz="2400" dirty="0">
                <a:solidFill>
                  <a:srgbClr val="C00000"/>
                </a:solidFill>
              </a:rPr>
              <a:t>–</a:t>
            </a:r>
            <a:r>
              <a:rPr sz="2400" spc="10" dirty="0">
                <a:solidFill>
                  <a:srgbClr val="C00000"/>
                </a:solidFill>
              </a:rPr>
              <a:t> </a:t>
            </a:r>
            <a:r>
              <a:rPr sz="2400" dirty="0">
                <a:solidFill>
                  <a:srgbClr val="C00000"/>
                </a:solidFill>
              </a:rPr>
              <a:t>Concept</a:t>
            </a:r>
            <a:r>
              <a:rPr sz="2400" spc="-10" dirty="0">
                <a:solidFill>
                  <a:srgbClr val="C00000"/>
                </a:solidFill>
              </a:rPr>
              <a:t> </a:t>
            </a:r>
            <a:r>
              <a:rPr sz="2400" dirty="0">
                <a:solidFill>
                  <a:srgbClr val="C00000"/>
                </a:solidFill>
              </a:rPr>
              <a:t>and</a:t>
            </a:r>
            <a:r>
              <a:rPr sz="2400" spc="-70" dirty="0">
                <a:solidFill>
                  <a:srgbClr val="C00000"/>
                </a:solidFill>
              </a:rPr>
              <a:t> </a:t>
            </a:r>
            <a:r>
              <a:rPr sz="2400" spc="-10" dirty="0">
                <a:solidFill>
                  <a:srgbClr val="C00000"/>
                </a:solidFill>
              </a:rPr>
              <a:t>Types: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258" y="1739849"/>
            <a:ext cx="8073390" cy="198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2265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Cash-</a:t>
            </a:r>
            <a:r>
              <a:rPr sz="20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flow</a:t>
            </a:r>
            <a:r>
              <a:rPr sz="2000" b="1" u="sng" spc="55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  </a:t>
            </a:r>
            <a:r>
              <a:rPr sz="20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analytics</a:t>
            </a:r>
            <a:r>
              <a:rPr sz="2000" b="1" spc="60" dirty="0">
                <a:solidFill>
                  <a:srgbClr val="0000CC"/>
                </a:solidFill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(regression</a:t>
            </a:r>
            <a:r>
              <a:rPr sz="2000" b="1" spc="6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analysis</a:t>
            </a:r>
            <a:r>
              <a:rPr sz="2000" b="1" spc="5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6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predict</a:t>
            </a:r>
            <a:r>
              <a:rPr sz="2000" b="1" spc="55" dirty="0">
                <a:latin typeface="Trebuchet MS"/>
                <a:cs typeface="Trebuchet MS"/>
              </a:rPr>
              <a:t>  </a:t>
            </a:r>
            <a:r>
              <a:rPr sz="2000" b="1" spc="-10" dirty="0">
                <a:latin typeface="Trebuchet MS"/>
                <a:cs typeface="Trebuchet MS"/>
              </a:rPr>
              <a:t>operating 	</a:t>
            </a:r>
            <a:r>
              <a:rPr sz="2000" b="1" dirty="0">
                <a:latin typeface="Trebuchet MS"/>
                <a:cs typeface="Trebuchet MS"/>
              </a:rPr>
              <a:t>cash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flow: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working</a:t>
            </a:r>
            <a:r>
              <a:rPr sz="2000" b="1" spc="-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capital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ratio</a:t>
            </a:r>
            <a:r>
              <a:rPr sz="2000" b="1" spc="-5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4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cash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conversion</a:t>
            </a:r>
            <a:r>
              <a:rPr sz="2000" b="1" spc="-4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cycle</a:t>
            </a:r>
            <a:r>
              <a:rPr sz="2000" b="1" spc="-50" dirty="0">
                <a:latin typeface="Trebuchet MS"/>
                <a:cs typeface="Trebuchet MS"/>
              </a:rPr>
              <a:t>  – 	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Financial</a:t>
            </a:r>
            <a:r>
              <a:rPr sz="200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2000" b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Management</a:t>
            </a:r>
            <a:r>
              <a:rPr sz="2000" b="1" spc="-1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Accounting</a:t>
            </a:r>
            <a:r>
              <a:rPr sz="2000" b="1" spc="-10" dirty="0">
                <a:latin typeface="Trebuchet MS"/>
                <a:cs typeface="Trebuchet MS"/>
              </a:rPr>
              <a:t>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0"/>
              </a:spcBef>
              <a:buFont typeface="Wingdings"/>
              <a:buChar char="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1800" b="1" u="sng" spc="-35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Value-</a:t>
            </a:r>
            <a:r>
              <a:rPr sz="18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driven</a:t>
            </a:r>
            <a:r>
              <a:rPr sz="1800" b="1" u="sng" spc="-25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analytics</a:t>
            </a:r>
            <a:r>
              <a:rPr sz="1800" b="1" spc="-1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(Focussing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business'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value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drivers,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or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the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key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latin typeface="Trebuchet MS"/>
                <a:cs typeface="Trebuchet MS"/>
              </a:rPr>
              <a:t>"levers“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-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Financial</a:t>
            </a:r>
            <a:r>
              <a:rPr sz="1800" b="1" spc="-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1800" b="1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Management</a:t>
            </a:r>
            <a:r>
              <a:rPr sz="1800" b="1" spc="-1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Accounting)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4248150"/>
            <a:ext cx="6344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  <a:tab pos="1819910" algn="l"/>
                <a:tab pos="2562860" algn="l"/>
                <a:tab pos="3672204" algn="l"/>
                <a:tab pos="5020945" algn="l"/>
                <a:tab pos="5543550" algn="l"/>
              </a:tabLst>
            </a:pPr>
            <a:r>
              <a:rPr sz="1800" b="1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Shareholder</a:t>
            </a:r>
            <a:r>
              <a:rPr sz="18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b="1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value</a:t>
            </a:r>
            <a:r>
              <a:rPr sz="18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b="1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analytics</a:t>
            </a:r>
            <a:r>
              <a:rPr sz="1800" b="1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b="1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Trebuchet MS"/>
                <a:cs typeface="Trebuchet MS"/>
              </a:rPr>
              <a:t>(</a:t>
            </a:r>
            <a:r>
              <a:rPr sz="1800" b="1" spc="-10" dirty="0">
                <a:latin typeface="Trebuchet MS"/>
                <a:cs typeface="Trebuchet MS"/>
              </a:rPr>
              <a:t>examining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5" dirty="0">
                <a:latin typeface="Trebuchet MS"/>
                <a:cs typeface="Trebuchet MS"/>
              </a:rPr>
              <a:t>the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returns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0430" y="4248150"/>
            <a:ext cx="1356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organization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8069" y="4522470"/>
            <a:ext cx="118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4860" algn="l"/>
              </a:tabLst>
            </a:pPr>
            <a:r>
              <a:rPr sz="1800" b="1" spc="-10" dirty="0">
                <a:latin typeface="Trebuchet MS"/>
                <a:cs typeface="Trebuchet MS"/>
              </a:rPr>
              <a:t>profit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5" dirty="0">
                <a:latin typeface="Trebuchet MS"/>
                <a:cs typeface="Trebuchet MS"/>
              </a:rPr>
              <a:t>and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744" y="4522470"/>
            <a:ext cx="6315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01725" algn="l"/>
                <a:tab pos="1492250" algn="l"/>
                <a:tab pos="3124835" algn="l"/>
                <a:tab pos="3463290" algn="l"/>
                <a:tab pos="4130675" algn="l"/>
                <a:tab pos="5676265" algn="l"/>
              </a:tabLst>
            </a:pPr>
            <a:r>
              <a:rPr sz="1800" b="1" spc="-10" dirty="0">
                <a:latin typeface="Trebuchet MS"/>
                <a:cs typeface="Trebuchet MS"/>
              </a:rPr>
              <a:t>provides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5" dirty="0">
                <a:latin typeface="Trebuchet MS"/>
                <a:cs typeface="Trebuchet MS"/>
              </a:rPr>
              <a:t>to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shareholders,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5" dirty="0">
                <a:latin typeface="Trebuchet MS"/>
                <a:cs typeface="Trebuchet MS"/>
              </a:rPr>
              <a:t>is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0" dirty="0">
                <a:latin typeface="Trebuchet MS"/>
                <a:cs typeface="Trebuchet MS"/>
              </a:rPr>
              <a:t>used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10" dirty="0">
                <a:latin typeface="Trebuchet MS"/>
                <a:cs typeface="Trebuchet MS"/>
              </a:rPr>
              <a:t>concurrently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20" dirty="0">
                <a:latin typeface="Trebuchet MS"/>
                <a:cs typeface="Trebuchet MS"/>
              </a:rPr>
              <a:t>with </a:t>
            </a:r>
            <a:r>
              <a:rPr sz="1800" b="1" dirty="0">
                <a:latin typeface="Trebuchet MS"/>
                <a:cs typeface="Trebuchet MS"/>
              </a:rPr>
              <a:t>revenue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analytics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-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Financial</a:t>
            </a:r>
            <a:r>
              <a:rPr sz="1800" b="1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1800" b="1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Management</a:t>
            </a:r>
            <a:r>
              <a:rPr sz="1800" b="1" spc="-1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rebuchet MS"/>
                <a:cs typeface="Trebuchet MS"/>
              </a:rPr>
              <a:t>Accounting)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304" y="1683568"/>
            <a:ext cx="7731125" cy="231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Predictive</a:t>
            </a:r>
            <a:r>
              <a:rPr sz="2000" b="1" spc="4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Analysis</a:t>
            </a:r>
            <a:r>
              <a:rPr sz="2000" b="1" spc="459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answers</a:t>
            </a:r>
            <a:r>
              <a:rPr sz="2000" b="1" spc="4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“What</a:t>
            </a:r>
            <a:r>
              <a:rPr sz="2000" b="1" spc="4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will</a:t>
            </a:r>
            <a:r>
              <a:rPr sz="2000" b="1" spc="4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happen</a:t>
            </a:r>
            <a:r>
              <a:rPr sz="2000" b="1" spc="4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4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future</a:t>
            </a:r>
            <a:r>
              <a:rPr sz="2000" b="1" spc="459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and </a:t>
            </a:r>
            <a:r>
              <a:rPr sz="2000" b="1" dirty="0">
                <a:latin typeface="Trebuchet MS"/>
                <a:cs typeface="Trebuchet MS"/>
              </a:rPr>
              <a:t>when”.  This  involves</a:t>
            </a:r>
            <a:r>
              <a:rPr sz="2000" b="1" spc="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the  art  of</a:t>
            </a:r>
            <a:r>
              <a:rPr sz="2000" b="1" spc="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forecasting.  To  predict  </a:t>
            </a:r>
            <a:r>
              <a:rPr sz="2000" b="1" spc="-25" dirty="0">
                <a:latin typeface="Trebuchet MS"/>
                <a:cs typeface="Trebuchet MS"/>
              </a:rPr>
              <a:t>the </a:t>
            </a:r>
            <a:r>
              <a:rPr sz="2000" b="1" dirty="0">
                <a:latin typeface="Trebuchet MS"/>
                <a:cs typeface="Trebuchet MS"/>
              </a:rPr>
              <a:t>future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occurrence</a:t>
            </a:r>
            <a:r>
              <a:rPr sz="2000" b="1" spc="3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3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3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particular</a:t>
            </a:r>
            <a:r>
              <a:rPr sz="2000" b="1" spc="3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event,</a:t>
            </a:r>
            <a:r>
              <a:rPr sz="2000" b="1" spc="3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3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analyst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needs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to </a:t>
            </a:r>
            <a:r>
              <a:rPr sz="2000" b="1" dirty="0">
                <a:latin typeface="Trebuchet MS"/>
                <a:cs typeface="Trebuchet MS"/>
              </a:rPr>
              <a:t>build</a:t>
            </a:r>
            <a:r>
              <a:rPr sz="2000" b="1" spc="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model</a:t>
            </a:r>
            <a:r>
              <a:rPr sz="2000" b="1" spc="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or</a:t>
            </a:r>
            <a:r>
              <a:rPr sz="2000" b="1" spc="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algorithm</a:t>
            </a:r>
            <a:r>
              <a:rPr sz="2000" b="1" spc="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for</a:t>
            </a:r>
            <a:r>
              <a:rPr sz="2000" b="1" spc="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identifying</a:t>
            </a:r>
            <a:r>
              <a:rPr sz="2000" b="1" spc="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various</a:t>
            </a:r>
            <a:r>
              <a:rPr sz="2000" b="1" spc="7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necessary components.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7410" rIns="0" bIns="0" rtlCol="0">
            <a:spAutoFit/>
          </a:bodyPr>
          <a:lstStyle/>
          <a:p>
            <a:pPr marL="641350">
              <a:lnSpc>
                <a:spcPct val="100000"/>
              </a:lnSpc>
              <a:spcBef>
                <a:spcPts val="100"/>
              </a:spcBef>
            </a:pPr>
            <a:r>
              <a:rPr sz="2400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Types</a:t>
            </a:r>
            <a:r>
              <a:rPr sz="2400" u="sng" spc="-1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of</a:t>
            </a:r>
            <a:r>
              <a:rPr sz="2400" u="sng" spc="-5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Financial</a:t>
            </a:r>
            <a:r>
              <a:rPr sz="2400" u="sng" spc="-18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sz="2400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Analysis</a:t>
            </a:r>
            <a:endParaRPr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683568"/>
            <a:ext cx="761492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dirty="0">
                <a:solidFill>
                  <a:srgbClr val="C00000"/>
                </a:solidFill>
              </a:rPr>
              <a:t>Prescriptive</a:t>
            </a:r>
            <a:r>
              <a:rPr spc="47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Analysis</a:t>
            </a:r>
            <a:r>
              <a:rPr spc="-50" dirty="0">
                <a:solidFill>
                  <a:srgbClr val="C00000"/>
                </a:solidFill>
              </a:rPr>
              <a:t>  </a:t>
            </a:r>
            <a:r>
              <a:rPr dirty="0">
                <a:solidFill>
                  <a:srgbClr val="C00000"/>
                </a:solidFill>
              </a:rPr>
              <a:t>answers</a:t>
            </a:r>
            <a:r>
              <a:rPr spc="-50" dirty="0">
                <a:solidFill>
                  <a:srgbClr val="C00000"/>
                </a:solidFill>
              </a:rPr>
              <a:t>  </a:t>
            </a:r>
            <a:r>
              <a:rPr dirty="0"/>
              <a:t>“How</a:t>
            </a:r>
            <a:r>
              <a:rPr spc="495" dirty="0"/>
              <a:t> </a:t>
            </a:r>
            <a:r>
              <a:rPr dirty="0"/>
              <a:t>can</a:t>
            </a:r>
            <a:r>
              <a:rPr spc="-50" dirty="0"/>
              <a:t>  </a:t>
            </a:r>
            <a:r>
              <a:rPr dirty="0"/>
              <a:t>I</a:t>
            </a:r>
            <a:r>
              <a:rPr spc="-50" dirty="0"/>
              <a:t>  </a:t>
            </a:r>
            <a:r>
              <a:rPr dirty="0"/>
              <a:t>make</a:t>
            </a:r>
            <a:r>
              <a:rPr spc="495" dirty="0"/>
              <a:t> </a:t>
            </a:r>
            <a:r>
              <a:rPr dirty="0"/>
              <a:t>it</a:t>
            </a:r>
            <a:r>
              <a:rPr spc="490" dirty="0"/>
              <a:t> </a:t>
            </a:r>
            <a:r>
              <a:rPr spc="-10" dirty="0"/>
              <a:t>happen?” </a:t>
            </a:r>
            <a:r>
              <a:rPr dirty="0"/>
              <a:t>Diagnosis</a:t>
            </a:r>
            <a:r>
              <a:rPr spc="100" dirty="0"/>
              <a:t> </a:t>
            </a:r>
            <a:r>
              <a:rPr dirty="0"/>
              <a:t>and</a:t>
            </a:r>
            <a:r>
              <a:rPr spc="110" dirty="0"/>
              <a:t> </a:t>
            </a:r>
            <a:r>
              <a:rPr dirty="0"/>
              <a:t>prediction</a:t>
            </a:r>
            <a:r>
              <a:rPr spc="105" dirty="0"/>
              <a:t> </a:t>
            </a:r>
            <a:r>
              <a:rPr dirty="0"/>
              <a:t>are</a:t>
            </a:r>
            <a:r>
              <a:rPr spc="105" dirty="0"/>
              <a:t> </a:t>
            </a:r>
            <a:r>
              <a:rPr dirty="0"/>
              <a:t>useless</a:t>
            </a:r>
            <a:r>
              <a:rPr spc="100" dirty="0"/>
              <a:t> </a:t>
            </a:r>
            <a:r>
              <a:rPr dirty="0"/>
              <a:t>without</a:t>
            </a:r>
            <a:r>
              <a:rPr spc="105" dirty="0"/>
              <a:t> </a:t>
            </a:r>
            <a:r>
              <a:rPr spc="-10" dirty="0"/>
              <a:t>recommendations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suggestions</a:t>
            </a:r>
            <a:r>
              <a:rPr spc="-60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to how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bring</a:t>
            </a:r>
            <a:r>
              <a:rPr spc="-3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improvement.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569268"/>
            <a:ext cx="1367155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Descriptive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10" dirty="0">
                <a:latin typeface="Trebuchet MS"/>
                <a:cs typeface="Trebuchet MS"/>
              </a:rPr>
              <a:t>conducting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1173" y="1569268"/>
            <a:ext cx="1135380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Analysis</a:t>
            </a:r>
            <a:endParaRPr sz="2000">
              <a:latin typeface="Trebuchet MS"/>
              <a:cs typeface="Trebuchet MS"/>
            </a:endParaRPr>
          </a:p>
          <a:p>
            <a:pPr marL="100965">
              <a:lnSpc>
                <a:spcPct val="100000"/>
              </a:lnSpc>
              <a:spcBef>
                <a:spcPts val="1200"/>
              </a:spcBef>
            </a:pPr>
            <a:r>
              <a:rPr sz="2000" b="1" spc="-10" dirty="0">
                <a:latin typeface="Trebuchet MS"/>
                <a:cs typeface="Trebuchet MS"/>
              </a:rPr>
              <a:t>financial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2363" y="1569268"/>
            <a:ext cx="3437890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05"/>
              </a:spcBef>
              <a:tabLst>
                <a:tab pos="1156335" algn="l"/>
                <a:tab pos="2093595" algn="l"/>
              </a:tabLst>
            </a:pP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explains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“What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happened”</a:t>
            </a:r>
            <a:endParaRPr sz="2000">
              <a:latin typeface="Trebuchet MS"/>
              <a:cs typeface="Trebuchet MS"/>
            </a:endParaRPr>
          </a:p>
          <a:p>
            <a:pPr marR="38735" algn="r">
              <a:lnSpc>
                <a:spcPct val="100000"/>
              </a:lnSpc>
              <a:spcBef>
                <a:spcPts val="1200"/>
              </a:spcBef>
              <a:tabLst>
                <a:tab pos="855980" algn="l"/>
                <a:tab pos="1400175" algn="l"/>
                <a:tab pos="2731135" algn="l"/>
              </a:tabLst>
            </a:pPr>
            <a:r>
              <a:rPr sz="2000" b="1" spc="-10" dirty="0">
                <a:latin typeface="Trebuchet MS"/>
                <a:cs typeface="Trebuchet MS"/>
              </a:rPr>
              <a:t>ratio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to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compare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25" dirty="0">
                <a:latin typeface="Trebuchet MS"/>
                <a:cs typeface="Trebuchet MS"/>
              </a:rPr>
              <a:t>RoI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05066" y="1569268"/>
            <a:ext cx="1604010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581025" algn="l"/>
              </a:tabLst>
            </a:pPr>
            <a:r>
              <a:rPr sz="2000" b="1" spc="-25" dirty="0">
                <a:solidFill>
                  <a:srgbClr val="0000CC"/>
                </a:solidFill>
                <a:latin typeface="Trebuchet MS"/>
                <a:cs typeface="Trebuchet MS"/>
              </a:rPr>
              <a:t>For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0000CC"/>
                </a:solidFill>
                <a:latin typeface="Trebuchet MS"/>
                <a:cs typeface="Trebuchet MS"/>
              </a:rPr>
              <a:t>example</a:t>
            </a:r>
            <a:endParaRPr sz="2000">
              <a:latin typeface="Trebuchet MS"/>
              <a:cs typeface="Trebuchet MS"/>
            </a:endParaRPr>
          </a:p>
          <a:p>
            <a:pPr marL="99060">
              <a:lnSpc>
                <a:spcPct val="100000"/>
              </a:lnSpc>
              <a:spcBef>
                <a:spcPts val="1200"/>
              </a:spcBef>
              <a:tabLst>
                <a:tab pos="693420" algn="l"/>
              </a:tabLst>
            </a:pPr>
            <a:r>
              <a:rPr sz="2000" b="1" spc="-25" dirty="0">
                <a:latin typeface="Trebuchet MS"/>
                <a:cs typeface="Trebuchet MS"/>
              </a:rPr>
              <a:t>on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latin typeface="Trebuchet MS"/>
                <a:cs typeface="Trebuchet MS"/>
              </a:rPr>
              <a:t>historic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636647"/>
            <a:ext cx="6510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performance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using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visualization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text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mining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tools.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341094"/>
            <a:ext cx="773112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50100"/>
              </a:lnSpc>
              <a:spcBef>
                <a:spcPts val="100"/>
              </a:spcBef>
            </a:pP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Diagnostic</a:t>
            </a:r>
            <a:r>
              <a:rPr sz="2000" b="1" spc="114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Analysis</a:t>
            </a:r>
            <a:r>
              <a:rPr sz="2000" b="1" spc="1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rebuchet MS"/>
                <a:cs typeface="Trebuchet MS"/>
              </a:rPr>
              <a:t>offers</a:t>
            </a:r>
            <a:r>
              <a:rPr sz="2000" b="1" spc="1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answer</a:t>
            </a:r>
            <a:r>
              <a:rPr sz="2000" b="1" spc="1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“How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did</a:t>
            </a:r>
            <a:r>
              <a:rPr sz="2000" b="1" spc="1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1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happen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and </a:t>
            </a:r>
            <a:r>
              <a:rPr sz="2000" b="1" dirty="0">
                <a:latin typeface="Trebuchet MS"/>
                <a:cs typeface="Trebuchet MS"/>
              </a:rPr>
              <a:t>why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happened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3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will</a:t>
            </a:r>
            <a:r>
              <a:rPr sz="2000" b="1" spc="3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also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try</a:t>
            </a:r>
            <a:r>
              <a:rPr sz="2000" b="1" spc="3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bring</a:t>
            </a:r>
            <a:r>
              <a:rPr sz="2000" b="1" spc="3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out</a:t>
            </a:r>
            <a:r>
              <a:rPr sz="2000" b="1" spc="3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solutions</a:t>
            </a:r>
            <a:r>
              <a:rPr sz="2000" b="1" spc="34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to </a:t>
            </a:r>
            <a:r>
              <a:rPr sz="2000" b="1" dirty="0">
                <a:latin typeface="Trebuchet MS"/>
                <a:cs typeface="Trebuchet MS"/>
              </a:rPr>
              <a:t>stop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such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occurrences.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50000"/>
              </a:lnSpc>
              <a:spcBef>
                <a:spcPts val="5"/>
              </a:spcBef>
            </a:pP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For</a:t>
            </a:r>
            <a:r>
              <a:rPr sz="2000" b="1" spc="130" dirty="0">
                <a:solidFill>
                  <a:srgbClr val="0000CC"/>
                </a:solidFill>
                <a:latin typeface="Trebuchet MS"/>
                <a:cs typeface="Trebuchet MS"/>
              </a:rPr>
              <a:t>  </a:t>
            </a:r>
            <a:r>
              <a:rPr sz="2000" b="1" dirty="0">
                <a:solidFill>
                  <a:srgbClr val="0000CC"/>
                </a:solidFill>
                <a:latin typeface="Trebuchet MS"/>
                <a:cs typeface="Trebuchet MS"/>
              </a:rPr>
              <a:t>example,</a:t>
            </a:r>
            <a:r>
              <a:rPr sz="2000" b="1" spc="125" dirty="0">
                <a:solidFill>
                  <a:srgbClr val="0000CC"/>
                </a:solidFill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if</a:t>
            </a:r>
            <a:r>
              <a:rPr sz="2000" b="1" spc="1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there</a:t>
            </a:r>
            <a:r>
              <a:rPr sz="2000" b="1" spc="12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is</a:t>
            </a:r>
            <a:r>
              <a:rPr sz="2000" b="1" spc="1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reduced</a:t>
            </a:r>
            <a:r>
              <a:rPr sz="2000" b="1" spc="12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number</a:t>
            </a:r>
            <a:r>
              <a:rPr sz="2000" b="1" spc="12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of</a:t>
            </a:r>
            <a:r>
              <a:rPr sz="2000" b="1" spc="125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orders</a:t>
            </a:r>
            <a:r>
              <a:rPr sz="2000" b="1" spc="13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by</a:t>
            </a:r>
            <a:r>
              <a:rPr sz="2000" b="1" spc="120" dirty="0">
                <a:latin typeface="Trebuchet MS"/>
                <a:cs typeface="Trebuchet MS"/>
              </a:rPr>
              <a:t>  </a:t>
            </a:r>
            <a:r>
              <a:rPr sz="2000" b="1" spc="-50" dirty="0">
                <a:latin typeface="Trebuchet MS"/>
                <a:cs typeface="Trebuchet MS"/>
              </a:rPr>
              <a:t>a </a:t>
            </a:r>
            <a:r>
              <a:rPr sz="2000" b="1" dirty="0">
                <a:latin typeface="Trebuchet MS"/>
                <a:cs typeface="Trebuchet MS"/>
              </a:rPr>
              <a:t>particular</a:t>
            </a:r>
            <a:r>
              <a:rPr sz="2000" b="1" spc="409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client</a:t>
            </a:r>
            <a:r>
              <a:rPr sz="2000" b="1" spc="4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</a:t>
            </a:r>
            <a:r>
              <a:rPr sz="2000" b="1" spc="4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40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previous</a:t>
            </a:r>
            <a:r>
              <a:rPr sz="2000" b="1" spc="4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year,</a:t>
            </a:r>
            <a:r>
              <a:rPr sz="2000" b="1" spc="4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the</a:t>
            </a:r>
            <a:r>
              <a:rPr sz="2000" b="1" spc="4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Diagnostic</a:t>
            </a:r>
            <a:r>
              <a:rPr sz="2000" b="1" spc="4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analysis </a:t>
            </a:r>
            <a:r>
              <a:rPr sz="2000" b="1" dirty="0">
                <a:latin typeface="Trebuchet MS"/>
                <a:cs typeface="Trebuchet MS"/>
              </a:rPr>
              <a:t>will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get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cause as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-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how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and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why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happened.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50000"/>
              </a:lnSpc>
            </a:pPr>
            <a:r>
              <a:rPr sz="2000" b="1" dirty="0">
                <a:latin typeface="Trebuchet MS"/>
                <a:cs typeface="Trebuchet MS"/>
              </a:rPr>
              <a:t>Not</a:t>
            </a:r>
            <a:r>
              <a:rPr sz="2000" b="1" spc="1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just</a:t>
            </a:r>
            <a:r>
              <a:rPr sz="2000" b="1" spc="1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this,</a:t>
            </a:r>
            <a:r>
              <a:rPr sz="2000" b="1" spc="1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it</a:t>
            </a:r>
            <a:r>
              <a:rPr sz="2000" b="1" spc="1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will</a:t>
            </a:r>
            <a:r>
              <a:rPr sz="2000" b="1" spc="1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also</a:t>
            </a:r>
            <a:r>
              <a:rPr sz="2000" b="1" spc="1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try</a:t>
            </a:r>
            <a:r>
              <a:rPr sz="2000" b="1" spc="1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1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bring</a:t>
            </a:r>
            <a:r>
              <a:rPr sz="2000" b="1" spc="16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out</a:t>
            </a:r>
            <a:r>
              <a:rPr sz="2000" b="1" spc="17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solutions</a:t>
            </a:r>
            <a:r>
              <a:rPr sz="2000" b="1" spc="1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</a:t>
            </a:r>
            <a:r>
              <a:rPr sz="2000" b="1" spc="1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stop</a:t>
            </a:r>
            <a:r>
              <a:rPr sz="2000" b="1" spc="17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such </a:t>
            </a:r>
            <a:r>
              <a:rPr sz="2000" b="1" spc="-10" dirty="0">
                <a:latin typeface="Trebuchet MS"/>
                <a:cs typeface="Trebuchet MS"/>
              </a:rPr>
              <a:t>occurrences.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2292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dirty="0"/>
              <a:t>ACCOUNTING</a:t>
            </a:r>
            <a:r>
              <a:rPr spc="-20" dirty="0"/>
              <a:t> </a:t>
            </a:r>
            <a:r>
              <a:rPr spc="-10" dirty="0"/>
              <a:t>CONCEPTS</a:t>
            </a:r>
            <a:r>
              <a:rPr spc="-1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CONVENTIONS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736" y="1828800"/>
            <a:ext cx="8284090" cy="306676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"/>
              </a:spcBef>
            </a:pPr>
            <a:r>
              <a:rPr spc="-25" dirty="0"/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66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28" ma:contentTypeDescription="Create a new document." ma:contentTypeScope="" ma:versionID="a5aa760e343a9956f9ca206eb01cf7b6">
  <xsd:schema xmlns:xsd="http://www.w3.org/2001/XMLSchema" xmlns:xs="http://www.w3.org/2001/XMLSchema" xmlns:p="http://schemas.microsoft.com/office/2006/metadata/properties" xmlns:ns2="15d03a25-cda5-4943-9684-7d18d97bb3bc" targetNamespace="http://schemas.microsoft.com/office/2006/metadata/properties" ma:root="true" ma:fieldsID="8bdecef4e83725afebd3b91c65c07523" ns2:_="">
    <xsd:import namespace="15d03a25-cda5-4943-9684-7d18d97bb3b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F9449281-42F6-4387-A171-B9656791E05A}"/>
</file>

<file path=customXml/itemProps2.xml><?xml version="1.0" encoding="utf-8"?>
<ds:datastoreItem xmlns:ds="http://schemas.openxmlformats.org/officeDocument/2006/customXml" ds:itemID="{47A7C6A3-0E76-4A6C-8A06-2E7ABF188763}"/>
</file>

<file path=customXml/itemProps3.xml><?xml version="1.0" encoding="utf-8"?>
<ds:datastoreItem xmlns:ds="http://schemas.openxmlformats.org/officeDocument/2006/customXml" ds:itemID="{7016EFDA-8892-4103-807F-7C08B87C2CC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2361</Words>
  <Application>Microsoft Office PowerPoint</Application>
  <PresentationFormat>On-screen Show (4:3)</PresentationFormat>
  <Paragraphs>279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Arial MT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Organization’s Objective : Profit Maximization - Propositions</vt:lpstr>
      <vt:lpstr>From Business Strategy to Business Activities to Financial Statements to assessing business performance (maximizing operating profit)</vt:lpstr>
      <vt:lpstr>PowerPoint Presentation</vt:lpstr>
      <vt:lpstr>Objective of Accounting:</vt:lpstr>
      <vt:lpstr>Need for Accounting</vt:lpstr>
      <vt:lpstr>Conti..</vt:lpstr>
      <vt:lpstr>Conti..</vt:lpstr>
      <vt:lpstr>FMA - Concept</vt:lpstr>
      <vt:lpstr>Major Learnings from Financial Accounting</vt:lpstr>
      <vt:lpstr>Major Learnings from Financial Accounting (Conti….)</vt:lpstr>
      <vt:lpstr>Accounting Definition- Financial Accounting</vt:lpstr>
      <vt:lpstr>Accounting Definition - Financial Accounting</vt:lpstr>
      <vt:lpstr>Accounting Definition - Financial Accounting</vt:lpstr>
      <vt:lpstr>Accounting Definition - Financial Accounting</vt:lpstr>
      <vt:lpstr>Objectives of Financial Accounting</vt:lpstr>
      <vt:lpstr>Financial Accounting – Process (Cycles)</vt:lpstr>
      <vt:lpstr>Financial Accounting - Process</vt:lpstr>
      <vt:lpstr>Financial Accounting - Process</vt:lpstr>
      <vt:lpstr>Financial Accounting - Process</vt:lpstr>
      <vt:lpstr>PowerPoint Presentation</vt:lpstr>
      <vt:lpstr>Financial Accounting - Process</vt:lpstr>
      <vt:lpstr>Outcomes of Financial Accounting</vt:lpstr>
      <vt:lpstr>Outcomes of Financial Accounting</vt:lpstr>
      <vt:lpstr>What is Management Accounting?</vt:lpstr>
      <vt:lpstr>Major Learnings from Management Accounting</vt:lpstr>
      <vt:lpstr>Understanding financial and management accounting concepts, application  and  outcomes  will  enable  Business  Manager  to analyse and interpret financial health of an organization and to take informed decisions.</vt:lpstr>
      <vt:lpstr>Accounting Definition- Management Accounting</vt:lpstr>
      <vt:lpstr>Accounting Definition- Management Accounting</vt:lpstr>
      <vt:lpstr>Cost Accounting - Concept</vt:lpstr>
      <vt:lpstr>Significance of Cost Accounting</vt:lpstr>
      <vt:lpstr>Financial Accounting vs.Cost Accounting</vt:lpstr>
      <vt:lpstr>FMA leading to Financial Analytics a component of Business Analytics</vt:lpstr>
      <vt:lpstr>Financial Analytics – Concept and Types:</vt:lpstr>
      <vt:lpstr>PowerPoint Presentation</vt:lpstr>
      <vt:lpstr>Types of Financial Analysis</vt:lpstr>
      <vt:lpstr>Prescriptive Analysis  answers  “How can  I  make it happen?” Diagnosis and prediction are useless without recommendations or suggestions as to how to bring about improvement.</vt:lpstr>
      <vt:lpstr>PowerPoint Presentation</vt:lpstr>
      <vt:lpstr>PowerPoint Presentation</vt:lpstr>
      <vt:lpstr>ACCOUNTING CONCEPTS AND CONVENTIONS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Ankita Nagpal</cp:lastModifiedBy>
  <cp:revision>8</cp:revision>
  <dcterms:created xsi:type="dcterms:W3CDTF">2025-07-25T17:56:03Z</dcterms:created>
  <dcterms:modified xsi:type="dcterms:W3CDTF">2026-04-25T15:35:22Z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2025-07-25T00:00:00Z</vt:filetime>
  </property>
  <property fmtid="{D5CDD505-2E9C-101B-9397-08002B2CF9AE}" pid="5" name="Producer">
    <vt:lpwstr>Microsoft® PowerPoint® 2019</vt:lpwstr>
  </property>
  <property fmtid="{D5CDD505-2E9C-101B-9397-08002B2CF9AE}" pid="6" name="ContentTypeId">
    <vt:lpwstr>0x01010035A758FEF1429047AE09681CC0F7D167</vt:lpwstr>
  </property>
</Properties>
</file>