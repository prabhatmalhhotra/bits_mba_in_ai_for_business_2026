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435" r:id="rId4"/>
    <p:sldId id="407" r:id="rId5"/>
    <p:sldId id="408" r:id="rId6"/>
    <p:sldId id="412" r:id="rId7"/>
    <p:sldId id="413" r:id="rId8"/>
    <p:sldId id="415" r:id="rId9"/>
    <p:sldId id="416" r:id="rId10"/>
    <p:sldId id="440" r:id="rId11"/>
    <p:sldId id="434" r:id="rId12"/>
    <p:sldId id="419" r:id="rId13"/>
    <p:sldId id="441" r:id="rId14"/>
    <p:sldId id="421" r:id="rId15"/>
    <p:sldId id="420" r:id="rId16"/>
    <p:sldId id="417" r:id="rId17"/>
    <p:sldId id="418" r:id="rId18"/>
    <p:sldId id="442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/>
    <p:restoredTop sz="94701"/>
  </p:normalViewPr>
  <p:slideViewPr>
    <p:cSldViewPr snapToGrid="0">
      <p:cViewPr varScale="1">
        <p:scale>
          <a:sx n="70" d="100"/>
          <a:sy n="70" d="100"/>
        </p:scale>
        <p:origin x="6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684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8560D6-6ACC-51D1-F04E-F412F6C8F4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193BF-1D15-B78B-A6B5-58402895E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67720-C6D6-474E-A73A-4958377E2AF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85149-A6E1-661D-6189-A604508B77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42E44-08C8-3FA4-B7A2-AEB6E071CF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37B8A-1315-5E44-9D69-8DD7E0CC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1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cs typeface="Times New Roman" panose="02020603050405020304" pitchFamily="18" charset="0"/>
              </a:rPr>
              <a:t>Internal Strategies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cs typeface="Times New Roman" panose="02020603050405020304" pitchFamily="18" charset="0"/>
              </a:rPr>
              <a:t>These are fast track corporate restructuring strategies for growth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F14DF-752C-459E-A15E-C4A63D43292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317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3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54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28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73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77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89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01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company min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cpl-500,000;pvt-100,000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84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OPC per person</a:t>
            </a:r>
          </a:p>
          <a:p>
            <a:pPr eaLnBrk="1" hangingPunct="1"/>
            <a:r>
              <a:rPr lang="en-US" altLang="en-US" sz="12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Maxm</a:t>
            </a:r>
            <a:r>
              <a:rPr lang="en-US" alt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paid up capital-</a:t>
            </a:r>
            <a:r>
              <a:rPr lang="en-US" altLang="en-US" sz="12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alt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50,00,000 (or) Annual income-2 crore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74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69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Audit for partnership firm is applicable if the turnover/ gross receipt exceeds Rupees One Crore in case of business and Rupees Fifty laces in the profession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F14DF-752C-459E-A15E-C4A63D43292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73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1635D6-F918-E4B0-D8DF-45976B43E5CC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09FF428-FD03-A3ED-E874-F7399C457B5A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93EE98-E537-385E-2051-74DF0B3608DF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4627D7-A115-550F-D7B3-42FC43297FF1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3556000" y="3898061"/>
            <a:ext cx="80264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12" name="Picture 10" descr="Picture 10">
            <a:extLst>
              <a:ext uri="{FF2B5EF4-FFF2-40B4-BE49-F238E27FC236}">
                <a16:creationId xmlns:a16="http://schemas.microsoft.com/office/drawing/2014/main" id="{AD7CEC07-35D8-1CA1-9290-C0C58FB918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" b="28592"/>
          <a:stretch>
            <a:fillRect/>
          </a:stretch>
        </p:blipFill>
        <p:spPr>
          <a:xfrm>
            <a:off x="410735" y="3442008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D6174F0F-97E8-FF3A-933E-4C5429695631}"/>
              </a:ext>
            </a:extLst>
          </p:cNvPr>
          <p:cNvSpPr txBox="1"/>
          <p:nvPr userDrawn="1"/>
        </p:nvSpPr>
        <p:spPr>
          <a:xfrm>
            <a:off x="304054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800"/>
          </a:p>
        </p:txBody>
      </p:sp>
      <p:sp>
        <p:nvSpPr>
          <p:cNvPr id="27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9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Picture 10" descr="Picture 10">
            <a:extLst>
              <a:ext uri="{FF2B5EF4-FFF2-40B4-BE49-F238E27FC236}">
                <a16:creationId xmlns:a16="http://schemas.microsoft.com/office/drawing/2014/main" id="{2265F1A6-678C-AEEA-A833-A3FCA920BC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" b="28592"/>
          <a:stretch>
            <a:fillRect/>
          </a:stretch>
        </p:blipFill>
        <p:spPr>
          <a:xfrm>
            <a:off x="324624" y="3430586"/>
            <a:ext cx="20320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E859F0C4-7407-87B3-2869-885BFDE45F02}"/>
              </a:ext>
            </a:extLst>
          </p:cNvPr>
          <p:cNvSpPr txBox="1"/>
          <p:nvPr userDrawn="1"/>
        </p:nvSpPr>
        <p:spPr>
          <a:xfrm>
            <a:off x="-185453" y="5253383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 dirty="0"/>
              <a:t>BITS</a:t>
            </a:r>
            <a:r>
              <a:rPr sz="2900" b="0" dirty="0"/>
              <a:t> </a:t>
            </a:r>
            <a:r>
              <a:rPr sz="2900" b="0" dirty="0" err="1"/>
              <a:t>Pilani</a:t>
            </a:r>
            <a:endParaRPr sz="2900" b="0" dirty="0"/>
          </a:p>
        </p:txBody>
      </p:sp>
      <p:pic>
        <p:nvPicPr>
          <p:cNvPr id="7" name="Picture 6" descr="Picture 6">
            <a:extLst>
              <a:ext uri="{FF2B5EF4-FFF2-40B4-BE49-F238E27FC236}">
                <a16:creationId xmlns:a16="http://schemas.microsoft.com/office/drawing/2014/main" id="{3818D8A5-4093-5366-A656-E4572680C2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b="8482"/>
          <a:stretch/>
        </p:blipFill>
        <p:spPr>
          <a:xfrm>
            <a:off x="-16932" y="0"/>
            <a:ext cx="12208932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79E5246D-9FB4-1EAF-1DFD-06E7A224A44B}"/>
              </a:ext>
            </a:extLst>
          </p:cNvPr>
          <p:cNvSpPr/>
          <p:nvPr userDrawn="1"/>
        </p:nvSpPr>
        <p:spPr>
          <a:xfrm>
            <a:off x="-30481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80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7D9843CF-4ECD-2D16-7C3A-E2609658C47A}"/>
              </a:ext>
            </a:extLst>
          </p:cNvPr>
          <p:cNvSpPr/>
          <p:nvPr userDrawn="1"/>
        </p:nvSpPr>
        <p:spPr>
          <a:xfrm>
            <a:off x="3830319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408626BA-F9CE-167E-0CCC-0E0BD0DF9E13}"/>
              </a:ext>
            </a:extLst>
          </p:cNvPr>
          <p:cNvSpPr/>
          <p:nvPr userDrawn="1"/>
        </p:nvSpPr>
        <p:spPr>
          <a:xfrm>
            <a:off x="-30481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9BD5A5DA-8DC5-5E5E-9D34-92B31DC833B4}"/>
              </a:ext>
            </a:extLst>
          </p:cNvPr>
          <p:cNvSpPr/>
          <p:nvPr userDrawn="1"/>
        </p:nvSpPr>
        <p:spPr>
          <a:xfrm>
            <a:off x="7691119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Picture 10" descr="Picture 10">
            <a:extLst>
              <a:ext uri="{FF2B5EF4-FFF2-40B4-BE49-F238E27FC236}">
                <a16:creationId xmlns:a16="http://schemas.microsoft.com/office/drawing/2014/main" id="{32A6A09C-0F21-EA8D-5BA3-8ABB76BF9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" b="28592"/>
          <a:stretch>
            <a:fillRect/>
          </a:stretch>
        </p:blipFill>
        <p:spPr>
          <a:xfrm>
            <a:off x="410735" y="3442008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extBox 8">
            <a:extLst>
              <a:ext uri="{FF2B5EF4-FFF2-40B4-BE49-F238E27FC236}">
                <a16:creationId xmlns:a16="http://schemas.microsoft.com/office/drawing/2014/main" id="{06F61E6F-6D88-8EDC-0DE1-15337E5A6123}"/>
              </a:ext>
            </a:extLst>
          </p:cNvPr>
          <p:cNvSpPr txBox="1"/>
          <p:nvPr userDrawn="1"/>
        </p:nvSpPr>
        <p:spPr>
          <a:xfrm>
            <a:off x="304054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18" name="Body Level One…">
            <a:extLst>
              <a:ext uri="{FF2B5EF4-FFF2-40B4-BE49-F238E27FC236}">
                <a16:creationId xmlns:a16="http://schemas.microsoft.com/office/drawing/2014/main" id="{8CDD3693-FA82-57C6-63EA-CEA2738C655B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5374641" y="5433028"/>
            <a:ext cx="60198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 rotWithShape="1">
          <a:blip r:embed="rId2"/>
          <a:srcRect b="8482"/>
          <a:stretch/>
        </p:blipFill>
        <p:spPr>
          <a:xfrm>
            <a:off x="-16932" y="0"/>
            <a:ext cx="12208932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-16934" y="4281488"/>
            <a:ext cx="12208934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9129132" y="0"/>
            <a:ext cx="2635305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46" name="Rectangle 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47" name="Rectangle 6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48" name="TextBox 7"/>
          <p:cNvSpPr txBox="1"/>
          <p:nvPr/>
        </p:nvSpPr>
        <p:spPr>
          <a:xfrm>
            <a:off x="9204961" y="762003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/>
              <a:t>BITS</a:t>
            </a:r>
            <a:r>
              <a:rPr sz="2900"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35467" y="4173538"/>
            <a:ext cx="112776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3A46D0-C316-696A-5B56-702F75AB4D51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F1A953F2-2B32-9573-6F0B-9D4961A839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DE9A82C-D9CB-CF81-DDAC-7CB234EDC7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03D5985-0298-0BEC-DF57-4C90013A73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DD50E39-E54E-BDD4-5A9D-A7A8BEE4F0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DDD3D7-279B-C60A-2C13-486F0DA23356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4AAECA33-1DB2-B9A9-F147-2357EB201864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17" name="Rectangle 6">
                  <a:extLst>
                    <a:ext uri="{FF2B5EF4-FFF2-40B4-BE49-F238E27FC236}">
                      <a16:creationId xmlns:a16="http://schemas.microsoft.com/office/drawing/2014/main" id="{6F181D60-AB90-E693-BD7D-BBDA5AA8B27D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8" name="Rectangle 7">
                  <a:extLst>
                    <a:ext uri="{FF2B5EF4-FFF2-40B4-BE49-F238E27FC236}">
                      <a16:creationId xmlns:a16="http://schemas.microsoft.com/office/drawing/2014/main" id="{BCBBBC46-7706-7327-D005-98407EEC3548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E958D102-3604-C2C8-BD10-7A1E3AE9A7A9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FFD5ECD-BFDB-3816-559C-70DE22824EB9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4ED22973-A6D6-FB2B-BB43-9CD9CDD7FDFB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5" name="Rectangle 11">
                  <a:extLst>
                    <a:ext uri="{FF2B5EF4-FFF2-40B4-BE49-F238E27FC236}">
                      <a16:creationId xmlns:a16="http://schemas.microsoft.com/office/drawing/2014/main" id="{C25A7C5E-DE97-86BB-A873-E6824049E2C8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C6562C54-D0AC-4E56-D5F3-C07B936672AB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2" name="Picture 14" descr="Picture 14">
                <a:extLst>
                  <a:ext uri="{FF2B5EF4-FFF2-40B4-BE49-F238E27FC236}">
                    <a16:creationId xmlns:a16="http://schemas.microsoft.com/office/drawing/2014/main" id="{36D07653-E952-AEF7-9E67-E1A4649B7A9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6AA7E447-C7FC-AD12-DCCD-97F4E88E2374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DE1D1EB-47B7-FDA9-7B0A-9EAA5FBE87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B092B8A-6874-891F-73D4-6863510166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1080" y="1902221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8EFE35-8C29-E735-ABC8-6AACE3D54D52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E3B1D56D-63F3-61AA-AACD-DDDF2854C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D3648A3-D820-7481-C8C4-2315F0E17C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441BE47-DDAA-4E40-7635-335F36463C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A3DB7C0-DB1A-E75A-09B1-58F6CAD83D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6F4E64D-654D-BF37-8C57-7C29BD92C815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455AB2A7-1052-C42A-BD8B-D992CF4605B0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17" name="Rectangle 6">
                  <a:extLst>
                    <a:ext uri="{FF2B5EF4-FFF2-40B4-BE49-F238E27FC236}">
                      <a16:creationId xmlns:a16="http://schemas.microsoft.com/office/drawing/2014/main" id="{AC2C8B86-A2BA-7462-FF51-46EB8C955CC5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8" name="Rectangle 7">
                  <a:extLst>
                    <a:ext uri="{FF2B5EF4-FFF2-40B4-BE49-F238E27FC236}">
                      <a16:creationId xmlns:a16="http://schemas.microsoft.com/office/drawing/2014/main" id="{1C15CBC5-12DA-43EE-131F-4024AF2EC021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04B3C1E2-0F72-4059-4695-15B529483CDC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F108ED4-5155-29D8-41D4-FEE5AB5796F7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FAE28EA4-E1BA-0768-9755-63AD911DCD72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5" name="Rectangle 11">
                  <a:extLst>
                    <a:ext uri="{FF2B5EF4-FFF2-40B4-BE49-F238E27FC236}">
                      <a16:creationId xmlns:a16="http://schemas.microsoft.com/office/drawing/2014/main" id="{B173DCC5-2365-7043-9FD6-49F461ABD947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5850195B-997E-AE78-1E05-A40BB32AF74C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2" name="Picture 14" descr="Picture 14">
                <a:extLst>
                  <a:ext uri="{FF2B5EF4-FFF2-40B4-BE49-F238E27FC236}">
                    <a16:creationId xmlns:a16="http://schemas.microsoft.com/office/drawing/2014/main" id="{7AF3D21D-209D-E836-0847-5607F136A78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755EC95A-87B2-D01F-CBA9-9D8D049C009E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495AAC4-2E4D-5397-11D7-265E048152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3954C6C-2D37-6301-A707-96BB6286C2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  <p:sp>
        <p:nvSpPr>
          <p:cNvPr id="1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604000" y="1600204"/>
            <a:ext cx="5384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SzTx/>
              <a:buFontTx/>
              <a:buNone/>
              <a:defRPr sz="2800"/>
            </a:lvl1pPr>
            <a:lvl2pPr marL="957262" indent="-500062">
              <a:spcBef>
                <a:spcPts val="600"/>
              </a:spcBef>
              <a:buFontTx/>
              <a:defRPr sz="2800"/>
            </a:lvl2pPr>
            <a:lvl3pPr marL="1234439" indent="-320039">
              <a:spcBef>
                <a:spcPts val="600"/>
              </a:spcBef>
              <a:buFontTx/>
              <a:defRPr sz="2800"/>
            </a:lvl3pPr>
            <a:lvl4pPr marL="1727200" indent="-355600">
              <a:spcBef>
                <a:spcPts val="600"/>
              </a:spcBef>
              <a:buFontTx/>
              <a:defRPr sz="2800"/>
            </a:lvl4pPr>
            <a:lvl5pPr marL="2184400" indent="-355600">
              <a:spcBef>
                <a:spcPts val="600"/>
              </a:spcBef>
              <a:buFontTx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0A4099-6A0F-9FDB-10B5-C28D0B037349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21C221CF-FE24-61E2-88EF-AA72176FB8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2332BC00-E2B1-8ECD-AF20-E29C31F6A6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57022855-1108-8117-FA37-B9CD6D5A48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9E9A8EAA-0B39-B56F-794F-524F825743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E9E737C-05B9-5C14-7599-4DF7EDBCCBC7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3706ADE1-42BE-7E0E-79DB-866F84D9600D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17" name="Rectangle 6">
                  <a:extLst>
                    <a:ext uri="{FF2B5EF4-FFF2-40B4-BE49-F238E27FC236}">
                      <a16:creationId xmlns:a16="http://schemas.microsoft.com/office/drawing/2014/main" id="{C562DE0E-E259-D81A-9376-160E486D304B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8" name="Rectangle 7">
                  <a:extLst>
                    <a:ext uri="{FF2B5EF4-FFF2-40B4-BE49-F238E27FC236}">
                      <a16:creationId xmlns:a16="http://schemas.microsoft.com/office/drawing/2014/main" id="{D265DDFD-76BE-E7A1-68FA-AD17C84824E9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6D5C7F7B-166E-F16D-8300-1CFC51356BA6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4DA2DED-160A-B7FA-F388-F71A6DDDE6FC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2DCD3A42-3165-A02F-5E72-A8A81F1EBCD1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5" name="Rectangle 11">
                  <a:extLst>
                    <a:ext uri="{FF2B5EF4-FFF2-40B4-BE49-F238E27FC236}">
                      <a16:creationId xmlns:a16="http://schemas.microsoft.com/office/drawing/2014/main" id="{9983279D-542E-A064-1532-9574FB258454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532AFAE7-984C-83E0-3B5B-48AF35FD6E48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2" name="Picture 14" descr="Picture 14">
                <a:extLst>
                  <a:ext uri="{FF2B5EF4-FFF2-40B4-BE49-F238E27FC236}">
                    <a16:creationId xmlns:a16="http://schemas.microsoft.com/office/drawing/2014/main" id="{DE749AC4-D779-04A8-3223-C65B00C69F0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150642BE-D9C3-36CB-B8AC-5E067A4894CF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41F46C5-F8C6-C764-BF44-1772DED27F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6003194-EFE7-2809-C571-27F1E07093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  <p:sp>
        <p:nvSpPr>
          <p:cNvPr id="1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79429" y="1569091"/>
            <a:ext cx="5386917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9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70" y="1535112"/>
            <a:ext cx="5389033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>
            <a:alpha val="7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4411D0-E0EB-B399-A864-30AC7927CA41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F6F2FF92-979E-999B-1F8F-64DCA964BC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1E60506-B3C6-757A-B45A-7784A792F5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3097AC4-5B6D-3FA4-4EBE-09033518F6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F6B3A8F-F88A-B81C-1DEC-0BDF60AA75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AB7E4DB-DC1F-19DB-B375-FB7C4F5B83C8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4585FF3A-D3A4-2B1D-0BAA-12A2DC81AD9E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17" name="Rectangle 6">
                  <a:extLst>
                    <a:ext uri="{FF2B5EF4-FFF2-40B4-BE49-F238E27FC236}">
                      <a16:creationId xmlns:a16="http://schemas.microsoft.com/office/drawing/2014/main" id="{A95D1FE4-5856-FA42-6788-A560567508C4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8" name="Rectangle 7">
                  <a:extLst>
                    <a:ext uri="{FF2B5EF4-FFF2-40B4-BE49-F238E27FC236}">
                      <a16:creationId xmlns:a16="http://schemas.microsoft.com/office/drawing/2014/main" id="{C55E27EC-2CF7-1DF6-06F3-3E09C5B17B27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5E6D0AE1-45B9-B873-9FA5-F9E63BF79D0D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FCBF3B0-2F79-4DD0-CB0A-EE45EF3FAE23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0126DE20-C4AA-A2BB-FC4D-5D2B56319449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5" name="Rectangle 11">
                  <a:extLst>
                    <a:ext uri="{FF2B5EF4-FFF2-40B4-BE49-F238E27FC236}">
                      <a16:creationId xmlns:a16="http://schemas.microsoft.com/office/drawing/2014/main" id="{2E12E3BA-FD38-6244-2B6D-2AE7120B07CD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BF754954-D26E-2A4A-34C9-624C8B637FA1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2" name="Picture 14" descr="Picture 14">
                <a:extLst>
                  <a:ext uri="{FF2B5EF4-FFF2-40B4-BE49-F238E27FC236}">
                    <a16:creationId xmlns:a16="http://schemas.microsoft.com/office/drawing/2014/main" id="{1636F36C-3A70-5763-846A-98F6F244C1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DD4F2AEF-D4A5-8606-C4EE-FCD518847EA2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396A815-8CAC-BACF-DDB9-738B2870AE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23C8446-34F6-BA07-A985-FD715FE9B1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  <p:sp>
        <p:nvSpPr>
          <p:cNvPr id="2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83DCD5-6ADA-8E2F-BC72-3D7B00EA9487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F3CF46A-4731-9794-F82E-578CA1B02B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C4E59C5-F70B-33D6-A289-345720B601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83DB6C13-052D-66C1-3906-10BA5F371D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8D62DB8-73ED-919A-FD1A-89A877BE1D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BCC01-1325-59A1-48E1-E4E0D969F815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2BD59BAF-9051-5D77-903F-068C0902D4E3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17" name="Rectangle 6">
                  <a:extLst>
                    <a:ext uri="{FF2B5EF4-FFF2-40B4-BE49-F238E27FC236}">
                      <a16:creationId xmlns:a16="http://schemas.microsoft.com/office/drawing/2014/main" id="{BCCC0B79-1282-D63C-A82F-56CC7AAF8BE6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8" name="Rectangle 7">
                  <a:extLst>
                    <a:ext uri="{FF2B5EF4-FFF2-40B4-BE49-F238E27FC236}">
                      <a16:creationId xmlns:a16="http://schemas.microsoft.com/office/drawing/2014/main" id="{E5E6F289-952F-9453-2050-98D1EB8B206B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570E857E-6F24-5895-4D71-C15C02E171F4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D44E83B-69B7-C99E-3536-08BBA158446B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388D9632-55E1-11F1-5629-ADF71954C378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5" name="Rectangle 11">
                  <a:extLst>
                    <a:ext uri="{FF2B5EF4-FFF2-40B4-BE49-F238E27FC236}">
                      <a16:creationId xmlns:a16="http://schemas.microsoft.com/office/drawing/2014/main" id="{6901D6A6-A6E2-5EC9-9DBF-B90B3630C162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19D23110-5604-88C5-1A5C-E876BB0C89B8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2" name="Picture 14" descr="Picture 14">
                <a:extLst>
                  <a:ext uri="{FF2B5EF4-FFF2-40B4-BE49-F238E27FC236}">
                    <a16:creationId xmlns:a16="http://schemas.microsoft.com/office/drawing/2014/main" id="{AE497393-DC89-79F3-C87F-307E9F0DD67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F73DBF90-5515-96C3-80B1-120A09D72FC7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09F72CB-69C8-57C1-0864-DFE6B5BE53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65410AA-F35C-E6B0-EBD0-428905253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  <p:sp>
        <p:nvSpPr>
          <p:cNvPr id="2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766733" y="1600204"/>
            <a:ext cx="6815667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0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2" y="1600204"/>
            <a:ext cx="4011087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8B810E0-9C3E-D2E5-5267-2DE0C87D134E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37C7932-2BA2-B1C4-3751-255AB03BA8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85E1ED0-02DF-D543-6E26-DF09CB74BA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6AAF5F0-F50A-5281-0E94-B159C1C9D6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F0588DA-119B-B278-2C3C-CCEE5C7C59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F36532-10D9-559E-B496-A5F6E7EF1185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436C260B-E004-E82D-0369-9CB002431B2E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17" name="Rectangle 6">
                  <a:extLst>
                    <a:ext uri="{FF2B5EF4-FFF2-40B4-BE49-F238E27FC236}">
                      <a16:creationId xmlns:a16="http://schemas.microsoft.com/office/drawing/2014/main" id="{6380654F-4577-918A-B4E3-054D9C8F5B57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8" name="Rectangle 7">
                  <a:extLst>
                    <a:ext uri="{FF2B5EF4-FFF2-40B4-BE49-F238E27FC236}">
                      <a16:creationId xmlns:a16="http://schemas.microsoft.com/office/drawing/2014/main" id="{99F0A6E6-DA5C-6DDE-9C95-863EDC2C7292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880386A6-6F4F-F1B3-61D3-8A316CC88B08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2800E7C-3168-5EB0-8DA1-8E7D8C34B335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78D9F0B3-E662-AF29-5860-02FF7201BF42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5" name="Rectangle 11">
                  <a:extLst>
                    <a:ext uri="{FF2B5EF4-FFF2-40B4-BE49-F238E27FC236}">
                      <a16:creationId xmlns:a16="http://schemas.microsoft.com/office/drawing/2014/main" id="{D2D3D5FC-462B-FBB1-82C4-2294144A78CA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8CCC8EC3-ECB6-D692-0B5C-365E375E1E78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2" name="Picture 14" descr="Picture 14">
                <a:extLst>
                  <a:ext uri="{FF2B5EF4-FFF2-40B4-BE49-F238E27FC236}">
                    <a16:creationId xmlns:a16="http://schemas.microsoft.com/office/drawing/2014/main" id="{9A731252-A86B-1B55-0EB8-82DACC658F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DBC62898-611B-4065-E9A7-6DD7B77616B0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7842C91-4FA6-827A-D8F1-8AB1A6D6B8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2E888AD-7F41-A332-1F4E-82C3156DAE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  <p:sp>
        <p:nvSpPr>
          <p:cNvPr id="337" name="Title Text"/>
          <p:cNvSpPr txBox="1">
            <a:spLocks noGrp="1"/>
          </p:cNvSpPr>
          <p:nvPr>
            <p:ph type="title"/>
          </p:nvPr>
        </p:nvSpPr>
        <p:spPr>
          <a:xfrm>
            <a:off x="2389721" y="5407025"/>
            <a:ext cx="7315201" cy="304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800" spc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21" y="5711825"/>
            <a:ext cx="7315201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/>
            </a:lvl1pPr>
            <a:lvl2pPr marL="0" indent="457200">
              <a:spcBef>
                <a:spcPts val="300"/>
              </a:spcBef>
              <a:buSzTx/>
              <a:buFontTx/>
              <a:buNone/>
              <a:defRPr sz="1600"/>
            </a:lvl2pPr>
            <a:lvl3pPr marL="0" indent="914400">
              <a:spcBef>
                <a:spcPts val="300"/>
              </a:spcBef>
              <a:buSzTx/>
              <a:buFontTx/>
              <a:buNone/>
              <a:defRPr sz="1600"/>
            </a:lvl3pPr>
            <a:lvl4pPr marL="0" indent="1371600">
              <a:spcBef>
                <a:spcPts val="300"/>
              </a:spcBef>
              <a:buSzTx/>
              <a:buFontTx/>
              <a:buNone/>
              <a:defRPr sz="1600"/>
            </a:lvl4pPr>
            <a:lvl5pPr marL="0" indent="1828800">
              <a:spcBef>
                <a:spcPts val="3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21" y="1828800"/>
            <a:ext cx="7315201" cy="3429000"/>
          </a:xfrm>
          <a:prstGeom prst="rect">
            <a:avLst/>
          </a:prstGeom>
          <a:ln w="57150">
            <a:solidFill>
              <a:srgbClr val="DCE6F2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67648D-1645-9167-4606-58BA03F30780}"/>
              </a:ext>
            </a:extLst>
          </p:cNvPr>
          <p:cNvGrpSpPr/>
          <p:nvPr userDrawn="1"/>
        </p:nvGrpSpPr>
        <p:grpSpPr>
          <a:xfrm>
            <a:off x="-102843" y="-650917"/>
            <a:ext cx="12303941" cy="8256800"/>
            <a:chOff x="-1295802" y="-594107"/>
            <a:chExt cx="12303941" cy="82568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74FF938-F5EF-634E-BE3E-5AE25A010A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74045" y="-594107"/>
              <a:ext cx="3329835" cy="332983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79ECC79-8F54-7F94-3EAD-81345B7AC8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97C9B19-0959-6729-CB1F-3D11484163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24369">
              <a:off x="-1295802" y="4332858"/>
              <a:ext cx="3329835" cy="332983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4C8A79B-7872-AE7B-D9C6-9B33E90100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7003" y="4282883"/>
              <a:ext cx="3329835" cy="3329835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4F7A4EC-2F90-016A-D0A2-3376A5FB6C00}"/>
                </a:ext>
              </a:extLst>
            </p:cNvPr>
            <p:cNvGrpSpPr/>
            <p:nvPr userDrawn="1"/>
          </p:nvGrpSpPr>
          <p:grpSpPr>
            <a:xfrm>
              <a:off x="-1192959" y="56810"/>
              <a:ext cx="12201098" cy="6817486"/>
              <a:chOff x="-1192959" y="56810"/>
              <a:chExt cx="12201098" cy="6817486"/>
            </a:xfrm>
          </p:grpSpPr>
          <p:grpSp>
            <p:nvGrpSpPr>
              <p:cNvPr id="14" name="Group 6">
                <a:extLst>
                  <a:ext uri="{FF2B5EF4-FFF2-40B4-BE49-F238E27FC236}">
                    <a16:creationId xmlns:a16="http://schemas.microsoft.com/office/drawing/2014/main" id="{BD337172-C9BA-1276-B746-8C6038DC64B0}"/>
                  </a:ext>
                </a:extLst>
              </p:cNvPr>
              <p:cNvGrpSpPr/>
              <p:nvPr userDrawn="1"/>
            </p:nvGrpSpPr>
            <p:grpSpPr>
              <a:xfrm>
                <a:off x="-1192959" y="1195765"/>
                <a:ext cx="7010402" cy="46039"/>
                <a:chOff x="-1192959" y="-99633"/>
                <a:chExt cx="7010401" cy="46038"/>
              </a:xfrm>
            </p:grpSpPr>
            <p:sp>
              <p:nvSpPr>
                <p:cNvPr id="23" name="Rectangle 6">
                  <a:extLst>
                    <a:ext uri="{FF2B5EF4-FFF2-40B4-BE49-F238E27FC236}">
                      <a16:creationId xmlns:a16="http://schemas.microsoft.com/office/drawing/2014/main" id="{81A44DA5-C6BF-0598-EF7C-79826A49A72C}"/>
                    </a:ext>
                  </a:extLst>
                </p:cNvPr>
                <p:cNvSpPr/>
                <p:nvPr/>
              </p:nvSpPr>
              <p:spPr>
                <a:xfrm>
                  <a:off x="1169240" y="-99633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24" name="Rectangle 7">
                  <a:extLst>
                    <a:ext uri="{FF2B5EF4-FFF2-40B4-BE49-F238E27FC236}">
                      <a16:creationId xmlns:a16="http://schemas.microsoft.com/office/drawing/2014/main" id="{4B21725A-8895-5B37-F8AF-1DC5832C6F9F}"/>
                    </a:ext>
                  </a:extLst>
                </p:cNvPr>
                <p:cNvSpPr/>
                <p:nvPr/>
              </p:nvSpPr>
              <p:spPr>
                <a:xfrm>
                  <a:off x="-1192959" y="-99633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4C7800ED-5376-4A04-2877-AC1CBB4EEADA}"/>
                    </a:ext>
                  </a:extLst>
                </p:cNvPr>
                <p:cNvSpPr/>
                <p:nvPr/>
              </p:nvSpPr>
              <p:spPr>
                <a:xfrm>
                  <a:off x="3488578" y="-99633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15" name="Group 10">
                <a:extLst>
                  <a:ext uri="{FF2B5EF4-FFF2-40B4-BE49-F238E27FC236}">
                    <a16:creationId xmlns:a16="http://schemas.microsoft.com/office/drawing/2014/main" id="{A61F7D7C-BD1E-4A65-7654-A15E30BB91FC}"/>
                  </a:ext>
                </a:extLst>
              </p:cNvPr>
              <p:cNvGrpSpPr/>
              <p:nvPr userDrawn="1"/>
            </p:nvGrpSpPr>
            <p:grpSpPr>
              <a:xfrm>
                <a:off x="3997736" y="6566647"/>
                <a:ext cx="7010403" cy="46039"/>
                <a:chOff x="1864136" y="13447"/>
                <a:chExt cx="7010402" cy="46038"/>
              </a:xfrm>
            </p:grpSpPr>
            <p:sp>
              <p:nvSpPr>
                <p:cNvPr id="20" name="Rectangle 10">
                  <a:extLst>
                    <a:ext uri="{FF2B5EF4-FFF2-40B4-BE49-F238E27FC236}">
                      <a16:creationId xmlns:a16="http://schemas.microsoft.com/office/drawing/2014/main" id="{8C845C8C-A63F-E0F5-7693-015CAB6F6962}"/>
                    </a:ext>
                  </a:extLst>
                </p:cNvPr>
                <p:cNvSpPr/>
                <p:nvPr/>
              </p:nvSpPr>
              <p:spPr>
                <a:xfrm>
                  <a:off x="4226336" y="13447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21" name="Rectangle 11">
                  <a:extLst>
                    <a:ext uri="{FF2B5EF4-FFF2-40B4-BE49-F238E27FC236}">
                      <a16:creationId xmlns:a16="http://schemas.microsoft.com/office/drawing/2014/main" id="{6BA00096-75C6-2872-5E1E-053FE0D2DB64}"/>
                    </a:ext>
                  </a:extLst>
                </p:cNvPr>
                <p:cNvSpPr/>
                <p:nvPr/>
              </p:nvSpPr>
              <p:spPr>
                <a:xfrm>
                  <a:off x="1864136" y="13447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22" name="Rectangle 12">
                  <a:extLst>
                    <a:ext uri="{FF2B5EF4-FFF2-40B4-BE49-F238E27FC236}">
                      <a16:creationId xmlns:a16="http://schemas.microsoft.com/office/drawing/2014/main" id="{A7610219-47E5-8812-9585-0B77B94F39C0}"/>
                    </a:ext>
                  </a:extLst>
                </p:cNvPr>
                <p:cNvSpPr/>
                <p:nvPr/>
              </p:nvSpPr>
              <p:spPr>
                <a:xfrm>
                  <a:off x="6545674" y="13447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18" name="Picture 14" descr="Picture 14">
                <a:extLst>
                  <a:ext uri="{FF2B5EF4-FFF2-40B4-BE49-F238E27FC236}">
                    <a16:creationId xmlns:a16="http://schemas.microsoft.com/office/drawing/2014/main" id="{95FF4468-D34A-E074-B89D-FB356AFFC7A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8535183" y="5681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9" name="TextBox 14">
                <a:extLst>
                  <a:ext uri="{FF2B5EF4-FFF2-40B4-BE49-F238E27FC236}">
                    <a16:creationId xmlns:a16="http://schemas.microsoft.com/office/drawing/2014/main" id="{353C2E6B-5028-5372-934C-DB77A5EB4672}"/>
                  </a:ext>
                </a:extLst>
              </p:cNvPr>
              <p:cNvSpPr txBox="1"/>
              <p:nvPr userDrawn="1"/>
            </p:nvSpPr>
            <p:spPr>
              <a:xfrm>
                <a:off x="5064111" y="6612686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CF24158-D069-0F5F-94CE-864BEA35EF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7F2C948-D155-2208-82A3-B78D59A61D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604717">
              <a:off x="7654738" y="-594106"/>
              <a:ext cx="3329835" cy="33298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690160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47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4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79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77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40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6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39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12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27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27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30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50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20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26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550400" y="6596390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406400" y="6596390"/>
            <a:ext cx="28448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596390"/>
            <a:ext cx="6197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0983" y="6588696"/>
            <a:ext cx="37221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79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839200" y="609600"/>
            <a:ext cx="294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9144000" y="1018402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>
                <a:solidFill>
                  <a:srgbClr val="FFFFFF"/>
                </a:solidFill>
                <a:latin typeface="Arial"/>
                <a:cs typeface="Arial"/>
              </a:rPr>
              <a:t>Work Integrated Learning Programmes Division</a:t>
            </a:r>
          </a:p>
        </p:txBody>
      </p:sp>
    </p:spTree>
    <p:extLst>
      <p:ext uri="{BB962C8B-B14F-4D97-AF65-F5344CB8AC3E}">
        <p14:creationId xmlns:p14="http://schemas.microsoft.com/office/powerpoint/2010/main" val="423332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57719" y="6217856"/>
            <a:ext cx="27988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BC5692C0-A143-3571-7EE1-32346BE8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</p:sldLayoutIdLst>
  <p:transition spd="med"/>
  <p:txStyles>
    <p:titleStyle>
      <a:lvl1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 algn="r"/>
            <a:r>
              <a:rPr lang="en-IN" dirty="0"/>
              <a:t>Financial and Management Accounting</a:t>
            </a:r>
            <a:endParaRPr dirty="0"/>
          </a:p>
        </p:txBody>
      </p:sp>
      <p:sp>
        <p:nvSpPr>
          <p:cNvPr id="351" name="Content Placeholder 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86968">
              <a:lnSpc>
                <a:spcPts val="1700"/>
              </a:lnSpc>
              <a:defRPr sz="1746"/>
            </a:pPr>
            <a:r>
              <a:rPr lang="en-IN" b="1" dirty="0"/>
              <a:t>Dr Uma Nagarajan, </a:t>
            </a:r>
            <a:r>
              <a:rPr dirty="0"/>
              <a:t>Department</a:t>
            </a:r>
            <a:r>
              <a:rPr lang="en-US" dirty="0"/>
              <a:t> of Management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/>
          <p:cNvSpPr txBox="1">
            <a:spLocks noGrp="1"/>
          </p:cNvSpPr>
          <p:nvPr>
            <p:ph type="body" sz="half" idx="1"/>
          </p:nvPr>
        </p:nvSpPr>
        <p:spPr>
          <a:xfrm>
            <a:off x="83428" y="4478338"/>
            <a:ext cx="11277600" cy="1600200"/>
          </a:xfrm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rPr dirty="0"/>
              <a:t>&lt;Course Number, Course Title&gt;</a:t>
            </a:r>
          </a:p>
          <a:p>
            <a:pPr>
              <a:defRPr spc="-200"/>
            </a:pPr>
            <a:r>
              <a:rPr dirty="0"/>
              <a:t>Lecture No.</a:t>
            </a:r>
            <a:r>
              <a:rPr lang="en-US" dirty="0"/>
              <a:t> 4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/>
            <a:endParaRPr lang="en-IN" dirty="0"/>
          </a:p>
          <a:p>
            <a:pPr marL="0" indent="0"/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hangingPunct="1">
              <a:defRPr/>
            </a:pPr>
            <a:fld id="{BC8D7E44-7D4F-4942-A8C9-2DF6BF8399E8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hangingPunct="1">
                <a:defRPr/>
              </a:pPr>
              <a:t>3</a:t>
            </a:fld>
            <a:endParaRPr lang="en-US" kern="1200" dirty="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85725"/>
            <a:ext cx="63246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Modules Overview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hangingPunct="1">
              <a:defRPr/>
            </a:pPr>
            <a:r>
              <a:rPr lang="en-US" kern="1200" dirty="0">
                <a:solidFill>
                  <a:prstClr val="black">
                    <a:tint val="75000"/>
                  </a:prstClr>
                </a:solidFill>
                <a:ea typeface="+mn-ea"/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hangingPunct="1">
              <a:defRPr/>
            </a:pPr>
            <a:r>
              <a:rPr lang="en-US" kern="1200" dirty="0">
                <a:solidFill>
                  <a:prstClr val="black">
                    <a:tint val="75000"/>
                  </a:prstClr>
                </a:solidFill>
                <a:ea typeface="+mn-ea"/>
              </a:rPr>
              <a:t>Financial and </a:t>
            </a:r>
            <a:r>
              <a:rPr lang="en-US" kern="1200" dirty="0" err="1">
                <a:solidFill>
                  <a:prstClr val="black">
                    <a:tint val="75000"/>
                  </a:prstClr>
                </a:solidFill>
                <a:ea typeface="+mn-ea"/>
              </a:rPr>
              <a:t>Mgmt</a:t>
            </a:r>
            <a:r>
              <a:rPr lang="en-US" kern="1200" dirty="0">
                <a:solidFill>
                  <a:prstClr val="black">
                    <a:tint val="75000"/>
                  </a:prstClr>
                </a:solidFill>
                <a:ea typeface="+mn-ea"/>
              </a:rPr>
              <a:t> Accounting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04E97-43DF-13E0-E8A3-250836D6972D}"/>
              </a:ext>
            </a:extLst>
          </p:cNvPr>
          <p:cNvSpPr txBox="1"/>
          <p:nvPr/>
        </p:nvSpPr>
        <p:spPr>
          <a:xfrm>
            <a:off x="1676400" y="1493838"/>
            <a:ext cx="8458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hangingPunct="1">
              <a:buFontTx/>
              <a:buAutoNum type="arabicParenR"/>
              <a:defRPr/>
            </a:pPr>
            <a:endParaRPr lang="en-US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hangingPunct="1">
              <a:defRPr/>
            </a:pPr>
            <a:endParaRPr lang="en-US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r>
              <a:rPr lang="en-US" sz="2000" kern="1200" dirty="0">
                <a:solidFill>
                  <a:prstClr val="black"/>
                </a:solidFill>
                <a:ea typeface="+mn-ea"/>
                <a:cs typeface="Times New Roman" panose="02020603050405020304" pitchFamily="18" charset="0"/>
              </a:rPr>
              <a:t>EC1-Continuing evaluations –quiz and Experiential learning -30%</a:t>
            </a:r>
            <a:endParaRPr lang="en-US" sz="2000" b="1" kern="1200" dirty="0">
              <a:solidFill>
                <a:prstClr val="black"/>
              </a:solidFill>
              <a:ea typeface="+mn-ea"/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r>
              <a:rPr lang="en-US" sz="2000" dirty="0">
                <a:solidFill>
                  <a:prstClr val="black"/>
                </a:solidFill>
                <a:cs typeface="Times New Roman" panose="02020603050405020304" pitchFamily="18" charset="0"/>
              </a:rPr>
              <a:t>EC2- Midterm Test -30%    - (Closed book exam)</a:t>
            </a:r>
          </a:p>
          <a:p>
            <a:pPr marL="457200" indent="-457200" hangingPunct="1">
              <a:buFontTx/>
              <a:buAutoNum type="arabicParenR"/>
              <a:defRPr/>
            </a:pPr>
            <a:r>
              <a:rPr lang="en-US" sz="2000" kern="1200" dirty="0">
                <a:solidFill>
                  <a:prstClr val="black"/>
                </a:solidFill>
                <a:ea typeface="+mn-ea"/>
                <a:cs typeface="Times New Roman" panose="02020603050405020304" pitchFamily="18" charset="0"/>
              </a:rPr>
              <a:t>EC3-End term test   -40%  - (open book exam)</a:t>
            </a:r>
          </a:p>
          <a:p>
            <a:pPr marL="457200" indent="-457200" hangingPunct="1">
              <a:buFontTx/>
              <a:buAutoNum type="arabicParenR"/>
              <a:defRPr/>
            </a:pPr>
            <a:endParaRPr lang="en-US" sz="20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endParaRPr lang="en-US" sz="2000" kern="1200" dirty="0">
              <a:solidFill>
                <a:prstClr val="black"/>
              </a:solidFill>
              <a:ea typeface="+mn-ea"/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r>
              <a:rPr lang="en-US" sz="2000" dirty="0">
                <a:solidFill>
                  <a:prstClr val="black"/>
                </a:solidFill>
                <a:cs typeface="Times New Roman" panose="02020603050405020304" pitchFamily="18" charset="0"/>
              </a:rPr>
              <a:t>Quizzes -2 quizzes (10%) -2 x5 =10</a:t>
            </a:r>
          </a:p>
          <a:p>
            <a:pPr marL="457200" indent="-457200" hangingPunct="1">
              <a:buFontTx/>
              <a:buAutoNum type="arabicParenR"/>
              <a:defRPr/>
            </a:pPr>
            <a:r>
              <a:rPr lang="en-US" sz="2000" kern="1200" dirty="0">
                <a:solidFill>
                  <a:prstClr val="black"/>
                </a:solidFill>
                <a:ea typeface="+mn-ea"/>
                <a:cs typeface="Times New Roman" panose="02020603050405020304" pitchFamily="18" charset="0"/>
              </a:rPr>
              <a:t>Assignment  (Group assignment; experiential learning -20%</a:t>
            </a:r>
          </a:p>
          <a:p>
            <a:pPr marL="457200" indent="-457200" hangingPunct="1">
              <a:buFontTx/>
              <a:buAutoNum type="arabicParenR"/>
              <a:defRPr/>
            </a:pPr>
            <a:endParaRPr lang="en-US" sz="20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endParaRPr lang="en-US" sz="20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endParaRPr lang="en-US" sz="2000" kern="1200" dirty="0">
              <a:solidFill>
                <a:prstClr val="black"/>
              </a:solidFill>
              <a:ea typeface="+mn-ea"/>
              <a:cs typeface="Times New Roman" panose="02020603050405020304" pitchFamily="18" charset="0"/>
            </a:endParaRPr>
          </a:p>
          <a:p>
            <a:pPr marL="457200" indent="-457200" hangingPunct="1">
              <a:buFontTx/>
              <a:buAutoNum type="arabicParenR"/>
              <a:defRPr/>
            </a:pPr>
            <a:endParaRPr lang="en-US" sz="2000" kern="1200" dirty="0">
              <a:solidFill>
                <a:prstClr val="black"/>
              </a:solidFill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782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8432800" cy="3757915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Sole Proprietorship</a:t>
            </a:r>
          </a:p>
          <a:p>
            <a:r>
              <a:rPr lang="en-US" dirty="0"/>
              <a:t>Partnership</a:t>
            </a:r>
          </a:p>
          <a:p>
            <a:r>
              <a:rPr lang="en-US" dirty="0"/>
              <a:t>Company (Limited Liability) </a:t>
            </a:r>
          </a:p>
          <a:p>
            <a:r>
              <a:rPr lang="en-US" dirty="0"/>
              <a:t>Limited Liability Partnerships (LLP)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Types of Business Entities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921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8432800" cy="3355579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In Sole proprietorship, a single individual carries on a business.</a:t>
            </a:r>
          </a:p>
          <a:p>
            <a:r>
              <a:rPr lang="en-US" dirty="0"/>
              <a:t> </a:t>
            </a:r>
            <a:r>
              <a:rPr lang="en-US" b="1" dirty="0"/>
              <a:t>He keeps all the profits the business earns. The sole proprietor’s liability is unlimited,</a:t>
            </a:r>
          </a:p>
          <a:p>
            <a:r>
              <a:rPr lang="en-US" dirty="0"/>
              <a:t>An audit needs to be done if the total receipts of the proprietorship exceed the amount of </a:t>
            </a:r>
            <a:r>
              <a:rPr lang="en-US" dirty="0" err="1"/>
              <a:t>Rs</a:t>
            </a:r>
            <a:r>
              <a:rPr lang="en-US" dirty="0"/>
              <a:t> 50 lakh.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Sole Proprietorship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4000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10684872" cy="350188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Case A: </a:t>
            </a:r>
          </a:p>
          <a:p>
            <a:r>
              <a:rPr lang="en-US" dirty="0" err="1"/>
              <a:t>Manasi</a:t>
            </a:r>
            <a:r>
              <a:rPr lang="en-US" dirty="0"/>
              <a:t> started a proprietorship business with an investment of </a:t>
            </a:r>
            <a:r>
              <a:rPr lang="en-US" dirty="0" err="1"/>
              <a:t>Rs</a:t>
            </a:r>
            <a:r>
              <a:rPr lang="en-US" dirty="0"/>
              <a:t>  10,000. After one year, the business has </a:t>
            </a:r>
            <a:r>
              <a:rPr lang="en-US" dirty="0" err="1"/>
              <a:t>Rs</a:t>
            </a:r>
            <a:r>
              <a:rPr lang="en-US" dirty="0"/>
              <a:t> 15,000 in cash and owes </a:t>
            </a:r>
            <a:r>
              <a:rPr lang="en-US" dirty="0" err="1"/>
              <a:t>Rs</a:t>
            </a:r>
            <a:r>
              <a:rPr lang="en-US" dirty="0"/>
              <a:t> 3,000 in unpaid bills. </a:t>
            </a:r>
          </a:p>
          <a:p>
            <a:endParaRPr lang="en-US" b="1" dirty="0"/>
          </a:p>
          <a:p>
            <a:r>
              <a:rPr lang="en-US" b="1" dirty="0"/>
              <a:t>Case B:</a:t>
            </a:r>
          </a:p>
          <a:p>
            <a:r>
              <a:rPr lang="en-US" b="1" dirty="0"/>
              <a:t> </a:t>
            </a:r>
            <a:r>
              <a:rPr lang="en-US" dirty="0"/>
              <a:t>Sunil started a proprietorship business with an investment of ` 10,000. After one month, the business has </a:t>
            </a:r>
            <a:r>
              <a:rPr lang="en-US" dirty="0" err="1"/>
              <a:t>Rs</a:t>
            </a:r>
            <a:r>
              <a:rPr lang="en-US" dirty="0"/>
              <a:t> 15,000 in cash and owes </a:t>
            </a:r>
            <a:r>
              <a:rPr lang="en-US" dirty="0" err="1"/>
              <a:t>Rs</a:t>
            </a:r>
            <a:r>
              <a:rPr lang="en-US" dirty="0"/>
              <a:t>  20,000 in unpaid bills. Sunil has personal cash of </a:t>
            </a:r>
            <a:r>
              <a:rPr lang="en-US" dirty="0" err="1"/>
              <a:t>Rs</a:t>
            </a:r>
            <a:r>
              <a:rPr lang="en-US" dirty="0"/>
              <a:t>  8,000 and no personal debt.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Sole Proprietorship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1005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11050632" cy="384935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partnership has a </a:t>
            </a:r>
            <a:r>
              <a:rPr lang="en-US" b="1" dirty="0"/>
              <a:t>minimum of two and a maximum of 100 </a:t>
            </a:r>
            <a:r>
              <a:rPr lang="en-US" dirty="0"/>
              <a:t>persons trading together as one </a:t>
            </a:r>
            <a:r>
              <a:rPr lang="en-US" dirty="0" err="1"/>
              <a:t>firm.No</a:t>
            </a:r>
            <a:r>
              <a:rPr lang="en-US" dirty="0"/>
              <a:t> upper limit for professional practices.</a:t>
            </a:r>
          </a:p>
          <a:p>
            <a:r>
              <a:rPr lang="en-US" dirty="0"/>
              <a:t>The partners share the firm’s </a:t>
            </a:r>
            <a:r>
              <a:rPr lang="en-US" b="1" dirty="0"/>
              <a:t>profits and losses equally, </a:t>
            </a:r>
            <a:r>
              <a:rPr lang="en-US" dirty="0"/>
              <a:t>unless they agree otherwise.</a:t>
            </a:r>
          </a:p>
          <a:p>
            <a:r>
              <a:rPr lang="en-US" dirty="0"/>
              <a:t> Each partner has </a:t>
            </a:r>
            <a:r>
              <a:rPr lang="en-US" b="1" dirty="0"/>
              <a:t>unlimited liability </a:t>
            </a:r>
            <a:r>
              <a:rPr lang="en-US" dirty="0"/>
              <a:t>for all the debts and obligations of the firm and is further responsible for the liabilities in the firm of his fellow partner or partners.</a:t>
            </a:r>
          </a:p>
          <a:p>
            <a:r>
              <a:rPr lang="en-US" dirty="0" err="1"/>
              <a:t>Regd</a:t>
            </a:r>
            <a:r>
              <a:rPr lang="en-US" dirty="0"/>
              <a:t> under </a:t>
            </a:r>
            <a:r>
              <a:rPr lang="en-US" b="1" dirty="0"/>
              <a:t>Partnership Act,1932</a:t>
            </a:r>
          </a:p>
          <a:p>
            <a:r>
              <a:rPr lang="en-US" dirty="0"/>
              <a:t>Tax Audit for partnership firm is applicable if the turnover/ gross receipt exceeds Rupees One Crore in case of business and Rupees Fifty lakhs in the profession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Partnership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4047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10849464" cy="3602467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Sneha</a:t>
            </a:r>
            <a:r>
              <a:rPr lang="en-US" dirty="0"/>
              <a:t> and </a:t>
            </a:r>
            <a:r>
              <a:rPr lang="en-US" dirty="0" err="1"/>
              <a:t>Sunayana</a:t>
            </a:r>
            <a:r>
              <a:rPr lang="en-US" dirty="0"/>
              <a:t> started an equal partnership with an investment of ` 10,000 each. After three years, the business has ` 25,000 in cash and ` 30,000 in unpaid bills. </a:t>
            </a:r>
            <a:r>
              <a:rPr lang="en-US" dirty="0" err="1"/>
              <a:t>Sneha</a:t>
            </a:r>
            <a:r>
              <a:rPr lang="en-US" dirty="0"/>
              <a:t> and </a:t>
            </a:r>
            <a:r>
              <a:rPr lang="en-US" dirty="0" err="1"/>
              <a:t>Sunayana</a:t>
            </a:r>
            <a:r>
              <a:rPr lang="en-US" dirty="0"/>
              <a:t> have personal cash of ` 5,000 each and have no personal debt.</a:t>
            </a:r>
          </a:p>
          <a:p>
            <a:endParaRPr lang="en-US" dirty="0"/>
          </a:p>
          <a:p>
            <a:r>
              <a:rPr lang="en-US" dirty="0" err="1"/>
              <a:t>Sneha</a:t>
            </a:r>
            <a:r>
              <a:rPr lang="en-US" dirty="0"/>
              <a:t> and </a:t>
            </a:r>
            <a:r>
              <a:rPr lang="en-US" dirty="0" err="1"/>
              <a:t>Sunayana</a:t>
            </a:r>
            <a:r>
              <a:rPr lang="en-US" dirty="0"/>
              <a:t> must bring in ` 2,500 each from personal cash in order to pay the bills in full.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Partnership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7994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8432800" cy="320927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 company is a </a:t>
            </a:r>
            <a:r>
              <a:rPr lang="en-US" b="1" dirty="0"/>
              <a:t>separate legal entity </a:t>
            </a:r>
            <a:r>
              <a:rPr lang="en-US" dirty="0"/>
              <a:t>unlike a sole proprietorship or partnership.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Company is different from the owner/creator/promoter</a:t>
            </a:r>
          </a:p>
          <a:p>
            <a:endParaRPr lang="en-US" dirty="0"/>
          </a:p>
          <a:p>
            <a:r>
              <a:rPr lang="en-US" dirty="0"/>
              <a:t>ABCL </a:t>
            </a:r>
          </a:p>
          <a:p>
            <a:r>
              <a:rPr lang="en-US" dirty="0"/>
              <a:t>AB</a:t>
            </a:r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Company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68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11260944" cy="3447019"/>
          </a:xfrm>
        </p:spPr>
        <p:txBody>
          <a:bodyPr>
            <a:normAutofit/>
          </a:bodyPr>
          <a:lstStyle/>
          <a:p>
            <a:r>
              <a:rPr lang="en-US" dirty="0"/>
              <a:t>A company is a </a:t>
            </a:r>
            <a:r>
              <a:rPr lang="en-US" b="1" dirty="0"/>
              <a:t>separate legal entity </a:t>
            </a:r>
            <a:r>
              <a:rPr lang="en-US" dirty="0"/>
              <a:t>unlike a sole proprietorship or partnership. </a:t>
            </a:r>
          </a:p>
          <a:p>
            <a:r>
              <a:rPr lang="en-US" dirty="0"/>
              <a:t>Under the law, it has most of the rights of a natural person.</a:t>
            </a:r>
          </a:p>
          <a:p>
            <a:r>
              <a:rPr lang="en-US" dirty="0"/>
              <a:t>Registered </a:t>
            </a:r>
            <a:r>
              <a:rPr lang="en-US" b="1" dirty="0"/>
              <a:t>under Companies Act,2013</a:t>
            </a:r>
          </a:p>
          <a:p>
            <a:r>
              <a:rPr lang="en-US" dirty="0"/>
              <a:t>A company has </a:t>
            </a:r>
            <a:r>
              <a:rPr lang="en-US" b="1" dirty="0"/>
              <a:t>limited liability</a:t>
            </a:r>
          </a:p>
          <a:p>
            <a:r>
              <a:rPr lang="en-US" dirty="0"/>
              <a:t>A company has </a:t>
            </a:r>
            <a:r>
              <a:rPr lang="en-US" b="1" dirty="0"/>
              <a:t>perpetual existence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Company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221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8432800" cy="3008107"/>
          </a:xfrm>
        </p:spPr>
        <p:txBody>
          <a:bodyPr>
            <a:normAutofit/>
          </a:bodyPr>
          <a:lstStyle/>
          <a:p>
            <a:r>
              <a:rPr lang="en-US" dirty="0" err="1"/>
              <a:t>Pvt</a:t>
            </a:r>
            <a:r>
              <a:rPr lang="en-US" dirty="0"/>
              <a:t> ltd co</a:t>
            </a:r>
          </a:p>
          <a:p>
            <a:r>
              <a:rPr lang="en-US" b="1" dirty="0"/>
              <a:t>Public ltd co</a:t>
            </a:r>
          </a:p>
          <a:p>
            <a:r>
              <a:rPr lang="en-US" b="1" dirty="0"/>
              <a:t>One person co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Company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412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19224" y="1339437"/>
            <a:ext cx="10799880" cy="55185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Private Limited Company :</a:t>
            </a:r>
          </a:p>
          <a:p>
            <a:r>
              <a:rPr lang="en-US" dirty="0"/>
              <a:t> A private limited company must have a minimum of two shareholders and can have up to 200 shareholders. </a:t>
            </a:r>
          </a:p>
          <a:p>
            <a:r>
              <a:rPr lang="en-US" dirty="0"/>
              <a:t>Have the words </a:t>
            </a:r>
            <a:r>
              <a:rPr lang="en-US" dirty="0" err="1"/>
              <a:t>Pvt</a:t>
            </a:r>
            <a:r>
              <a:rPr lang="en-US" dirty="0"/>
              <a:t> Ltd in their names</a:t>
            </a:r>
          </a:p>
          <a:p>
            <a:r>
              <a:rPr lang="en-US" dirty="0"/>
              <a:t>Shares not available to the public</a:t>
            </a:r>
          </a:p>
          <a:p>
            <a:r>
              <a:rPr lang="en-US" dirty="0"/>
              <a:t>Minimum capital(investment)-100,000</a:t>
            </a:r>
          </a:p>
          <a:p>
            <a:r>
              <a:rPr lang="en-US" b="1" dirty="0" err="1">
                <a:solidFill>
                  <a:srgbClr val="C00000"/>
                </a:solidFill>
              </a:rPr>
              <a:t>Egs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Marriott Hotels India Pvt. Ltd</a:t>
            </a:r>
          </a:p>
          <a:p>
            <a:r>
              <a:rPr lang="en-IN" altLang="en-US" dirty="0"/>
              <a:t>Jaguar &amp; Co Pvt Ltd</a:t>
            </a:r>
          </a:p>
          <a:p>
            <a:r>
              <a:rPr lang="en-IN" altLang="en-US" dirty="0"/>
              <a:t>Lifestyle International Pvt Ltd</a:t>
            </a:r>
          </a:p>
          <a:p>
            <a:r>
              <a:rPr lang="en-US" b="1" dirty="0"/>
              <a:t>Tata Sons Pvt. Ltd.</a:t>
            </a:r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Types of Companies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3594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371600"/>
            <a:ext cx="10383120" cy="4571999"/>
          </a:xfrm>
        </p:spPr>
        <p:txBody>
          <a:bodyPr>
            <a:normAutofit/>
          </a:bodyPr>
          <a:lstStyle/>
          <a:p>
            <a:r>
              <a:rPr lang="en-US" b="1" dirty="0"/>
              <a:t>Tata Sons Pvt. Ltd</a:t>
            </a:r>
          </a:p>
          <a:p>
            <a:r>
              <a:rPr lang="en-US" b="1" dirty="0"/>
              <a:t>Subsidiaries</a:t>
            </a:r>
          </a:p>
          <a:p>
            <a:r>
              <a:rPr lang="en-US" b="1" dirty="0"/>
              <a:t>Public ltd – shares are </a:t>
            </a:r>
            <a:r>
              <a:rPr lang="en-US" b="1" dirty="0" err="1"/>
              <a:t>avaule</a:t>
            </a:r>
            <a:r>
              <a:rPr lang="en-US" b="1" dirty="0"/>
              <a:t> for sale to the public</a:t>
            </a:r>
            <a:endParaRPr lang="en-US" altLang="en-US" b="1" dirty="0"/>
          </a:p>
          <a:p>
            <a:r>
              <a:rPr lang="en-US" altLang="en-US" b="1" dirty="0"/>
              <a:t>RIL-public ltd</a:t>
            </a:r>
          </a:p>
          <a:p>
            <a:r>
              <a:rPr lang="en-US" altLang="en-US" b="1" dirty="0"/>
              <a:t>Subsidiaries</a:t>
            </a:r>
          </a:p>
          <a:p>
            <a:r>
              <a:rPr lang="en-US" altLang="en-US" b="1" dirty="0"/>
              <a:t>Pvt ltd cos</a:t>
            </a: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Types of Companies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1121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8432800" cy="333729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Public limited company </a:t>
            </a:r>
          </a:p>
          <a:p>
            <a:r>
              <a:rPr lang="en-US" dirty="0"/>
              <a:t>must have a minimum of seven shareholders; there is no maximum. </a:t>
            </a:r>
          </a:p>
          <a:p>
            <a:r>
              <a:rPr lang="en-US" dirty="0"/>
              <a:t>Public companies’ shares are available to the public.</a:t>
            </a:r>
          </a:p>
          <a:p>
            <a:r>
              <a:rPr lang="en-US" dirty="0"/>
              <a:t> In addition, they may be listed for trading on a stock exchange. </a:t>
            </a:r>
          </a:p>
          <a:p>
            <a:r>
              <a:rPr lang="en-US" dirty="0"/>
              <a:t>Minimum capital(investment)-500,000</a:t>
            </a:r>
          </a:p>
          <a:p>
            <a:r>
              <a:rPr lang="en-US" dirty="0"/>
              <a:t>Public companies have “Limited” as part of their names (e.g. Hindustan Unilever </a:t>
            </a:r>
            <a:r>
              <a:rPr lang="en-US" dirty="0" err="1"/>
              <a:t>Limited,Infosys</a:t>
            </a:r>
            <a:r>
              <a:rPr lang="en-US" dirty="0"/>
              <a:t> </a:t>
            </a:r>
            <a:r>
              <a:rPr lang="en-US" dirty="0" err="1"/>
              <a:t>Ltd,TCS,RIL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Types of Companies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863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10995768" cy="3053827"/>
          </a:xfrm>
        </p:spPr>
        <p:txBody>
          <a:bodyPr>
            <a:normAutofit/>
          </a:bodyPr>
          <a:lstStyle/>
          <a:p>
            <a:r>
              <a:rPr lang="en-US" b="1" dirty="0"/>
              <a:t>OPC </a:t>
            </a:r>
            <a:r>
              <a:rPr lang="en-US" dirty="0"/>
              <a:t>:</a:t>
            </a:r>
          </a:p>
          <a:p>
            <a:r>
              <a:rPr lang="en-US" dirty="0"/>
              <a:t>A one-person company has a single shareholder with limited liability.</a:t>
            </a:r>
          </a:p>
          <a:p>
            <a:r>
              <a:rPr lang="en-US" altLang="en-US" i="1" dirty="0"/>
              <a:t>(OPC) should be mentioned in company name</a:t>
            </a:r>
          </a:p>
          <a:p>
            <a:r>
              <a:rPr lang="en-US" dirty="0"/>
              <a:t>Minimum capital(investment)-100,000</a:t>
            </a:r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Types of Companies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359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902220"/>
            <a:ext cx="11526120" cy="3419587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222222"/>
                </a:solidFill>
              </a:rPr>
              <a:t>When a partnership between two or more partners are registered with the Ministry of Corporate Affairs under the Limited Liability Partnership Act, 2008, it is known as a Limited Liability Partnership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3200" dirty="0">
                <a:solidFill>
                  <a:srgbClr val="C00000"/>
                </a:solidFill>
              </a:rPr>
              <a:t>Limited Liability Partnership Act,2008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7243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"/>
          </p:nvPr>
        </p:nvSpPr>
        <p:spPr>
          <a:xfrm>
            <a:off x="361080" y="1435608"/>
            <a:ext cx="10831176" cy="391363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partnership has a minimum of two and  maximum is 100 or unlimited(profession).</a:t>
            </a:r>
          </a:p>
          <a:p>
            <a:r>
              <a:rPr lang="en-US" dirty="0"/>
              <a:t>The partners share the firm’s profits and losses equally, unless they agree otherwise.</a:t>
            </a:r>
          </a:p>
          <a:p>
            <a:r>
              <a:rPr lang="en-US" dirty="0"/>
              <a:t> </a:t>
            </a:r>
            <a:r>
              <a:rPr lang="en-US" altLang="en-US" dirty="0"/>
              <a:t>Partner’s liability is limited to the extent of his investment. Not liable for other partners independent actions.</a:t>
            </a:r>
          </a:p>
          <a:p>
            <a:r>
              <a:rPr lang="en-US" altLang="en-US" dirty="0"/>
              <a:t>LLP should have at least 2 designated partners who are responsible for taking decisions on behalf of the LLP.</a:t>
            </a:r>
          </a:p>
          <a:p>
            <a:r>
              <a:rPr lang="en-US" altLang="en-US" dirty="0"/>
              <a:t>Mandatory Audit if turnover &gt; 40 lakhs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52400"/>
            <a:ext cx="843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3200" dirty="0">
                <a:solidFill>
                  <a:srgbClr val="C00000"/>
                </a:solidFill>
              </a:rPr>
              <a:t>Limited Liability Partnership Act,2008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96063"/>
            <a:ext cx="28448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13/01/2024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96063"/>
            <a:ext cx="6197600" cy="261937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Financial and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Mgmt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Accounting:Uma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Nagarajan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2841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8CA95A-6BEA-587B-F360-BDA1149111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2B16-709E-E543-4897-B860C0A46EC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30/12/2017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7D059-01EA-3629-E221-2A19F2B9BE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405751" y="6588533"/>
            <a:ext cx="262249" cy="276999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3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a5aa760e343a9956f9ca206eb01cf7b6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8bdecef4e83725afebd3b91c65c07523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79832A3C-C041-4FF1-97C4-5A3B89FD7824}"/>
</file>

<file path=customXml/itemProps2.xml><?xml version="1.0" encoding="utf-8"?>
<ds:datastoreItem xmlns:ds="http://schemas.openxmlformats.org/officeDocument/2006/customXml" ds:itemID="{0575E687-4DED-4F3B-B5F7-14FF8986D1C8}"/>
</file>

<file path=customXml/itemProps3.xml><?xml version="1.0" encoding="utf-8"?>
<ds:datastoreItem xmlns:ds="http://schemas.openxmlformats.org/officeDocument/2006/customXml" ds:itemID="{B924D6CE-DBB6-410F-86DF-B55ADBA177D7}"/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1256</Words>
  <Application>Microsoft Office PowerPoint</Application>
  <PresentationFormat>Widescreen</PresentationFormat>
  <Paragraphs>176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Financial and Management Accounting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Ankita Nagpal</cp:lastModifiedBy>
  <cp:revision>14</cp:revision>
  <dcterms:modified xsi:type="dcterms:W3CDTF">2026-03-14T12:56:30Z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